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49" d="100"/>
          <a:sy n="49" d="100"/>
        </p:scale>
        <p:origin x="73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18551302"/>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שלום לכולם. אני בודקת מודל שניצח בתחרות בינלאומית להנדסת בחירה — אבל ניצחון בממוצע לא אומר שהמודל מדויק בכל מקרה. השאלה המרכזית במחקר שלי: מתי ה“ביטחון” שמודל CATIE מצהיר עליו לא תואם את ההתנהגות בפועל, ואיך אפשר לתקן את זה?</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הנה הפרדיגמה של הנדסת בחירה: במשימה הזו, משתתפים בוחרים 100 פעמים בין שתי אפשרויות, ומקבלים משוב רק על הבחירה שביצעו. לוח התגמולים מהונדס מראש כדי להשפיע על הבחירות, ומודל כמו CATIE קורא את כל הרצף ומפיק הסתברות p לבחירה הבאה.</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מודל CATIE משלב ארבעה מנגנונים — ממוצע מצטבר, מגמה, אינרציה ואקספלורציה — וכך השיג הטיה של 64.3% בקרב המשתתפים, גבוה משמעותית ממודלי Q-Learning מתחרים. חשוב להבין: CATIE לא פולט בחירה — הוא פולט הסתברות, p, לבחירה הצפויה. וזו ההסתברות הזו שאני בודק/ת.</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המנגנון הראשון: ממוצע מצטבר. CATIE עוקב אחר התגמול הממוצע של כל אפשרות לאורך כל הניסיונות הקודמים — אומדן לטווח הארוך של איזה צד משתלם יותר.</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המנגנון השני: מגמה. משקל גבוה יותר לתוצאות האחרונות, כך שהמודל רגיש לשאלה אם אפשרות נמצאת במגמת עלייה או ירידה כרגע.</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המנגנון השלישי: אינרציה. נטייה לחזור על הבחירה הקודמת — להישאר באותו צד במקום להחליף.</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המנגנון הרביעי: אקספלורציה. סטייה מזדמנת ומכוונת מהאפשרות המועדפת — דגימה של החלופה כדי להמשיך וללמוד.</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כדי לבדוק את דיוק התחזיות, הגדרתי “נקודת הפתעה”: ניסיון שבו CATIE העריך הסתברות נמוכה מ-0.15 לבחירה שהמשתתף בפועל ביצע. מתוך 49,200 ניסיונות בסט הנתונים, 4,454 ניסיונות — כ-9.1% — מסווגים כנקודות הפתעה. אלה הניסיונות שבהם המודל “טעה” בביטחון רב, וזה המוקד של הניתוח שלי.</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ההשערה הראשונה: כשהמודל מופתע, המשתתף אמור “להתעכב” — ולכן זמן התגובה צפוי לעלות. בסף של 10%, ראינו הבדל קטן ועקבי.</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אבל בסף קיצוני יותר, 5%, קיבלנו תבנית דרמטית בצורת U — שנראתה כתגלית. בדיקה סטטיסטית קפדנית חשפה שזהו ארטיפקט: בקבוצות הקטנות האלה (195 ו-509 ניסיונות), משתתפים עם שונות אישית נמוכה ב-RT מקבלים z-score מנופח, וקיימת רצפה טכנית של 1.5 שניות במדידה עצמה. המסקנה: זמן תגובה לא מהווה מדד תקף לניתוח הזה, ופסלנו את הכיוון הזה על בסיס נתונים, לא ניחוש.</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בהמשך בדקתי תכונות התנהגותיות, ומצאתי קשר חזק במיוחד: מעבר צד פיזי קודם לבחירה הנוכחית מקושר לנקודות הפתעה בעוצמת אפקט גבוהה ביותר (Cohen's d = 2.15). אבל בעקבות דיון עם המנחה שלי, הבנו שזו לא תגלית אמפירית — זו תוצאה מובנית: מנגנון האינרציה של CATIE מוגדר כך שמעבר צד מקבל הסתברות נמוכה. כל תכונה שמבוססת על הבחירה הנוכחית תיתן תוצאה מעגלית כזו. זו לא הייתה טעות מתודולוגית — זו הייתה תובנה חשובה שהובילה אותנו לקריטריון הכלה ברור: לנתח רק תכונות שאינן תלויות בבחירה הנוכחית.</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בעקבות שתי ההשערות שנפסלו, שינינו גישה: במקום לחפש תכונות חדשות, אנחנו בוחנים את ה-p של CATIE כאובייקט מתמטי בפני עצמו — בלי תלות בבחירה הנוכחית. בונים עקומת כיול: מחלקים את התחזיות ל“דליים” ובודקים אם ההסתברות האמפירית בכל דלי תואמת את מה שהמודל הצהיר.</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במקביל, בודקים אם ה-p משתנה כתלות במספר הניסיון, בנפרד לכל לוח תגמולים — כדי לבדוק אם יש סחיפה שיטתית בביטחון המודל במהלך הסשן.</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ממוקד הקליברציה הצלחנו לראות מגמה: כשמסתכלים רק על התחזיות הבטוחות ביותר של CATIE, ההסתברות האמפירית בפועל נמוכה מההסתברות שהמודל מצהיר עליה — כלומר, המודל “בטוח יותר ממה שהוא צריך להיות”. זו תוצאה חשובה כי היא מצביעה על פתרון פשוט יחסית: אולי לא צריך לבנות מודל חדש — אולי מספיק להחיל טרנספורמציה מתמטית, שתכווץ את הטווח הקיצוני של p כך שיתאם להתנהגות האמיתית.</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שלושה כיוונים להמשך: ראשית, גרדיאנט דיסנט על הפרמטרים המקוריים של CATIE, לכיוונון מחדש ספציפי לדאטה שלנו. שנית, אימון רשת נוירונים על תכונות היסטוריות שתוכננו מחדש כך שאינן תלויות בבחירה הנוכחית — נמנעות מהבעיה המעגלית שזיהינו. שלישית, בחינה של מודל שפה גדול שיוכל לייצר תכונות באופן אוטונומי — תוך התמודדות כנה עם השאלה אם יש לנו מספיק דאטה לכך. לסיכום: המחקר הזה מראה שדיוק ממוצע, כמו 64.3% הטיה, לא מספר את כל הסיפור. כדי להבין באמת מודל החלטות, צריך לבדוק לא רק אם הוא מדויק, אלא מתי ולמה הוא לא — וזה הכיוון שאני ממשיך/ה לפתח.</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19.svg"/><Relationship Id="rId4" Type="http://schemas.openxmlformats.org/officeDocument/2006/relationships/image" Target="../media/image18.sv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2ECE0"/>
        </a:solidFill>
        <a:effectLst/>
      </p:bgPr>
    </p:bg>
    <p:spTree>
      <p:nvGrpSpPr>
        <p:cNvPr id="1" name=""/>
        <p:cNvGrpSpPr/>
        <p:nvPr/>
      </p:nvGrpSpPr>
      <p:grpSpPr>
        <a:xfrm>
          <a:off x="0" y="0"/>
          <a:ext cx="0" cy="0"/>
          <a:chOff x="0" y="0"/>
          <a:chExt cx="0" cy="0"/>
        </a:xfrm>
      </p:grpSpPr>
      <p:sp>
        <p:nvSpPr>
          <p:cNvPr id="2" name="Text 0"/>
          <p:cNvSpPr/>
          <p:nvPr/>
        </p:nvSpPr>
        <p:spPr>
          <a:xfrm>
            <a:off x="1047683" y="2555564"/>
            <a:ext cx="9876839" cy="325848"/>
          </a:xfrm>
          <a:prstGeom prst="rect">
            <a:avLst/>
          </a:prstGeom>
          <a:noFill/>
          <a:ln/>
        </p:spPr>
        <p:txBody>
          <a:bodyPr wrap="square" lIns="25400" tIns="25400" rIns="25400" bIns="25400" rtlCol="0" anchor="t">
            <a:normAutofit/>
          </a:bodyPr>
          <a:lstStyle/>
          <a:p>
            <a:pPr marL="0" indent="0" algn="l">
              <a:buNone/>
            </a:pPr>
            <a:r>
              <a:rPr lang="en-US" sz="1875" b="1" kern="0" spc="375" dirty="0">
                <a:solidFill>
                  <a:srgbClr val="B3402F"/>
                </a:solidFill>
                <a:latin typeface="Fira Sans" pitchFamily="34" charset="0"/>
                <a:ea typeface="Fira Sans" pitchFamily="34" charset="-122"/>
                <a:cs typeface="Fira Sans" pitchFamily="34" charset="-120"/>
              </a:rPr>
              <a:t>CATIE · PROBABILITY CALIBRATION</a:t>
            </a:r>
            <a:endParaRPr lang="en-US" sz="1875" dirty="0"/>
          </a:p>
        </p:txBody>
      </p:sp>
      <p:sp>
        <p:nvSpPr>
          <p:cNvPr id="3" name="Text 1"/>
          <p:cNvSpPr/>
          <p:nvPr/>
        </p:nvSpPr>
        <p:spPr>
          <a:xfrm>
            <a:off x="1047683" y="3148046"/>
            <a:ext cx="7058903" cy="2498048"/>
          </a:xfrm>
          <a:prstGeom prst="rect">
            <a:avLst/>
          </a:prstGeom>
          <a:noFill/>
          <a:ln/>
        </p:spPr>
        <p:txBody>
          <a:bodyPr wrap="square" lIns="25400" tIns="25400" rIns="25400" bIns="25400" rtlCol="0" anchor="t">
            <a:normAutofit/>
          </a:bodyPr>
          <a:lstStyle/>
          <a:p>
            <a:pPr marL="0" indent="0" algn="l">
              <a:lnSpc>
                <a:spcPct val="105000"/>
              </a:lnSpc>
              <a:buNone/>
            </a:pPr>
            <a:r>
              <a:rPr lang="en-US" sz="6150" b="1" kern="0" spc="-135" dirty="0">
                <a:solidFill>
                  <a:srgbClr val="2A2520"/>
                </a:solidFill>
                <a:latin typeface="Fira Sans" pitchFamily="34" charset="0"/>
                <a:ea typeface="Fira Sans" pitchFamily="34" charset="-122"/>
                <a:cs typeface="Fira Sans" pitchFamily="34" charset="-120"/>
              </a:rPr>
              <a:t>Calibrating CATIE’s Prediction Probabilities</a:t>
            </a:r>
            <a:endParaRPr lang="en-US" sz="6150" dirty="0"/>
          </a:p>
        </p:txBody>
      </p:sp>
      <p:sp>
        <p:nvSpPr>
          <p:cNvPr id="4" name="Text 2"/>
          <p:cNvSpPr/>
          <p:nvPr/>
        </p:nvSpPr>
        <p:spPr>
          <a:xfrm>
            <a:off x="1047683" y="6126881"/>
            <a:ext cx="9876839" cy="447342"/>
          </a:xfrm>
          <a:prstGeom prst="rect">
            <a:avLst/>
          </a:prstGeom>
          <a:noFill/>
          <a:ln/>
        </p:spPr>
        <p:txBody>
          <a:bodyPr wrap="square" lIns="25400" tIns="25400" rIns="25400" bIns="25400" rtlCol="0" anchor="t">
            <a:normAutofit lnSpcReduction="10000"/>
          </a:bodyPr>
          <a:lstStyle/>
          <a:p>
            <a:pPr marL="0" indent="0" algn="l">
              <a:buNone/>
            </a:pPr>
            <a:r>
              <a:rPr lang="en-US" sz="2700" dirty="0">
                <a:solidFill>
                  <a:srgbClr val="7C7363"/>
                </a:solidFill>
                <a:latin typeface="Fira Sans" pitchFamily="34" charset="0"/>
                <a:ea typeface="Fira Sans" pitchFamily="34" charset="-122"/>
                <a:cs typeface="Fira Sans" pitchFamily="34" charset="-120"/>
              </a:rPr>
              <a:t>From Behavioral Analysis to Mathematical Correction</a:t>
            </a:r>
            <a:endParaRPr lang="en-US" sz="2700" dirty="0"/>
          </a:p>
        </p:txBody>
      </p:sp>
      <p:sp>
        <p:nvSpPr>
          <p:cNvPr id="5" name="Shape 3"/>
          <p:cNvSpPr/>
          <p:nvPr/>
        </p:nvSpPr>
        <p:spPr>
          <a:xfrm>
            <a:off x="1047683" y="6664869"/>
            <a:ext cx="6644387" cy="9525"/>
          </a:xfrm>
          <a:prstGeom prst="rect">
            <a:avLst/>
          </a:prstGeom>
          <a:solidFill>
            <a:srgbClr val="D8CDB8"/>
          </a:solidFill>
          <a:ln/>
        </p:spPr>
        <p:txBody>
          <a:bodyPr/>
          <a:lstStyle/>
          <a:p>
            <a:endParaRPr lang="he-IL"/>
          </a:p>
        </p:txBody>
      </p:sp>
      <p:sp>
        <p:nvSpPr>
          <p:cNvPr id="6" name="Text 4"/>
          <p:cNvSpPr/>
          <p:nvPr/>
        </p:nvSpPr>
        <p:spPr>
          <a:xfrm>
            <a:off x="1047683" y="6921944"/>
            <a:ext cx="10871289" cy="1381134"/>
          </a:xfrm>
          <a:prstGeom prst="rect">
            <a:avLst/>
          </a:prstGeom>
          <a:noFill/>
          <a:ln/>
        </p:spPr>
        <p:txBody>
          <a:bodyPr wrap="square" lIns="25400" tIns="25400" rIns="25400" bIns="25400" rtlCol="0" anchor="t">
            <a:normAutofit/>
          </a:bodyPr>
          <a:lstStyle/>
          <a:p>
            <a:pPr marL="0" indent="0" algn="l">
              <a:lnSpc>
                <a:spcPct val="170000"/>
              </a:lnSpc>
              <a:buNone/>
            </a:pPr>
            <a:r>
              <a:rPr lang="en-US" sz="2400" dirty="0">
                <a:solidFill>
                  <a:srgbClr val="9A917F"/>
                </a:solidFill>
                <a:latin typeface="Fira Sans" pitchFamily="34" charset="0"/>
                <a:ea typeface="Fira Sans" pitchFamily="34" charset="-122"/>
                <a:cs typeface="Fira Sans" pitchFamily="34" charset="-120"/>
              </a:rPr>
              <a:t>Shir Holzman</a:t>
            </a:r>
          </a:p>
          <a:p>
            <a:pPr marL="0" indent="0" algn="l">
              <a:lnSpc>
                <a:spcPct val="170000"/>
              </a:lnSpc>
              <a:buNone/>
            </a:pPr>
            <a:r>
              <a:rPr lang="en-US" sz="2400" dirty="0">
                <a:solidFill>
                  <a:srgbClr val="9A917F"/>
                </a:solidFill>
                <a:latin typeface="Fira Sans" pitchFamily="34" charset="0"/>
                <a:ea typeface="Fira Sans" pitchFamily="34" charset="-122"/>
                <a:cs typeface="Fira Sans" pitchFamily="34" charset="-120"/>
              </a:rPr>
              <a:t>Supervised research: Prof. Yonatan Loewenstein</a:t>
            </a:r>
            <a:endParaRPr lang="en-US" sz="2800" dirty="0"/>
          </a:p>
        </p:txBody>
      </p:sp>
      <p:sp>
        <p:nvSpPr>
          <p:cNvPr id="7" name="Shape 5"/>
          <p:cNvSpPr/>
          <p:nvPr/>
        </p:nvSpPr>
        <p:spPr>
          <a:xfrm>
            <a:off x="11918972" y="3857625"/>
            <a:ext cx="1181067" cy="1181067"/>
          </a:xfrm>
          <a:prstGeom prst="roundRect">
            <a:avLst>
              <a:gd name="adj" fmla="val 12904"/>
            </a:avLst>
          </a:prstGeom>
          <a:solidFill>
            <a:srgbClr val="FBF8F2"/>
          </a:solidFill>
          <a:ln w="19183">
            <a:solidFill>
              <a:srgbClr val="2F6B7A"/>
            </a:solidFill>
            <a:prstDash val="solid"/>
          </a:ln>
          <a:effectLst>
            <a:outerShdw blurRad="209550" dist="57150" dir="5400000" algn="bl" rotWithShape="0">
              <a:srgbClr val="463723">
                <a:alpha val="6000"/>
              </a:srgbClr>
            </a:outerShdw>
          </a:effectLst>
        </p:spPr>
        <p:txBody>
          <a:bodyPr/>
          <a:lstStyle/>
          <a:p>
            <a:endParaRPr lang="he-IL"/>
          </a:p>
        </p:txBody>
      </p:sp>
      <p:sp>
        <p:nvSpPr>
          <p:cNvPr id="8" name="Text 6"/>
          <p:cNvSpPr/>
          <p:nvPr/>
        </p:nvSpPr>
        <p:spPr>
          <a:xfrm>
            <a:off x="11900056" y="3876808"/>
            <a:ext cx="1218900" cy="1180800"/>
          </a:xfrm>
          <a:prstGeom prst="rect">
            <a:avLst/>
          </a:prstGeom>
          <a:noFill/>
          <a:ln/>
        </p:spPr>
        <p:txBody>
          <a:bodyPr wrap="square" lIns="25400" tIns="25400" rIns="25400" bIns="25400" rtlCol="0" anchor="ctr">
            <a:normAutofit/>
          </a:bodyPr>
          <a:lstStyle/>
          <a:p>
            <a:pPr marL="0" indent="0" algn="ctr">
              <a:buNone/>
            </a:pPr>
            <a:r>
              <a:rPr lang="en-US" sz="3600" b="1" dirty="0">
                <a:solidFill>
                  <a:srgbClr val="2F6B7A"/>
                </a:solidFill>
                <a:latin typeface="Fira Sans" pitchFamily="34" charset="0"/>
                <a:ea typeface="Fira Sans" pitchFamily="34" charset="-122"/>
                <a:cs typeface="Fira Sans" pitchFamily="34" charset="-120"/>
              </a:rPr>
              <a:t>L</a:t>
            </a:r>
            <a:endParaRPr lang="en-US" sz="3600" dirty="0"/>
          </a:p>
        </p:txBody>
      </p:sp>
      <p:sp>
        <p:nvSpPr>
          <p:cNvPr id="9" name="Shape 7"/>
          <p:cNvSpPr/>
          <p:nvPr/>
        </p:nvSpPr>
        <p:spPr>
          <a:xfrm>
            <a:off x="11918972" y="5248208"/>
            <a:ext cx="1181067" cy="1181067"/>
          </a:xfrm>
          <a:prstGeom prst="roundRect">
            <a:avLst>
              <a:gd name="adj" fmla="val 12904"/>
            </a:avLst>
          </a:prstGeom>
          <a:solidFill>
            <a:srgbClr val="FBF8F2"/>
          </a:solidFill>
          <a:ln w="19183">
            <a:solidFill>
              <a:srgbClr val="B3402F"/>
            </a:solidFill>
            <a:prstDash val="solid"/>
          </a:ln>
          <a:effectLst>
            <a:outerShdw blurRad="209550" dist="57150" dir="5400000" algn="bl" rotWithShape="0">
              <a:srgbClr val="463723">
                <a:alpha val="6000"/>
              </a:srgbClr>
            </a:outerShdw>
          </a:effectLst>
        </p:spPr>
        <p:txBody>
          <a:bodyPr/>
          <a:lstStyle/>
          <a:p>
            <a:endParaRPr lang="he-IL"/>
          </a:p>
        </p:txBody>
      </p:sp>
      <p:sp>
        <p:nvSpPr>
          <p:cNvPr id="10" name="Text 8"/>
          <p:cNvSpPr/>
          <p:nvPr/>
        </p:nvSpPr>
        <p:spPr>
          <a:xfrm>
            <a:off x="11900056" y="5267391"/>
            <a:ext cx="1218900" cy="1180800"/>
          </a:xfrm>
          <a:prstGeom prst="rect">
            <a:avLst/>
          </a:prstGeom>
          <a:noFill/>
          <a:ln/>
        </p:spPr>
        <p:txBody>
          <a:bodyPr wrap="square" lIns="25400" tIns="25400" rIns="25400" bIns="25400" rtlCol="0" anchor="ctr">
            <a:normAutofit/>
          </a:bodyPr>
          <a:lstStyle/>
          <a:p>
            <a:pPr marL="0" indent="0" algn="ctr">
              <a:buNone/>
            </a:pPr>
            <a:r>
              <a:rPr lang="en-US" sz="3600" b="1" dirty="0">
                <a:solidFill>
                  <a:srgbClr val="B3402F"/>
                </a:solidFill>
                <a:latin typeface="Fira Sans" pitchFamily="34" charset="0"/>
                <a:ea typeface="Fira Sans" pitchFamily="34" charset="-122"/>
                <a:cs typeface="Fira Sans" pitchFamily="34" charset="-120"/>
              </a:rPr>
              <a:t>R</a:t>
            </a:r>
            <a:endParaRPr lang="en-US" sz="3600" dirty="0"/>
          </a:p>
        </p:txBody>
      </p:sp>
      <p:sp>
        <p:nvSpPr>
          <p:cNvPr id="11" name="Text 9"/>
          <p:cNvSpPr/>
          <p:nvPr/>
        </p:nvSpPr>
        <p:spPr>
          <a:xfrm>
            <a:off x="13423855" y="4894018"/>
            <a:ext cx="495333" cy="536864"/>
          </a:xfrm>
          <a:prstGeom prst="rect">
            <a:avLst/>
          </a:prstGeom>
          <a:noFill/>
          <a:ln/>
        </p:spPr>
        <p:txBody>
          <a:bodyPr wrap="square" lIns="25400" tIns="25400" rIns="25400" bIns="25400" rtlCol="0" anchor="t">
            <a:normAutofit/>
          </a:bodyPr>
          <a:lstStyle/>
          <a:p>
            <a:pPr marL="0" indent="0" algn="l">
              <a:buNone/>
            </a:pPr>
            <a:r>
              <a:rPr lang="en-US" sz="3300" dirty="0">
                <a:solidFill>
                  <a:srgbClr val="BFA06E"/>
                </a:solidFill>
                <a:latin typeface="Fira Sans" pitchFamily="34" charset="0"/>
                <a:ea typeface="Fira Sans" pitchFamily="34" charset="-122"/>
                <a:cs typeface="Fira Sans" pitchFamily="34" charset="-120"/>
              </a:rPr>
              <a:t>→</a:t>
            </a:r>
            <a:endParaRPr lang="en-US" sz="3300" dirty="0"/>
          </a:p>
        </p:txBody>
      </p:sp>
      <p:sp>
        <p:nvSpPr>
          <p:cNvPr id="12" name="Shape 10"/>
          <p:cNvSpPr/>
          <p:nvPr/>
        </p:nvSpPr>
        <p:spPr>
          <a:xfrm>
            <a:off x="14166805" y="3932859"/>
            <a:ext cx="1981167" cy="1981167"/>
          </a:xfrm>
          <a:prstGeom prst="ellipse">
            <a:avLst/>
          </a:prstGeom>
          <a:solidFill>
            <a:srgbClr val="FBF8F2"/>
          </a:solidFill>
          <a:ln w="31972">
            <a:solidFill>
              <a:srgbClr val="B3402F"/>
            </a:solidFill>
            <a:prstDash val="solid"/>
          </a:ln>
          <a:effectLst>
            <a:outerShdw blurRad="323850" dist="95250" dir="5400000" algn="bl" rotWithShape="0">
              <a:srgbClr val="B3402F">
                <a:alpha val="12000"/>
              </a:srgbClr>
            </a:outerShdw>
          </a:effectLst>
        </p:spPr>
        <p:txBody>
          <a:bodyPr/>
          <a:lstStyle/>
          <a:p>
            <a:endParaRPr lang="he-IL"/>
          </a:p>
        </p:txBody>
      </p:sp>
      <p:sp>
        <p:nvSpPr>
          <p:cNvPr id="13" name="Text 11"/>
          <p:cNvSpPr/>
          <p:nvPr/>
        </p:nvSpPr>
        <p:spPr>
          <a:xfrm>
            <a:off x="14160677" y="3964831"/>
            <a:ext cx="1993423" cy="1955323"/>
          </a:xfrm>
          <a:prstGeom prst="rect">
            <a:avLst/>
          </a:prstGeom>
          <a:noFill/>
          <a:ln/>
        </p:spPr>
        <p:txBody>
          <a:bodyPr wrap="square" lIns="25400" tIns="25400" rIns="25400" bIns="25400" rtlCol="0" anchor="ctr">
            <a:normAutofit/>
          </a:bodyPr>
          <a:lstStyle/>
          <a:p>
            <a:pPr marL="0" indent="0" algn="ctr">
              <a:buNone/>
            </a:pPr>
            <a:r>
              <a:rPr lang="en-US" sz="7200" b="1" i="1" dirty="0">
                <a:solidFill>
                  <a:srgbClr val="B3402F"/>
                </a:solidFill>
                <a:latin typeface="Fira Sans" pitchFamily="34" charset="0"/>
                <a:ea typeface="Fira Sans" pitchFamily="34" charset="-122"/>
                <a:cs typeface="Fira Sans" pitchFamily="34" charset="-120"/>
              </a:rPr>
              <a:t>p</a:t>
            </a:r>
            <a:endParaRPr lang="en-US" sz="7200" dirty="0"/>
          </a:p>
        </p:txBody>
      </p:sp>
      <p:sp>
        <p:nvSpPr>
          <p:cNvPr id="14" name="Text 12"/>
          <p:cNvSpPr/>
          <p:nvPr/>
        </p:nvSpPr>
        <p:spPr>
          <a:xfrm>
            <a:off x="14491321" y="6085476"/>
            <a:ext cx="1465348" cy="306665"/>
          </a:xfrm>
          <a:prstGeom prst="rect">
            <a:avLst/>
          </a:prstGeom>
          <a:noFill/>
          <a:ln/>
        </p:spPr>
        <p:txBody>
          <a:bodyPr wrap="square" lIns="25400" tIns="25400" rIns="25400" bIns="25400" rtlCol="0" anchor="t">
            <a:normAutofit/>
          </a:bodyPr>
          <a:lstStyle/>
          <a:p>
            <a:pPr marL="0" indent="0" algn="l">
              <a:buNone/>
            </a:pPr>
            <a:r>
              <a:rPr lang="en-US" sz="1800" b="1" kern="0" spc="252" dirty="0">
                <a:solidFill>
                  <a:srgbClr val="9A917F"/>
                </a:solidFill>
                <a:latin typeface="Fira Sans" pitchFamily="34" charset="0"/>
                <a:ea typeface="Fira Sans" pitchFamily="34" charset="-122"/>
                <a:cs typeface="Fira Sans" pitchFamily="34" charset="-120"/>
              </a:rPr>
              <a:t>P(CHOICE)</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ECE0"/>
        </a:solidFill>
        <a:effectLst/>
      </p:bgPr>
    </p:bg>
    <p:spTree>
      <p:nvGrpSpPr>
        <p:cNvPr id="1" name=""/>
        <p:cNvGrpSpPr/>
        <p:nvPr/>
      </p:nvGrpSpPr>
      <p:grpSpPr>
        <a:xfrm>
          <a:off x="0" y="0"/>
          <a:ext cx="0" cy="0"/>
          <a:chOff x="0" y="0"/>
          <a:chExt cx="0" cy="0"/>
        </a:xfrm>
      </p:grpSpPr>
      <p:sp>
        <p:nvSpPr>
          <p:cNvPr id="2" name="Text 0"/>
          <p:cNvSpPr/>
          <p:nvPr/>
        </p:nvSpPr>
        <p:spPr>
          <a:xfrm>
            <a:off x="990533" y="914400"/>
            <a:ext cx="8243997" cy="325848"/>
          </a:xfrm>
          <a:prstGeom prst="rect">
            <a:avLst/>
          </a:prstGeom>
          <a:noFill/>
          <a:ln/>
        </p:spPr>
        <p:txBody>
          <a:bodyPr wrap="square" lIns="25400" tIns="25400" rIns="25400" bIns="25400" rtlCol="0" anchor="t">
            <a:normAutofit/>
          </a:bodyPr>
          <a:lstStyle/>
          <a:p>
            <a:pPr marL="0" indent="0" algn="l">
              <a:buNone/>
            </a:pPr>
            <a:r>
              <a:rPr lang="en-US" sz="1875" b="1" kern="0" spc="300" dirty="0">
                <a:solidFill>
                  <a:srgbClr val="B3402F"/>
                </a:solidFill>
                <a:latin typeface="Fira Sans" pitchFamily="34" charset="0"/>
                <a:ea typeface="Fira Sans" pitchFamily="34" charset="-122"/>
                <a:cs typeface="Fira Sans" pitchFamily="34" charset="-120"/>
              </a:rPr>
              <a:t>THE PARADIGM</a:t>
            </a:r>
            <a:endParaRPr lang="en-US" sz="1875" dirty="0"/>
          </a:p>
        </p:txBody>
      </p:sp>
      <p:sp>
        <p:nvSpPr>
          <p:cNvPr id="3" name="Text 1"/>
          <p:cNvSpPr/>
          <p:nvPr/>
        </p:nvSpPr>
        <p:spPr>
          <a:xfrm>
            <a:off x="990533" y="1335432"/>
            <a:ext cx="8243997" cy="582823"/>
          </a:xfrm>
          <a:prstGeom prst="rect">
            <a:avLst/>
          </a:prstGeom>
          <a:noFill/>
          <a:ln/>
        </p:spPr>
        <p:txBody>
          <a:bodyPr wrap="square" lIns="25400" tIns="25400" rIns="25400" bIns="25400" rtlCol="0" anchor="t">
            <a:normAutofit/>
          </a:bodyPr>
          <a:lstStyle/>
          <a:p>
            <a:pPr marL="0" indent="0" algn="l">
              <a:lnSpc>
                <a:spcPct val="110000"/>
              </a:lnSpc>
              <a:buNone/>
            </a:pPr>
            <a:r>
              <a:rPr lang="en-US" sz="3900" b="1" kern="0" spc="-58" dirty="0">
                <a:solidFill>
                  <a:srgbClr val="2A2520"/>
                </a:solidFill>
                <a:latin typeface="Fira Sans" pitchFamily="34" charset="0"/>
                <a:ea typeface="Fira Sans" pitchFamily="34" charset="-122"/>
                <a:cs typeface="Fira Sans" pitchFamily="34" charset="-120"/>
              </a:rPr>
              <a:t>How the choice engineering works</a:t>
            </a:r>
            <a:endParaRPr lang="en-US" sz="3900" dirty="0"/>
          </a:p>
        </p:txBody>
      </p:sp>
      <p:sp>
        <p:nvSpPr>
          <p:cNvPr id="4" name="Shape 2"/>
          <p:cNvSpPr/>
          <p:nvPr/>
        </p:nvSpPr>
        <p:spPr>
          <a:xfrm>
            <a:off x="990533" y="3635619"/>
            <a:ext cx="2773873" cy="4762433"/>
          </a:xfrm>
          <a:prstGeom prst="roundRect">
            <a:avLst>
              <a:gd name="adj" fmla="val 5494"/>
            </a:avLst>
          </a:prstGeom>
          <a:solidFill>
            <a:srgbClr val="FBF8F2"/>
          </a:solidFill>
          <a:ln w="6394">
            <a:solidFill>
              <a:srgbClr val="E4DBC9"/>
            </a:solidFill>
            <a:prstDash val="solid"/>
          </a:ln>
          <a:effectLst>
            <a:outerShdw blurRad="228600" dist="57150" dir="5400000" algn="bl" rotWithShape="0">
              <a:srgbClr val="463723">
                <a:alpha val="5000"/>
              </a:srgbClr>
            </a:outerShdw>
          </a:effectLst>
        </p:spPr>
        <p:txBody>
          <a:bodyPr/>
          <a:lstStyle/>
          <a:p>
            <a:endParaRPr lang="he-IL"/>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77370" y="5094543"/>
            <a:ext cx="800100" cy="800100"/>
          </a:xfrm>
          <a:prstGeom prst="rect">
            <a:avLst/>
          </a:prstGeom>
        </p:spPr>
      </p:pic>
      <p:sp>
        <p:nvSpPr>
          <p:cNvPr id="6" name="Text 3"/>
          <p:cNvSpPr/>
          <p:nvPr/>
        </p:nvSpPr>
        <p:spPr>
          <a:xfrm>
            <a:off x="1088248" y="5989859"/>
            <a:ext cx="2578344" cy="332243"/>
          </a:xfrm>
          <a:prstGeom prst="rect">
            <a:avLst/>
          </a:prstGeom>
          <a:noFill/>
          <a:ln/>
        </p:spPr>
        <p:txBody>
          <a:bodyPr wrap="square" lIns="25400" tIns="25400" rIns="25400" bIns="25400" rtlCol="0" anchor="t">
            <a:normAutofit/>
          </a:bodyPr>
          <a:lstStyle/>
          <a:p>
            <a:pPr marL="0" indent="0" algn="ctr">
              <a:buNone/>
            </a:pPr>
            <a:r>
              <a:rPr lang="en-US" sz="1950" b="1" dirty="0">
                <a:solidFill>
                  <a:srgbClr val="2A2520"/>
                </a:solidFill>
                <a:latin typeface="Fira Sans" pitchFamily="34" charset="0"/>
                <a:ea typeface="Fira Sans" pitchFamily="34" charset="-122"/>
                <a:cs typeface="Fira Sans" pitchFamily="34" charset="-120"/>
              </a:rPr>
              <a:t>Engineered schedule</a:t>
            </a:r>
            <a:endParaRPr lang="en-US" sz="1950" dirty="0"/>
          </a:p>
        </p:txBody>
      </p:sp>
      <p:sp>
        <p:nvSpPr>
          <p:cNvPr id="7" name="Text 4"/>
          <p:cNvSpPr/>
          <p:nvPr/>
        </p:nvSpPr>
        <p:spPr>
          <a:xfrm>
            <a:off x="1130278" y="6379219"/>
            <a:ext cx="2494384" cy="655160"/>
          </a:xfrm>
          <a:prstGeom prst="rect">
            <a:avLst/>
          </a:prstGeom>
          <a:noFill/>
          <a:ln/>
        </p:spPr>
        <p:txBody>
          <a:bodyPr wrap="square" lIns="25400" tIns="25400" rIns="25400" bIns="25400" rtlCol="0" anchor="t">
            <a:normAutofit/>
          </a:bodyPr>
          <a:lstStyle/>
          <a:p>
            <a:pPr marL="0" indent="0" algn="ctr">
              <a:lnSpc>
                <a:spcPct val="135000"/>
              </a:lnSpc>
              <a:buNone/>
            </a:pPr>
            <a:r>
              <a:rPr lang="en-US" sz="1800" dirty="0">
                <a:solidFill>
                  <a:srgbClr val="897F6E"/>
                </a:solidFill>
                <a:latin typeface="Fira Sans" pitchFamily="34" charset="0"/>
                <a:ea typeface="Fira Sans" pitchFamily="34" charset="-122"/>
                <a:cs typeface="Fira Sans" pitchFamily="34" charset="-120"/>
              </a:rPr>
              <a:t>rewards are tuned in advance</a:t>
            </a:r>
            <a:endParaRPr lang="en-US" sz="1800" dirty="0"/>
          </a:p>
        </p:txBody>
      </p:sp>
      <p:sp>
        <p:nvSpPr>
          <p:cNvPr id="8" name="Text 5"/>
          <p:cNvSpPr/>
          <p:nvPr/>
        </p:nvSpPr>
        <p:spPr>
          <a:xfrm>
            <a:off x="3916740" y="5831398"/>
            <a:ext cx="350410" cy="408976"/>
          </a:xfrm>
          <a:prstGeom prst="rect">
            <a:avLst/>
          </a:prstGeom>
          <a:noFill/>
          <a:ln/>
        </p:spPr>
        <p:txBody>
          <a:bodyPr wrap="square" lIns="25400" tIns="25400" rIns="25400" bIns="25400" rtlCol="0" anchor="t">
            <a:normAutofit/>
          </a:bodyPr>
          <a:lstStyle/>
          <a:p>
            <a:pPr marL="0" indent="0" algn="l">
              <a:buNone/>
            </a:pPr>
            <a:r>
              <a:rPr lang="en-US" sz="2400" dirty="0">
                <a:solidFill>
                  <a:srgbClr val="BFA06E"/>
                </a:solidFill>
                <a:latin typeface="Fira Sans" pitchFamily="34" charset="0"/>
                <a:ea typeface="Fira Sans" pitchFamily="34" charset="-122"/>
                <a:cs typeface="Fira Sans" pitchFamily="34" charset="-120"/>
              </a:rPr>
              <a:t>→</a:t>
            </a:r>
            <a:endParaRPr lang="en-US" sz="2400" dirty="0"/>
          </a:p>
        </p:txBody>
      </p:sp>
      <p:sp>
        <p:nvSpPr>
          <p:cNvPr id="9" name="Shape 6"/>
          <p:cNvSpPr/>
          <p:nvPr/>
        </p:nvSpPr>
        <p:spPr>
          <a:xfrm>
            <a:off x="4373773" y="3635619"/>
            <a:ext cx="2773973" cy="4762433"/>
          </a:xfrm>
          <a:prstGeom prst="roundRect">
            <a:avLst>
              <a:gd name="adj" fmla="val 5494"/>
            </a:avLst>
          </a:prstGeom>
          <a:solidFill>
            <a:srgbClr val="FBF8F2"/>
          </a:solidFill>
          <a:ln w="6394">
            <a:solidFill>
              <a:srgbClr val="E4DBC9"/>
            </a:solidFill>
            <a:prstDash val="solid"/>
          </a:ln>
          <a:effectLst>
            <a:outerShdw blurRad="228600" dist="57150" dir="5400000" algn="bl" rotWithShape="0">
              <a:srgbClr val="463723">
                <a:alpha val="5000"/>
              </a:srgbClr>
            </a:outerShdw>
          </a:effectLst>
        </p:spPr>
        <p:txBody>
          <a:bodyPr/>
          <a:lstStyle/>
          <a:p>
            <a:endParaRPr lang="he-IL"/>
          </a:p>
        </p:txBody>
      </p:sp>
      <p:pic>
        <p:nvPicPr>
          <p:cNvPr id="1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22643" y="5065968"/>
            <a:ext cx="876233" cy="800100"/>
          </a:xfrm>
          <a:prstGeom prst="rect">
            <a:avLst/>
          </a:prstGeom>
        </p:spPr>
      </p:pic>
      <p:sp>
        <p:nvSpPr>
          <p:cNvPr id="11" name="Text 7"/>
          <p:cNvSpPr/>
          <p:nvPr/>
        </p:nvSpPr>
        <p:spPr>
          <a:xfrm>
            <a:off x="5003967" y="5989859"/>
            <a:ext cx="1513486" cy="332243"/>
          </a:xfrm>
          <a:prstGeom prst="rect">
            <a:avLst/>
          </a:prstGeom>
          <a:noFill/>
          <a:ln/>
        </p:spPr>
        <p:txBody>
          <a:bodyPr wrap="square" lIns="25400" tIns="25400" rIns="25400" bIns="25400" rtlCol="0" anchor="t">
            <a:normAutofit/>
          </a:bodyPr>
          <a:lstStyle/>
          <a:p>
            <a:pPr marL="0" indent="0" algn="ctr">
              <a:buNone/>
            </a:pPr>
            <a:r>
              <a:rPr lang="en-US" sz="1950" b="1" dirty="0">
                <a:solidFill>
                  <a:srgbClr val="2A2520"/>
                </a:solidFill>
                <a:latin typeface="Fira Sans" pitchFamily="34" charset="0"/>
                <a:ea typeface="Fira Sans" pitchFamily="34" charset="-122"/>
                <a:cs typeface="Fira Sans" pitchFamily="34" charset="-120"/>
              </a:rPr>
              <a:t>Two options</a:t>
            </a:r>
            <a:endParaRPr lang="en-US" sz="1950" dirty="0"/>
          </a:p>
        </p:txBody>
      </p:sp>
      <p:sp>
        <p:nvSpPr>
          <p:cNvPr id="12" name="Text 8"/>
          <p:cNvSpPr/>
          <p:nvPr/>
        </p:nvSpPr>
        <p:spPr>
          <a:xfrm>
            <a:off x="4513518" y="6379219"/>
            <a:ext cx="2494484" cy="655160"/>
          </a:xfrm>
          <a:prstGeom prst="rect">
            <a:avLst/>
          </a:prstGeom>
          <a:noFill/>
          <a:ln/>
        </p:spPr>
        <p:txBody>
          <a:bodyPr wrap="square" lIns="25400" tIns="25400" rIns="25400" bIns="25400" rtlCol="0" anchor="t">
            <a:normAutofit/>
          </a:bodyPr>
          <a:lstStyle/>
          <a:p>
            <a:pPr marL="0" indent="0" algn="ctr">
              <a:lnSpc>
                <a:spcPct val="135000"/>
              </a:lnSpc>
              <a:buNone/>
            </a:pPr>
            <a:r>
              <a:rPr lang="en-US" sz="1800" dirty="0">
                <a:solidFill>
                  <a:srgbClr val="897F6E"/>
                </a:solidFill>
                <a:latin typeface="Fira Sans" pitchFamily="34" charset="0"/>
                <a:ea typeface="Fira Sans" pitchFamily="34" charset="-122"/>
                <a:cs typeface="Fira Sans" pitchFamily="34" charset="-120"/>
              </a:rPr>
              <a:t>a biased vs. unbiased arm</a:t>
            </a:r>
            <a:endParaRPr lang="en-US" sz="1800" dirty="0"/>
          </a:p>
        </p:txBody>
      </p:sp>
      <p:sp>
        <p:nvSpPr>
          <p:cNvPr id="13" name="Text 9"/>
          <p:cNvSpPr/>
          <p:nvPr/>
        </p:nvSpPr>
        <p:spPr>
          <a:xfrm>
            <a:off x="7300080" y="5831398"/>
            <a:ext cx="350410" cy="408976"/>
          </a:xfrm>
          <a:prstGeom prst="rect">
            <a:avLst/>
          </a:prstGeom>
          <a:noFill/>
          <a:ln/>
        </p:spPr>
        <p:txBody>
          <a:bodyPr wrap="square" lIns="25400" tIns="25400" rIns="25400" bIns="25400" rtlCol="0" anchor="t">
            <a:normAutofit/>
          </a:bodyPr>
          <a:lstStyle/>
          <a:p>
            <a:pPr marL="0" indent="0" algn="l">
              <a:buNone/>
            </a:pPr>
            <a:r>
              <a:rPr lang="en-US" sz="2400" dirty="0">
                <a:solidFill>
                  <a:srgbClr val="BFA06E"/>
                </a:solidFill>
                <a:latin typeface="Fira Sans" pitchFamily="34" charset="0"/>
                <a:ea typeface="Fira Sans" pitchFamily="34" charset="-122"/>
                <a:cs typeface="Fira Sans" pitchFamily="34" charset="-120"/>
              </a:rPr>
              <a:t>→</a:t>
            </a:r>
            <a:endParaRPr lang="en-US" sz="2400" dirty="0"/>
          </a:p>
        </p:txBody>
      </p:sp>
      <p:sp>
        <p:nvSpPr>
          <p:cNvPr id="14" name="Shape 10"/>
          <p:cNvSpPr/>
          <p:nvPr/>
        </p:nvSpPr>
        <p:spPr>
          <a:xfrm>
            <a:off x="7757113" y="3635619"/>
            <a:ext cx="2773873" cy="4762433"/>
          </a:xfrm>
          <a:prstGeom prst="roundRect">
            <a:avLst>
              <a:gd name="adj" fmla="val 5494"/>
            </a:avLst>
          </a:prstGeom>
          <a:solidFill>
            <a:srgbClr val="FBF8F2"/>
          </a:solidFill>
          <a:ln w="6394">
            <a:solidFill>
              <a:srgbClr val="E4DBC9"/>
            </a:solidFill>
            <a:prstDash val="solid"/>
          </a:ln>
          <a:effectLst>
            <a:outerShdw blurRad="228600" dist="57150" dir="5400000" algn="bl" rotWithShape="0">
              <a:srgbClr val="463723">
                <a:alpha val="5000"/>
              </a:srgbClr>
            </a:outerShdw>
          </a:effectLst>
        </p:spPr>
        <p:txBody>
          <a:bodyPr/>
          <a:lstStyle/>
          <a:p>
            <a:endParaRPr lang="he-IL"/>
          </a:p>
        </p:txBody>
      </p:sp>
      <p:pic>
        <p:nvPicPr>
          <p:cNvPr id="15"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705883" y="4854553"/>
            <a:ext cx="876233" cy="800100"/>
          </a:xfrm>
          <a:prstGeom prst="rect">
            <a:avLst/>
          </a:prstGeom>
        </p:spPr>
      </p:pic>
      <p:sp>
        <p:nvSpPr>
          <p:cNvPr id="16" name="Text 11"/>
          <p:cNvSpPr/>
          <p:nvPr/>
        </p:nvSpPr>
        <p:spPr>
          <a:xfrm>
            <a:off x="8426543" y="5835594"/>
            <a:ext cx="1435014" cy="332243"/>
          </a:xfrm>
          <a:prstGeom prst="rect">
            <a:avLst/>
          </a:prstGeom>
          <a:noFill/>
          <a:ln/>
        </p:spPr>
        <p:txBody>
          <a:bodyPr wrap="square" lIns="25400" tIns="25400" rIns="25400" bIns="25400" rtlCol="0" anchor="t">
            <a:normAutofit/>
          </a:bodyPr>
          <a:lstStyle/>
          <a:p>
            <a:pPr marL="0" indent="0" algn="ctr">
              <a:buNone/>
            </a:pPr>
            <a:r>
              <a:rPr lang="en-US" sz="1950" b="1" dirty="0">
                <a:solidFill>
                  <a:srgbClr val="2A2520"/>
                </a:solidFill>
                <a:latin typeface="Fira Sans" pitchFamily="34" charset="0"/>
                <a:ea typeface="Fira Sans" pitchFamily="34" charset="-122"/>
                <a:cs typeface="Fira Sans" pitchFamily="34" charset="-120"/>
              </a:rPr>
              <a:t>100 choices</a:t>
            </a:r>
            <a:endParaRPr lang="en-US" sz="1950" dirty="0"/>
          </a:p>
        </p:txBody>
      </p:sp>
      <p:sp>
        <p:nvSpPr>
          <p:cNvPr id="17" name="Text 12"/>
          <p:cNvSpPr/>
          <p:nvPr/>
        </p:nvSpPr>
        <p:spPr>
          <a:xfrm>
            <a:off x="7896858" y="6282104"/>
            <a:ext cx="2494384" cy="963690"/>
          </a:xfrm>
          <a:prstGeom prst="rect">
            <a:avLst/>
          </a:prstGeom>
          <a:noFill/>
          <a:ln/>
        </p:spPr>
        <p:txBody>
          <a:bodyPr wrap="square" lIns="25400" tIns="25400" rIns="25400" bIns="25400" rtlCol="0" anchor="t">
            <a:normAutofit/>
          </a:bodyPr>
          <a:lstStyle/>
          <a:p>
            <a:pPr marL="0" indent="0" algn="ctr">
              <a:lnSpc>
                <a:spcPct val="135000"/>
              </a:lnSpc>
              <a:buNone/>
            </a:pPr>
            <a:r>
              <a:rPr lang="en-US" sz="1800" dirty="0">
                <a:solidFill>
                  <a:srgbClr val="897F6E"/>
                </a:solidFill>
                <a:latin typeface="Fira Sans" pitchFamily="34" charset="0"/>
                <a:ea typeface="Fira Sans" pitchFamily="34" charset="-122"/>
                <a:cs typeface="Fira Sans" pitchFamily="34" charset="-120"/>
              </a:rPr>
              <a:t>partial feedback: only the chosen reward is shown</a:t>
            </a:r>
            <a:endParaRPr lang="en-US" sz="1800" dirty="0"/>
          </a:p>
        </p:txBody>
      </p:sp>
      <p:sp>
        <p:nvSpPr>
          <p:cNvPr id="18" name="Text 13"/>
          <p:cNvSpPr/>
          <p:nvPr/>
        </p:nvSpPr>
        <p:spPr>
          <a:xfrm>
            <a:off x="10683320" y="5831398"/>
            <a:ext cx="350410" cy="408976"/>
          </a:xfrm>
          <a:prstGeom prst="rect">
            <a:avLst/>
          </a:prstGeom>
          <a:noFill/>
          <a:ln/>
        </p:spPr>
        <p:txBody>
          <a:bodyPr wrap="square" lIns="25400" tIns="25400" rIns="25400" bIns="25400" rtlCol="0" anchor="t">
            <a:normAutofit/>
          </a:bodyPr>
          <a:lstStyle/>
          <a:p>
            <a:pPr marL="0" indent="0" algn="l">
              <a:buNone/>
            </a:pPr>
            <a:r>
              <a:rPr lang="en-US" sz="2400" dirty="0">
                <a:solidFill>
                  <a:srgbClr val="BFA06E"/>
                </a:solidFill>
                <a:latin typeface="Fira Sans" pitchFamily="34" charset="0"/>
                <a:ea typeface="Fira Sans" pitchFamily="34" charset="-122"/>
                <a:cs typeface="Fira Sans" pitchFamily="34" charset="-120"/>
              </a:rPr>
              <a:t>→</a:t>
            </a:r>
            <a:endParaRPr lang="en-US" sz="2400" dirty="0"/>
          </a:p>
        </p:txBody>
      </p:sp>
      <p:sp>
        <p:nvSpPr>
          <p:cNvPr id="19" name="Shape 14"/>
          <p:cNvSpPr/>
          <p:nvPr/>
        </p:nvSpPr>
        <p:spPr>
          <a:xfrm>
            <a:off x="11140354" y="3635619"/>
            <a:ext cx="2773873" cy="4762433"/>
          </a:xfrm>
          <a:prstGeom prst="roundRect">
            <a:avLst>
              <a:gd name="adj" fmla="val 5494"/>
            </a:avLst>
          </a:prstGeom>
          <a:solidFill>
            <a:srgbClr val="FBF8F2"/>
          </a:solidFill>
          <a:ln w="6394">
            <a:solidFill>
              <a:srgbClr val="E4DBC9"/>
            </a:solidFill>
            <a:prstDash val="solid"/>
          </a:ln>
          <a:effectLst>
            <a:outerShdw blurRad="228600" dist="57150" dir="5400000" algn="bl" rotWithShape="0">
              <a:srgbClr val="463723">
                <a:alpha val="5000"/>
              </a:srgbClr>
            </a:outerShdw>
          </a:effectLst>
        </p:spPr>
        <p:txBody>
          <a:bodyPr/>
          <a:lstStyle/>
          <a:p>
            <a:endParaRPr lang="he-IL"/>
          </a:p>
        </p:txBody>
      </p:sp>
      <p:pic>
        <p:nvPicPr>
          <p:cNvPr id="2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2051056" y="5008818"/>
            <a:ext cx="952467" cy="800100"/>
          </a:xfrm>
          <a:prstGeom prst="rect">
            <a:avLst/>
          </a:prstGeom>
        </p:spPr>
      </p:pic>
      <p:sp>
        <p:nvSpPr>
          <p:cNvPr id="21" name="Text 15"/>
          <p:cNvSpPr/>
          <p:nvPr/>
        </p:nvSpPr>
        <p:spPr>
          <a:xfrm>
            <a:off x="11578105" y="5989859"/>
            <a:ext cx="1898369" cy="332243"/>
          </a:xfrm>
          <a:prstGeom prst="rect">
            <a:avLst/>
          </a:prstGeom>
          <a:noFill/>
          <a:ln/>
        </p:spPr>
        <p:txBody>
          <a:bodyPr wrap="square" lIns="25400" tIns="25400" rIns="25400" bIns="25400" rtlCol="0" anchor="t">
            <a:normAutofit/>
          </a:bodyPr>
          <a:lstStyle/>
          <a:p>
            <a:pPr marL="0" indent="0" algn="ctr">
              <a:buNone/>
            </a:pPr>
            <a:r>
              <a:rPr lang="en-US" sz="1950" b="1" dirty="0">
                <a:solidFill>
                  <a:srgbClr val="2A2520"/>
                </a:solidFill>
                <a:latin typeface="Fira Sans" pitchFamily="34" charset="0"/>
                <a:ea typeface="Fira Sans" pitchFamily="34" charset="-122"/>
                <a:cs typeface="Fira Sans" pitchFamily="34" charset="-120"/>
              </a:rPr>
              <a:t>CATIE models it</a:t>
            </a:r>
            <a:endParaRPr lang="en-US" sz="1950" dirty="0"/>
          </a:p>
        </p:txBody>
      </p:sp>
      <p:sp>
        <p:nvSpPr>
          <p:cNvPr id="22" name="Text 16"/>
          <p:cNvSpPr/>
          <p:nvPr/>
        </p:nvSpPr>
        <p:spPr>
          <a:xfrm>
            <a:off x="11280098" y="6436369"/>
            <a:ext cx="2494384" cy="655160"/>
          </a:xfrm>
          <a:prstGeom prst="rect">
            <a:avLst/>
          </a:prstGeom>
          <a:noFill/>
          <a:ln/>
        </p:spPr>
        <p:txBody>
          <a:bodyPr wrap="square" lIns="25400" tIns="25400" rIns="25400" bIns="25400" rtlCol="0" anchor="t">
            <a:normAutofit/>
          </a:bodyPr>
          <a:lstStyle/>
          <a:p>
            <a:pPr marL="0" indent="0" algn="ctr">
              <a:lnSpc>
                <a:spcPct val="135000"/>
              </a:lnSpc>
              <a:buNone/>
            </a:pPr>
            <a:r>
              <a:rPr lang="en-US" sz="1800" dirty="0">
                <a:solidFill>
                  <a:srgbClr val="897F6E"/>
                </a:solidFill>
                <a:latin typeface="Fira Sans" pitchFamily="34" charset="0"/>
                <a:ea typeface="Fira Sans" pitchFamily="34" charset="-122"/>
                <a:cs typeface="Fira Sans" pitchFamily="34" charset="-120"/>
              </a:rPr>
              <a:t>reads the whole sequence</a:t>
            </a:r>
            <a:endParaRPr lang="en-US" sz="1800" dirty="0"/>
          </a:p>
        </p:txBody>
      </p:sp>
      <p:sp>
        <p:nvSpPr>
          <p:cNvPr id="23" name="Text 17"/>
          <p:cNvSpPr/>
          <p:nvPr/>
        </p:nvSpPr>
        <p:spPr>
          <a:xfrm>
            <a:off x="14066560" y="5831398"/>
            <a:ext cx="350410" cy="408976"/>
          </a:xfrm>
          <a:prstGeom prst="rect">
            <a:avLst/>
          </a:prstGeom>
          <a:noFill/>
          <a:ln/>
        </p:spPr>
        <p:txBody>
          <a:bodyPr wrap="square" lIns="25400" tIns="25400" rIns="25400" bIns="25400" rtlCol="0" anchor="t">
            <a:normAutofit/>
          </a:bodyPr>
          <a:lstStyle/>
          <a:p>
            <a:pPr marL="0" indent="0" algn="l">
              <a:buNone/>
            </a:pPr>
            <a:r>
              <a:rPr lang="en-US" sz="2400" dirty="0">
                <a:solidFill>
                  <a:srgbClr val="BFA06E"/>
                </a:solidFill>
                <a:latin typeface="Fira Sans" pitchFamily="34" charset="0"/>
                <a:ea typeface="Fira Sans" pitchFamily="34" charset="-122"/>
                <a:cs typeface="Fira Sans" pitchFamily="34" charset="-120"/>
              </a:rPr>
              <a:t>→</a:t>
            </a:r>
            <a:endParaRPr lang="en-US" sz="2400" dirty="0"/>
          </a:p>
        </p:txBody>
      </p:sp>
      <p:sp>
        <p:nvSpPr>
          <p:cNvPr id="24" name="Shape 18"/>
          <p:cNvSpPr/>
          <p:nvPr/>
        </p:nvSpPr>
        <p:spPr>
          <a:xfrm>
            <a:off x="14523594" y="3635619"/>
            <a:ext cx="2773873" cy="4762433"/>
          </a:xfrm>
          <a:prstGeom prst="roundRect">
            <a:avLst>
              <a:gd name="adj" fmla="val 5494"/>
            </a:avLst>
          </a:prstGeom>
          <a:solidFill>
            <a:srgbClr val="FBF8F2"/>
          </a:solidFill>
          <a:ln w="6394">
            <a:solidFill>
              <a:srgbClr val="E9CABF"/>
            </a:solidFill>
            <a:prstDash val="solid"/>
          </a:ln>
          <a:effectLst>
            <a:outerShdw blurRad="228600" dist="57150" dir="5400000" algn="bl" rotWithShape="0">
              <a:srgbClr val="B3402F">
                <a:alpha val="7000"/>
              </a:srgbClr>
            </a:outerShdw>
          </a:effectLst>
        </p:spPr>
        <p:txBody>
          <a:bodyPr/>
          <a:lstStyle/>
          <a:p>
            <a:endParaRPr lang="he-IL"/>
          </a:p>
        </p:txBody>
      </p:sp>
      <p:pic>
        <p:nvPicPr>
          <p:cNvPr id="25"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5510430" y="5163083"/>
            <a:ext cx="800100" cy="800100"/>
          </a:xfrm>
          <a:prstGeom prst="rect">
            <a:avLst/>
          </a:prstGeom>
        </p:spPr>
      </p:pic>
      <p:sp>
        <p:nvSpPr>
          <p:cNvPr id="26" name="Text 19"/>
          <p:cNvSpPr/>
          <p:nvPr/>
        </p:nvSpPr>
        <p:spPr>
          <a:xfrm>
            <a:off x="15114991" y="6144124"/>
            <a:ext cx="1591078" cy="332243"/>
          </a:xfrm>
          <a:prstGeom prst="rect">
            <a:avLst/>
          </a:prstGeom>
          <a:noFill/>
          <a:ln/>
        </p:spPr>
        <p:txBody>
          <a:bodyPr wrap="square" lIns="25400" tIns="25400" rIns="25400" bIns="25400" rtlCol="0" anchor="t">
            <a:normAutofit/>
          </a:bodyPr>
          <a:lstStyle/>
          <a:p>
            <a:pPr marL="0" indent="0" algn="ctr">
              <a:buNone/>
            </a:pPr>
            <a:r>
              <a:rPr lang="en-US" sz="1950" b="1" dirty="0">
                <a:solidFill>
                  <a:srgbClr val="2A2520"/>
                </a:solidFill>
                <a:latin typeface="Fira Sans" pitchFamily="34" charset="0"/>
                <a:ea typeface="Fira Sans" pitchFamily="34" charset="-122"/>
                <a:cs typeface="Fira Sans" pitchFamily="34" charset="-120"/>
              </a:rPr>
              <a:t>Probability p</a:t>
            </a:r>
            <a:endParaRPr lang="en-US" sz="1950" dirty="0"/>
          </a:p>
        </p:txBody>
      </p:sp>
      <p:sp>
        <p:nvSpPr>
          <p:cNvPr id="27" name="Text 20"/>
          <p:cNvSpPr/>
          <p:nvPr/>
        </p:nvSpPr>
        <p:spPr>
          <a:xfrm>
            <a:off x="14852210" y="6590634"/>
            <a:ext cx="2116638" cy="346630"/>
          </a:xfrm>
          <a:prstGeom prst="rect">
            <a:avLst/>
          </a:prstGeom>
          <a:noFill/>
          <a:ln/>
        </p:spPr>
        <p:txBody>
          <a:bodyPr wrap="square" lIns="25400" tIns="25400" rIns="25400" bIns="25400" rtlCol="0" anchor="t">
            <a:normAutofit/>
          </a:bodyPr>
          <a:lstStyle/>
          <a:p>
            <a:pPr marL="0" indent="0" algn="ctr">
              <a:lnSpc>
                <a:spcPct val="135000"/>
              </a:lnSpc>
              <a:buNone/>
            </a:pPr>
            <a:r>
              <a:rPr lang="en-US" sz="1800" dirty="0">
                <a:solidFill>
                  <a:srgbClr val="897F6E"/>
                </a:solidFill>
                <a:latin typeface="Fira Sans" pitchFamily="34" charset="0"/>
                <a:ea typeface="Fira Sans" pitchFamily="34" charset="-122"/>
                <a:cs typeface="Fira Sans" pitchFamily="34" charset="-120"/>
              </a:rPr>
              <a:t>P (the next choice)</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ECE0"/>
        </a:solidFill>
        <a:effectLst/>
      </p:bgPr>
    </p:bg>
    <p:spTree>
      <p:nvGrpSpPr>
        <p:cNvPr id="1" name=""/>
        <p:cNvGrpSpPr/>
        <p:nvPr/>
      </p:nvGrpSpPr>
      <p:grpSpPr>
        <a:xfrm>
          <a:off x="0" y="0"/>
          <a:ext cx="0" cy="0"/>
          <a:chOff x="0" y="0"/>
          <a:chExt cx="0" cy="0"/>
        </a:xfrm>
      </p:grpSpPr>
      <p:sp>
        <p:nvSpPr>
          <p:cNvPr id="2" name="Text 0"/>
          <p:cNvSpPr/>
          <p:nvPr/>
        </p:nvSpPr>
        <p:spPr>
          <a:xfrm>
            <a:off x="990533" y="914400"/>
            <a:ext cx="7648539" cy="325848"/>
          </a:xfrm>
          <a:prstGeom prst="rect">
            <a:avLst/>
          </a:prstGeom>
          <a:noFill/>
          <a:ln/>
        </p:spPr>
        <p:txBody>
          <a:bodyPr wrap="square" lIns="25400" tIns="25400" rIns="25400" bIns="25400" rtlCol="0" anchor="t">
            <a:normAutofit/>
          </a:bodyPr>
          <a:lstStyle/>
          <a:p>
            <a:pPr marL="0" indent="0" algn="l">
              <a:buNone/>
            </a:pPr>
            <a:r>
              <a:rPr lang="en-US" sz="1875" b="1" kern="0" spc="300" dirty="0">
                <a:solidFill>
                  <a:srgbClr val="B3402F"/>
                </a:solidFill>
                <a:latin typeface="Fira Sans" pitchFamily="34" charset="0"/>
                <a:ea typeface="Fira Sans" pitchFamily="34" charset="-122"/>
                <a:cs typeface="Fira Sans" pitchFamily="34" charset="-120"/>
              </a:rPr>
              <a:t>THE MODEL</a:t>
            </a:r>
            <a:endParaRPr lang="en-US" sz="1875" dirty="0"/>
          </a:p>
        </p:txBody>
      </p:sp>
      <p:sp>
        <p:nvSpPr>
          <p:cNvPr id="3" name="Text 1"/>
          <p:cNvSpPr/>
          <p:nvPr/>
        </p:nvSpPr>
        <p:spPr>
          <a:xfrm>
            <a:off x="990533" y="1335432"/>
            <a:ext cx="7161813" cy="1127547"/>
          </a:xfrm>
          <a:prstGeom prst="rect">
            <a:avLst/>
          </a:prstGeom>
          <a:noFill/>
          <a:ln/>
        </p:spPr>
        <p:txBody>
          <a:bodyPr wrap="square" lIns="25400" tIns="25400" rIns="25400" bIns="25400" rtlCol="0" anchor="t">
            <a:normAutofit/>
          </a:bodyPr>
          <a:lstStyle/>
          <a:p>
            <a:pPr marL="0" indent="0" algn="l">
              <a:lnSpc>
                <a:spcPct val="110000"/>
              </a:lnSpc>
              <a:buNone/>
            </a:pPr>
            <a:r>
              <a:rPr lang="en-US" sz="3900" b="1" kern="0" spc="-58" dirty="0">
                <a:solidFill>
                  <a:srgbClr val="2A2520"/>
                </a:solidFill>
                <a:latin typeface="Fira Sans" pitchFamily="34" charset="0"/>
                <a:ea typeface="Fira Sans" pitchFamily="34" charset="-122"/>
                <a:cs typeface="Fira Sans" pitchFamily="34" charset="-120"/>
              </a:rPr>
              <a:t>CATIE won the Choice Engineering Competition</a:t>
            </a:r>
            <a:endParaRPr lang="en-US" sz="3900" dirty="0"/>
          </a:p>
        </p:txBody>
      </p:sp>
      <p:sp>
        <p:nvSpPr>
          <p:cNvPr id="4" name="Text 2"/>
          <p:cNvSpPr/>
          <p:nvPr/>
        </p:nvSpPr>
        <p:spPr>
          <a:xfrm>
            <a:off x="990533" y="4384963"/>
            <a:ext cx="8198937" cy="1074393"/>
          </a:xfrm>
          <a:prstGeom prst="rect">
            <a:avLst/>
          </a:prstGeom>
          <a:noFill/>
          <a:ln/>
        </p:spPr>
        <p:txBody>
          <a:bodyPr wrap="square" lIns="25400" tIns="25400" rIns="25400" bIns="25400" rtlCol="0" anchor="t">
            <a:normAutofit/>
          </a:bodyPr>
          <a:lstStyle/>
          <a:p>
            <a:pPr marL="0" indent="0" algn="l">
              <a:lnSpc>
                <a:spcPct val="85000"/>
              </a:lnSpc>
              <a:buNone/>
            </a:pPr>
            <a:r>
              <a:rPr lang="en-US" sz="9600" b="1" kern="0" spc="-192" dirty="0">
                <a:solidFill>
                  <a:srgbClr val="B3402F"/>
                </a:solidFill>
                <a:latin typeface="Fira Sans" pitchFamily="34" charset="0"/>
                <a:ea typeface="Fira Sans" pitchFamily="34" charset="-122"/>
                <a:cs typeface="Fira Sans" pitchFamily="34" charset="-120"/>
              </a:rPr>
              <a:t>64.3%</a:t>
            </a:r>
            <a:endParaRPr lang="en-US" sz="9600" dirty="0"/>
          </a:p>
        </p:txBody>
      </p:sp>
      <p:sp>
        <p:nvSpPr>
          <p:cNvPr id="5" name="Text 3"/>
          <p:cNvSpPr/>
          <p:nvPr/>
        </p:nvSpPr>
        <p:spPr>
          <a:xfrm>
            <a:off x="990533" y="5573624"/>
            <a:ext cx="3147398" cy="997261"/>
          </a:xfrm>
          <a:prstGeom prst="rect">
            <a:avLst/>
          </a:prstGeom>
          <a:noFill/>
          <a:ln/>
        </p:spPr>
        <p:txBody>
          <a:bodyPr wrap="square" lIns="25400" tIns="25400" rIns="25400" bIns="25400" rtlCol="0" anchor="t">
            <a:normAutofit/>
          </a:bodyPr>
          <a:lstStyle/>
          <a:p>
            <a:pPr marL="0" indent="0" algn="l">
              <a:buNone/>
            </a:pPr>
            <a:r>
              <a:rPr lang="en-US" sz="2100" dirty="0">
                <a:solidFill>
                  <a:srgbClr val="7C7363"/>
                </a:solidFill>
                <a:latin typeface="Fira Sans" pitchFamily="34" charset="0"/>
                <a:ea typeface="Fira Sans" pitchFamily="34" charset="-122"/>
                <a:cs typeface="Fira Sans" pitchFamily="34" charset="-120"/>
              </a:rPr>
              <a:t>choice bias: top of the leaderboard, well above Q-Learning rivals</a:t>
            </a:r>
            <a:endParaRPr lang="en-US" sz="2100" dirty="0"/>
          </a:p>
        </p:txBody>
      </p:sp>
      <p:sp>
        <p:nvSpPr>
          <p:cNvPr id="6" name="Text 4"/>
          <p:cNvSpPr/>
          <p:nvPr/>
        </p:nvSpPr>
        <p:spPr>
          <a:xfrm>
            <a:off x="990533" y="6818534"/>
            <a:ext cx="639307" cy="306665"/>
          </a:xfrm>
          <a:prstGeom prst="rect">
            <a:avLst/>
          </a:prstGeom>
          <a:noFill/>
          <a:ln/>
        </p:spPr>
        <p:txBody>
          <a:bodyPr wrap="square" lIns="25400" tIns="25400" rIns="25400" bIns="25400" rtlCol="0" anchor="t">
            <a:normAutofit/>
          </a:bodyPr>
          <a:lstStyle/>
          <a:p>
            <a:pPr marL="0" indent="0" algn="l">
              <a:buNone/>
            </a:pPr>
            <a:r>
              <a:rPr lang="en-US" sz="1800" b="1" dirty="0">
                <a:solidFill>
                  <a:srgbClr val="B3402F"/>
                </a:solidFill>
                <a:latin typeface="Fira Sans" pitchFamily="34" charset="0"/>
                <a:ea typeface="Fira Sans" pitchFamily="34" charset="-122"/>
                <a:cs typeface="Fira Sans" pitchFamily="34" charset="-120"/>
              </a:rPr>
              <a:t>CATIE</a:t>
            </a:r>
            <a:endParaRPr lang="en-US" sz="1800" dirty="0"/>
          </a:p>
        </p:txBody>
      </p:sp>
      <p:sp>
        <p:nvSpPr>
          <p:cNvPr id="7" name="Text 5"/>
          <p:cNvSpPr/>
          <p:nvPr/>
        </p:nvSpPr>
        <p:spPr>
          <a:xfrm>
            <a:off x="4556613" y="6818534"/>
            <a:ext cx="701053" cy="306665"/>
          </a:xfrm>
          <a:prstGeom prst="rect">
            <a:avLst/>
          </a:prstGeom>
          <a:noFill/>
          <a:ln/>
        </p:spPr>
        <p:txBody>
          <a:bodyPr wrap="square" lIns="25400" tIns="25400" rIns="25400" bIns="25400" rtlCol="0" anchor="t">
            <a:normAutofit/>
          </a:bodyPr>
          <a:lstStyle/>
          <a:p>
            <a:pPr marL="0" indent="0" algn="l">
              <a:buNone/>
            </a:pPr>
            <a:r>
              <a:rPr lang="en-US" sz="1800" b="1" dirty="0">
                <a:solidFill>
                  <a:srgbClr val="B3402F"/>
                </a:solidFill>
                <a:latin typeface="Fira Sans" pitchFamily="34" charset="0"/>
                <a:ea typeface="Fira Sans" pitchFamily="34" charset="-122"/>
                <a:cs typeface="Fira Sans" pitchFamily="34" charset="-120"/>
              </a:rPr>
              <a:t>64.3%</a:t>
            </a:r>
            <a:endParaRPr lang="en-US" sz="1800" dirty="0"/>
          </a:p>
        </p:txBody>
      </p:sp>
      <p:sp>
        <p:nvSpPr>
          <p:cNvPr id="8" name="Shape 6"/>
          <p:cNvSpPr/>
          <p:nvPr/>
        </p:nvSpPr>
        <p:spPr>
          <a:xfrm>
            <a:off x="990533" y="7163233"/>
            <a:ext cx="4190933" cy="247583"/>
          </a:xfrm>
          <a:prstGeom prst="roundRect">
            <a:avLst>
              <a:gd name="adj" fmla="val 23083"/>
            </a:avLst>
          </a:prstGeom>
          <a:solidFill>
            <a:srgbClr val="E7DECD"/>
          </a:solidFill>
          <a:ln/>
        </p:spPr>
        <p:txBody>
          <a:bodyPr/>
          <a:lstStyle/>
          <a:p>
            <a:endParaRPr lang="he-IL"/>
          </a:p>
        </p:txBody>
      </p:sp>
      <p:sp>
        <p:nvSpPr>
          <p:cNvPr id="9" name="Shape 7"/>
          <p:cNvSpPr/>
          <p:nvPr/>
        </p:nvSpPr>
        <p:spPr>
          <a:xfrm>
            <a:off x="990533" y="7163233"/>
            <a:ext cx="3855627" cy="247583"/>
          </a:xfrm>
          <a:prstGeom prst="roundRect">
            <a:avLst>
              <a:gd name="adj" fmla="val 23083"/>
            </a:avLst>
          </a:prstGeom>
          <a:solidFill>
            <a:srgbClr val="B3402F"/>
          </a:solidFill>
          <a:ln/>
        </p:spPr>
        <p:txBody>
          <a:bodyPr/>
          <a:lstStyle/>
          <a:p>
            <a:endParaRPr lang="he-IL"/>
          </a:p>
        </p:txBody>
      </p:sp>
      <p:sp>
        <p:nvSpPr>
          <p:cNvPr id="10" name="Text 8"/>
          <p:cNvSpPr/>
          <p:nvPr/>
        </p:nvSpPr>
        <p:spPr>
          <a:xfrm>
            <a:off x="990533" y="7563183"/>
            <a:ext cx="2256106" cy="306665"/>
          </a:xfrm>
          <a:prstGeom prst="rect">
            <a:avLst/>
          </a:prstGeom>
          <a:noFill/>
          <a:ln/>
        </p:spPr>
        <p:txBody>
          <a:bodyPr wrap="square" lIns="25400" tIns="25400" rIns="25400" bIns="25400" rtlCol="0" anchor="t">
            <a:normAutofit/>
          </a:bodyPr>
          <a:lstStyle/>
          <a:p>
            <a:pPr marL="0" indent="0" algn="l">
              <a:buNone/>
            </a:pPr>
            <a:r>
              <a:rPr lang="en-US" sz="1800" dirty="0">
                <a:solidFill>
                  <a:srgbClr val="897F6E"/>
                </a:solidFill>
                <a:latin typeface="Fira Sans" pitchFamily="34" charset="0"/>
                <a:ea typeface="Fira Sans" pitchFamily="34" charset="-122"/>
                <a:cs typeface="Fira Sans" pitchFamily="34" charset="-120"/>
              </a:rPr>
              <a:t>Q-Learning variants</a:t>
            </a:r>
            <a:endParaRPr lang="en-US" sz="1800" dirty="0"/>
          </a:p>
        </p:txBody>
      </p:sp>
      <p:sp>
        <p:nvSpPr>
          <p:cNvPr id="11" name="Text 9"/>
          <p:cNvSpPr/>
          <p:nvPr/>
        </p:nvSpPr>
        <p:spPr>
          <a:xfrm>
            <a:off x="4335407" y="7563183"/>
            <a:ext cx="922260" cy="306665"/>
          </a:xfrm>
          <a:prstGeom prst="rect">
            <a:avLst/>
          </a:prstGeom>
          <a:noFill/>
          <a:ln/>
        </p:spPr>
        <p:txBody>
          <a:bodyPr wrap="square" lIns="25400" tIns="25400" rIns="25400" bIns="25400" rtlCol="0" anchor="t">
            <a:normAutofit/>
          </a:bodyPr>
          <a:lstStyle/>
          <a:p>
            <a:pPr marL="0" indent="0" algn="l">
              <a:buNone/>
            </a:pPr>
            <a:r>
              <a:rPr lang="en-US" sz="1800" dirty="0">
                <a:solidFill>
                  <a:srgbClr val="A99E89"/>
                </a:solidFill>
                <a:latin typeface="Fira Sans" pitchFamily="34" charset="0"/>
                <a:ea typeface="Fira Sans" pitchFamily="34" charset="-122"/>
                <a:cs typeface="Fira Sans" pitchFamily="34" charset="-120"/>
              </a:rPr>
              <a:t>↓ lower</a:t>
            </a:r>
            <a:endParaRPr lang="en-US" sz="1800" dirty="0"/>
          </a:p>
        </p:txBody>
      </p:sp>
      <p:sp>
        <p:nvSpPr>
          <p:cNvPr id="12" name="Shape 10"/>
          <p:cNvSpPr/>
          <p:nvPr/>
        </p:nvSpPr>
        <p:spPr>
          <a:xfrm>
            <a:off x="990533" y="7907881"/>
            <a:ext cx="4190933" cy="247583"/>
          </a:xfrm>
          <a:prstGeom prst="roundRect">
            <a:avLst>
              <a:gd name="adj" fmla="val 23083"/>
            </a:avLst>
          </a:prstGeom>
          <a:solidFill>
            <a:srgbClr val="E7DECD"/>
          </a:solidFill>
          <a:ln/>
        </p:spPr>
        <p:txBody>
          <a:bodyPr/>
          <a:lstStyle/>
          <a:p>
            <a:endParaRPr lang="he-IL"/>
          </a:p>
        </p:txBody>
      </p:sp>
      <p:sp>
        <p:nvSpPr>
          <p:cNvPr id="13" name="Shape 11"/>
          <p:cNvSpPr/>
          <p:nvPr/>
        </p:nvSpPr>
        <p:spPr>
          <a:xfrm>
            <a:off x="990533" y="7907881"/>
            <a:ext cx="2304983" cy="247583"/>
          </a:xfrm>
          <a:prstGeom prst="roundRect">
            <a:avLst>
              <a:gd name="adj" fmla="val 23083"/>
            </a:avLst>
          </a:prstGeom>
          <a:solidFill>
            <a:srgbClr val="C3B9A6"/>
          </a:solidFill>
          <a:ln/>
        </p:spPr>
        <p:txBody>
          <a:bodyPr/>
          <a:lstStyle/>
          <a:p>
            <a:endParaRPr lang="he-IL"/>
          </a:p>
        </p:txBody>
      </p:sp>
      <p:sp>
        <p:nvSpPr>
          <p:cNvPr id="14" name="Text 12"/>
          <p:cNvSpPr/>
          <p:nvPr/>
        </p:nvSpPr>
        <p:spPr>
          <a:xfrm>
            <a:off x="9015612" y="4974548"/>
            <a:ext cx="9110040" cy="351426"/>
          </a:xfrm>
          <a:prstGeom prst="rect">
            <a:avLst/>
          </a:prstGeom>
          <a:noFill/>
          <a:ln/>
        </p:spPr>
        <p:txBody>
          <a:bodyPr wrap="square" lIns="25400" tIns="25400" rIns="25400" bIns="25400" rtlCol="0" anchor="t">
            <a:normAutofit/>
          </a:bodyPr>
          <a:lstStyle/>
          <a:p>
            <a:pPr marL="0" indent="0" algn="l">
              <a:buNone/>
            </a:pPr>
            <a:r>
              <a:rPr lang="en-US" sz="2025" b="1" dirty="0">
                <a:solidFill>
                  <a:srgbClr val="2A2520"/>
                </a:solidFill>
                <a:latin typeface="Fira Sans" pitchFamily="34" charset="0"/>
                <a:ea typeface="Fira Sans" pitchFamily="34" charset="-122"/>
                <a:cs typeface="Fira Sans" pitchFamily="34" charset="-120"/>
              </a:rPr>
              <a:t>Four mechanisms, working together</a:t>
            </a:r>
            <a:endParaRPr lang="en-US" sz="2025" dirty="0"/>
          </a:p>
        </p:txBody>
      </p:sp>
      <p:sp>
        <p:nvSpPr>
          <p:cNvPr id="15" name="Shape 13"/>
          <p:cNvSpPr/>
          <p:nvPr/>
        </p:nvSpPr>
        <p:spPr>
          <a:xfrm>
            <a:off x="9015612" y="5459324"/>
            <a:ext cx="4074235" cy="643437"/>
          </a:xfrm>
          <a:prstGeom prst="roundRect">
            <a:avLst>
              <a:gd name="adj" fmla="val 17764"/>
            </a:avLst>
          </a:prstGeom>
          <a:solidFill>
            <a:srgbClr val="FBF8F2"/>
          </a:solidFill>
          <a:ln w="6394">
            <a:solidFill>
              <a:srgbClr val="E4DBC9"/>
            </a:solidFill>
            <a:prstDash val="solid"/>
          </a:ln>
        </p:spPr>
        <p:txBody>
          <a:bodyPr/>
          <a:lstStyle/>
          <a:p>
            <a:endParaRPr lang="he-IL"/>
          </a:p>
        </p:txBody>
      </p:sp>
      <p:sp>
        <p:nvSpPr>
          <p:cNvPr id="16" name="Text 14"/>
          <p:cNvSpPr/>
          <p:nvPr/>
        </p:nvSpPr>
        <p:spPr>
          <a:xfrm>
            <a:off x="9231557" y="5637168"/>
            <a:ext cx="3764574" cy="325848"/>
          </a:xfrm>
          <a:prstGeom prst="rect">
            <a:avLst/>
          </a:prstGeom>
          <a:noFill/>
          <a:ln/>
        </p:spPr>
        <p:txBody>
          <a:bodyPr wrap="square" lIns="25400" tIns="25400" rIns="25400" bIns="25400" rtlCol="0" anchor="t">
            <a:normAutofit/>
          </a:bodyPr>
          <a:lstStyle/>
          <a:p>
            <a:pPr marL="0" indent="0" algn="l">
              <a:buNone/>
            </a:pPr>
            <a:r>
              <a:rPr lang="en-US" sz="1875" dirty="0">
                <a:solidFill>
                  <a:srgbClr val="3F3A32"/>
                </a:solidFill>
                <a:latin typeface="Fira Sans" pitchFamily="34" charset="0"/>
                <a:ea typeface="Fira Sans" pitchFamily="34" charset="-122"/>
                <a:cs typeface="Fira Sans" pitchFamily="34" charset="-120"/>
              </a:rPr>
              <a:t>Cumulative average</a:t>
            </a:r>
            <a:endParaRPr lang="en-US" sz="1875" dirty="0"/>
          </a:p>
        </p:txBody>
      </p:sp>
      <p:sp>
        <p:nvSpPr>
          <p:cNvPr id="17" name="Shape 15"/>
          <p:cNvSpPr/>
          <p:nvPr/>
        </p:nvSpPr>
        <p:spPr>
          <a:xfrm>
            <a:off x="13223131" y="5459324"/>
            <a:ext cx="4074335" cy="643437"/>
          </a:xfrm>
          <a:prstGeom prst="roundRect">
            <a:avLst>
              <a:gd name="adj" fmla="val 17764"/>
            </a:avLst>
          </a:prstGeom>
          <a:solidFill>
            <a:srgbClr val="FBF8F2"/>
          </a:solidFill>
          <a:ln w="6394">
            <a:solidFill>
              <a:srgbClr val="E4DBC9"/>
            </a:solidFill>
            <a:prstDash val="solid"/>
          </a:ln>
        </p:spPr>
        <p:txBody>
          <a:bodyPr/>
          <a:lstStyle/>
          <a:p>
            <a:endParaRPr lang="he-IL"/>
          </a:p>
        </p:txBody>
      </p:sp>
      <p:sp>
        <p:nvSpPr>
          <p:cNvPr id="18" name="Text 16"/>
          <p:cNvSpPr/>
          <p:nvPr/>
        </p:nvSpPr>
        <p:spPr>
          <a:xfrm>
            <a:off x="13439076" y="5637168"/>
            <a:ext cx="3764677" cy="325848"/>
          </a:xfrm>
          <a:prstGeom prst="rect">
            <a:avLst/>
          </a:prstGeom>
          <a:noFill/>
          <a:ln/>
        </p:spPr>
        <p:txBody>
          <a:bodyPr wrap="square" lIns="25400" tIns="25400" rIns="25400" bIns="25400" rtlCol="0" anchor="t">
            <a:normAutofit/>
          </a:bodyPr>
          <a:lstStyle/>
          <a:p>
            <a:pPr marL="0" indent="0" algn="l">
              <a:buNone/>
            </a:pPr>
            <a:r>
              <a:rPr lang="en-US" sz="1875" dirty="0">
                <a:solidFill>
                  <a:srgbClr val="3F3A32"/>
                </a:solidFill>
                <a:latin typeface="Fira Sans" pitchFamily="34" charset="0"/>
                <a:ea typeface="Fira Sans" pitchFamily="34" charset="-122"/>
                <a:cs typeface="Fira Sans" pitchFamily="34" charset="-120"/>
              </a:rPr>
              <a:t>Trend</a:t>
            </a:r>
            <a:endParaRPr lang="en-US" sz="1875" dirty="0"/>
          </a:p>
        </p:txBody>
      </p:sp>
      <p:sp>
        <p:nvSpPr>
          <p:cNvPr id="19" name="Shape 17"/>
          <p:cNvSpPr/>
          <p:nvPr/>
        </p:nvSpPr>
        <p:spPr>
          <a:xfrm>
            <a:off x="9015612" y="6236044"/>
            <a:ext cx="4074235" cy="643437"/>
          </a:xfrm>
          <a:prstGeom prst="roundRect">
            <a:avLst>
              <a:gd name="adj" fmla="val 17764"/>
            </a:avLst>
          </a:prstGeom>
          <a:solidFill>
            <a:srgbClr val="FBF8F2"/>
          </a:solidFill>
          <a:ln w="6394">
            <a:solidFill>
              <a:srgbClr val="E4DBC9"/>
            </a:solidFill>
            <a:prstDash val="solid"/>
          </a:ln>
        </p:spPr>
        <p:txBody>
          <a:bodyPr/>
          <a:lstStyle/>
          <a:p>
            <a:endParaRPr lang="he-IL"/>
          </a:p>
        </p:txBody>
      </p:sp>
      <p:sp>
        <p:nvSpPr>
          <p:cNvPr id="20" name="Text 18"/>
          <p:cNvSpPr/>
          <p:nvPr/>
        </p:nvSpPr>
        <p:spPr>
          <a:xfrm>
            <a:off x="9231557" y="6413889"/>
            <a:ext cx="3764574" cy="325848"/>
          </a:xfrm>
          <a:prstGeom prst="rect">
            <a:avLst/>
          </a:prstGeom>
          <a:noFill/>
          <a:ln/>
        </p:spPr>
        <p:txBody>
          <a:bodyPr wrap="square" lIns="25400" tIns="25400" rIns="25400" bIns="25400" rtlCol="0" anchor="t">
            <a:normAutofit/>
          </a:bodyPr>
          <a:lstStyle/>
          <a:p>
            <a:pPr marL="0" indent="0" algn="l">
              <a:buNone/>
            </a:pPr>
            <a:r>
              <a:rPr lang="en-US" sz="1875" dirty="0">
                <a:solidFill>
                  <a:srgbClr val="3F3A32"/>
                </a:solidFill>
                <a:latin typeface="Fira Sans" pitchFamily="34" charset="0"/>
                <a:ea typeface="Fira Sans" pitchFamily="34" charset="-122"/>
                <a:cs typeface="Fira Sans" pitchFamily="34" charset="-120"/>
              </a:rPr>
              <a:t>Inertia</a:t>
            </a:r>
            <a:endParaRPr lang="en-US" sz="1875" dirty="0"/>
          </a:p>
        </p:txBody>
      </p:sp>
      <p:sp>
        <p:nvSpPr>
          <p:cNvPr id="21" name="Shape 19"/>
          <p:cNvSpPr/>
          <p:nvPr/>
        </p:nvSpPr>
        <p:spPr>
          <a:xfrm>
            <a:off x="13223131" y="6236044"/>
            <a:ext cx="4074335" cy="643437"/>
          </a:xfrm>
          <a:prstGeom prst="roundRect">
            <a:avLst>
              <a:gd name="adj" fmla="val 17764"/>
            </a:avLst>
          </a:prstGeom>
          <a:solidFill>
            <a:srgbClr val="FBF8F2"/>
          </a:solidFill>
          <a:ln w="6394">
            <a:solidFill>
              <a:srgbClr val="E4DBC9"/>
            </a:solidFill>
            <a:prstDash val="solid"/>
          </a:ln>
        </p:spPr>
        <p:txBody>
          <a:bodyPr/>
          <a:lstStyle/>
          <a:p>
            <a:endParaRPr lang="he-IL"/>
          </a:p>
        </p:txBody>
      </p:sp>
      <p:sp>
        <p:nvSpPr>
          <p:cNvPr id="22" name="Text 20"/>
          <p:cNvSpPr/>
          <p:nvPr/>
        </p:nvSpPr>
        <p:spPr>
          <a:xfrm>
            <a:off x="13439076" y="6413889"/>
            <a:ext cx="3764677" cy="325848"/>
          </a:xfrm>
          <a:prstGeom prst="rect">
            <a:avLst/>
          </a:prstGeom>
          <a:noFill/>
          <a:ln/>
        </p:spPr>
        <p:txBody>
          <a:bodyPr wrap="square" lIns="25400" tIns="25400" rIns="25400" bIns="25400" rtlCol="0" anchor="t">
            <a:normAutofit/>
          </a:bodyPr>
          <a:lstStyle/>
          <a:p>
            <a:pPr marL="0" indent="0" algn="l">
              <a:buNone/>
            </a:pPr>
            <a:r>
              <a:rPr lang="en-US" sz="1875" dirty="0">
                <a:solidFill>
                  <a:srgbClr val="3F3A32"/>
                </a:solidFill>
                <a:latin typeface="Fira Sans" pitchFamily="34" charset="0"/>
                <a:ea typeface="Fira Sans" pitchFamily="34" charset="-122"/>
                <a:cs typeface="Fira Sans" pitchFamily="34" charset="-120"/>
              </a:rPr>
              <a:t>Exploration</a:t>
            </a:r>
            <a:endParaRPr lang="en-US" sz="1875" dirty="0"/>
          </a:p>
        </p:txBody>
      </p:sp>
      <p:sp>
        <p:nvSpPr>
          <p:cNvPr id="23" name="Shape 21"/>
          <p:cNvSpPr/>
          <p:nvPr/>
        </p:nvSpPr>
        <p:spPr>
          <a:xfrm>
            <a:off x="9015612" y="7165231"/>
            <a:ext cx="25578" cy="400550"/>
          </a:xfrm>
          <a:prstGeom prst="rect">
            <a:avLst/>
          </a:prstGeom>
          <a:solidFill>
            <a:srgbClr val="2F6B7A"/>
          </a:solidFill>
          <a:ln/>
        </p:spPr>
        <p:txBody>
          <a:bodyPr/>
          <a:lstStyle/>
          <a:p>
            <a:endParaRPr lang="he-IL"/>
          </a:p>
        </p:txBody>
      </p:sp>
      <p:sp>
        <p:nvSpPr>
          <p:cNvPr id="24" name="Text 22"/>
          <p:cNvSpPr/>
          <p:nvPr/>
        </p:nvSpPr>
        <p:spPr>
          <a:xfrm>
            <a:off x="9250740" y="7165231"/>
            <a:ext cx="8874912" cy="438650"/>
          </a:xfrm>
          <a:prstGeom prst="rect">
            <a:avLst/>
          </a:prstGeom>
          <a:noFill/>
          <a:ln/>
        </p:spPr>
        <p:txBody>
          <a:bodyPr wrap="square" lIns="25400" tIns="25400" rIns="25400" bIns="25400" rtlCol="0" anchor="t">
            <a:normAutofit/>
          </a:bodyPr>
          <a:lstStyle/>
          <a:p>
            <a:pPr marL="0" indent="0" algn="l">
              <a:lnSpc>
                <a:spcPct val="145000"/>
              </a:lnSpc>
              <a:buNone/>
            </a:pPr>
            <a:r>
              <a:rPr lang="en-US" sz="2175" dirty="0">
                <a:solidFill>
                  <a:srgbClr val="2A2520"/>
                </a:solidFill>
                <a:latin typeface="Fira Sans" pitchFamily="34" charset="0"/>
                <a:ea typeface="Fira Sans" pitchFamily="34" charset="-122"/>
                <a:cs typeface="Fira Sans" pitchFamily="34" charset="-120"/>
              </a:rPr>
              <a:t>CATIE doesn’t emit a </a:t>
            </a:r>
            <a:r>
              <a:rPr lang="en-US" sz="2175" i="1" dirty="0">
                <a:solidFill>
                  <a:srgbClr val="2A2520"/>
                </a:solidFill>
                <a:latin typeface="Fira Sans" pitchFamily="34" charset="0"/>
                <a:ea typeface="Fira Sans" pitchFamily="34" charset="-122"/>
                <a:cs typeface="Fira Sans" pitchFamily="34" charset="-120"/>
              </a:rPr>
              <a:t>choice </a:t>
            </a:r>
            <a:r>
              <a:rPr lang="en-US" sz="2175" dirty="0">
                <a:solidFill>
                  <a:srgbClr val="2A2520"/>
                </a:solidFill>
                <a:latin typeface="Fira Sans" pitchFamily="34" charset="0"/>
                <a:ea typeface="Fira Sans" pitchFamily="34" charset="-122"/>
                <a:cs typeface="Fira Sans" pitchFamily="34" charset="-120"/>
              </a:rPr>
              <a:t>it emits a </a:t>
            </a:r>
            <a:r>
              <a:rPr lang="en-US" sz="2175" b="1" dirty="0">
                <a:solidFill>
                  <a:srgbClr val="2A2520"/>
                </a:solidFill>
                <a:latin typeface="Fira Sans" pitchFamily="34" charset="0"/>
                <a:ea typeface="Fira Sans" pitchFamily="34" charset="-122"/>
                <a:cs typeface="Fira Sans" pitchFamily="34" charset="-120"/>
              </a:rPr>
              <a:t>probability p</a:t>
            </a:r>
            <a:endParaRPr lang="en-US" sz="217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ECE0"/>
        </a:solidFill>
        <a:effectLst/>
      </p:bgPr>
    </p:bg>
    <p:spTree>
      <p:nvGrpSpPr>
        <p:cNvPr id="1" name=""/>
        <p:cNvGrpSpPr/>
        <p:nvPr/>
      </p:nvGrpSpPr>
      <p:grpSpPr>
        <a:xfrm>
          <a:off x="0" y="0"/>
          <a:ext cx="0" cy="0"/>
          <a:chOff x="0" y="0"/>
          <a:chExt cx="0" cy="0"/>
        </a:xfrm>
      </p:grpSpPr>
      <p:sp>
        <p:nvSpPr>
          <p:cNvPr id="2" name="Text 0"/>
          <p:cNvSpPr/>
          <p:nvPr/>
        </p:nvSpPr>
        <p:spPr>
          <a:xfrm>
            <a:off x="990533" y="914400"/>
            <a:ext cx="17937626" cy="325848"/>
          </a:xfrm>
          <a:prstGeom prst="rect">
            <a:avLst/>
          </a:prstGeom>
          <a:noFill/>
          <a:ln/>
        </p:spPr>
        <p:txBody>
          <a:bodyPr wrap="square" lIns="25400" tIns="25400" rIns="25400" bIns="25400" rtlCol="0" anchor="t">
            <a:normAutofit/>
          </a:bodyPr>
          <a:lstStyle/>
          <a:p>
            <a:pPr marL="0" indent="0" algn="l">
              <a:buNone/>
            </a:pPr>
            <a:r>
              <a:rPr lang="en-US" sz="1875" b="1" kern="0" spc="300" dirty="0">
                <a:solidFill>
                  <a:srgbClr val="B3402F"/>
                </a:solidFill>
                <a:latin typeface="Fira Sans" pitchFamily="34" charset="0"/>
                <a:ea typeface="Fira Sans" pitchFamily="34" charset="-122"/>
                <a:cs typeface="Fira Sans" pitchFamily="34" charset="-120"/>
              </a:rPr>
              <a:t>THE MODEL</a:t>
            </a:r>
            <a:endParaRPr lang="en-US" sz="1875" dirty="0"/>
          </a:p>
        </p:txBody>
      </p:sp>
      <p:sp>
        <p:nvSpPr>
          <p:cNvPr id="3" name="Text 1"/>
          <p:cNvSpPr/>
          <p:nvPr/>
        </p:nvSpPr>
        <p:spPr>
          <a:xfrm>
            <a:off x="990533" y="1335432"/>
            <a:ext cx="17937626" cy="582823"/>
          </a:xfrm>
          <a:prstGeom prst="rect">
            <a:avLst/>
          </a:prstGeom>
          <a:noFill/>
          <a:ln/>
        </p:spPr>
        <p:txBody>
          <a:bodyPr wrap="square" lIns="25400" tIns="25400" rIns="25400" bIns="25400" rtlCol="0" anchor="t">
            <a:normAutofit/>
          </a:bodyPr>
          <a:lstStyle/>
          <a:p>
            <a:pPr marL="0" indent="0" algn="l">
              <a:lnSpc>
                <a:spcPct val="110000"/>
              </a:lnSpc>
              <a:buNone/>
            </a:pPr>
            <a:r>
              <a:rPr lang="en-US" sz="3900" b="1" kern="0" spc="-58" dirty="0">
                <a:solidFill>
                  <a:srgbClr val="2A2520"/>
                </a:solidFill>
                <a:latin typeface="Fira Sans" pitchFamily="34" charset="0"/>
                <a:ea typeface="Fira Sans" pitchFamily="34" charset="-122"/>
                <a:cs typeface="Fira Sans" pitchFamily="34" charset="-120"/>
              </a:rPr>
              <a:t>The four mechanisms of CATIE</a:t>
            </a:r>
            <a:endParaRPr lang="en-US" sz="3900" dirty="0"/>
          </a:p>
        </p:txBody>
      </p:sp>
      <p:sp>
        <p:nvSpPr>
          <p:cNvPr id="4" name="Shape 2"/>
          <p:cNvSpPr/>
          <p:nvPr/>
        </p:nvSpPr>
        <p:spPr>
          <a:xfrm>
            <a:off x="990533" y="2261122"/>
            <a:ext cx="2590034" cy="529137"/>
          </a:xfrm>
          <a:prstGeom prst="roundRect">
            <a:avLst>
              <a:gd name="adj" fmla="val 50000"/>
            </a:avLst>
          </a:prstGeom>
          <a:solidFill>
            <a:srgbClr val="B3402F"/>
          </a:solidFill>
          <a:ln w="6394">
            <a:solidFill>
              <a:srgbClr val="B3402F"/>
            </a:solidFill>
            <a:prstDash val="solid"/>
          </a:ln>
        </p:spPr>
        <p:txBody>
          <a:bodyPr/>
          <a:lstStyle/>
          <a:p>
            <a:endParaRPr lang="he-IL"/>
          </a:p>
        </p:txBody>
      </p:sp>
      <p:sp>
        <p:nvSpPr>
          <p:cNvPr id="5" name="Text 3"/>
          <p:cNvSpPr/>
          <p:nvPr/>
        </p:nvSpPr>
        <p:spPr>
          <a:xfrm>
            <a:off x="1225528" y="2381816"/>
            <a:ext cx="2197746" cy="325848"/>
          </a:xfrm>
          <a:prstGeom prst="rect">
            <a:avLst/>
          </a:prstGeom>
          <a:noFill/>
          <a:ln/>
        </p:spPr>
        <p:txBody>
          <a:bodyPr wrap="none" lIns="25400" tIns="25400" rIns="25400" bIns="25400" rtlCol="0" anchor="t">
            <a:normAutofit/>
          </a:bodyPr>
          <a:lstStyle/>
          <a:p>
            <a:pPr marL="0" indent="0" algn="l">
              <a:buNone/>
            </a:pPr>
            <a:r>
              <a:rPr lang="en-US" sz="1875" b="1" dirty="0">
                <a:solidFill>
                  <a:srgbClr val="FFFFFF"/>
                </a:solidFill>
                <a:latin typeface="Fira Sans" pitchFamily="34" charset="0"/>
                <a:ea typeface="Fira Sans" pitchFamily="34" charset="-122"/>
                <a:cs typeface="Fira Sans" pitchFamily="34" charset="-120"/>
              </a:rPr>
              <a:t>Cumulative average</a:t>
            </a:r>
            <a:endParaRPr lang="en-US" sz="1875" dirty="0"/>
          </a:p>
        </p:txBody>
      </p:sp>
      <p:sp>
        <p:nvSpPr>
          <p:cNvPr id="6" name="Shape 4"/>
          <p:cNvSpPr/>
          <p:nvPr/>
        </p:nvSpPr>
        <p:spPr>
          <a:xfrm>
            <a:off x="3713851" y="2261122"/>
            <a:ext cx="1089047" cy="529137"/>
          </a:xfrm>
          <a:prstGeom prst="roundRect">
            <a:avLst>
              <a:gd name="adj" fmla="val 50000"/>
            </a:avLst>
          </a:prstGeom>
          <a:solidFill>
            <a:srgbClr val="FBF8F2"/>
          </a:solidFill>
          <a:ln w="6394">
            <a:solidFill>
              <a:srgbClr val="E4DBC9"/>
            </a:solidFill>
            <a:prstDash val="solid"/>
          </a:ln>
        </p:spPr>
        <p:txBody>
          <a:bodyPr/>
          <a:lstStyle/>
          <a:p>
            <a:endParaRPr lang="he-IL"/>
          </a:p>
        </p:txBody>
      </p:sp>
      <p:sp>
        <p:nvSpPr>
          <p:cNvPr id="7" name="Text 5"/>
          <p:cNvSpPr/>
          <p:nvPr/>
        </p:nvSpPr>
        <p:spPr>
          <a:xfrm>
            <a:off x="3948845" y="2381816"/>
            <a:ext cx="695258" cy="325848"/>
          </a:xfrm>
          <a:prstGeom prst="rect">
            <a:avLst/>
          </a:prstGeom>
          <a:noFill/>
          <a:ln/>
        </p:spPr>
        <p:txBody>
          <a:bodyPr wrap="none" lIns="25400" tIns="25400" rIns="25400" bIns="25400" rtlCol="0" anchor="t">
            <a:normAutofit/>
          </a:bodyPr>
          <a:lstStyle/>
          <a:p>
            <a:pPr marL="0" indent="0" algn="l">
              <a:buNone/>
            </a:pPr>
            <a:r>
              <a:rPr lang="en-US" sz="1875" b="1" dirty="0">
                <a:solidFill>
                  <a:srgbClr val="897F6E"/>
                </a:solidFill>
                <a:latin typeface="Fira Sans" pitchFamily="34" charset="0"/>
                <a:ea typeface="Fira Sans" pitchFamily="34" charset="-122"/>
                <a:cs typeface="Fira Sans" pitchFamily="34" charset="-120"/>
              </a:rPr>
              <a:t>Trend</a:t>
            </a:r>
            <a:endParaRPr lang="en-US" sz="1875" dirty="0"/>
          </a:p>
        </p:txBody>
      </p:sp>
      <p:sp>
        <p:nvSpPr>
          <p:cNvPr id="8" name="Shape 6"/>
          <p:cNvSpPr/>
          <p:nvPr/>
        </p:nvSpPr>
        <p:spPr>
          <a:xfrm>
            <a:off x="4936181" y="2261122"/>
            <a:ext cx="1191358" cy="529137"/>
          </a:xfrm>
          <a:prstGeom prst="roundRect">
            <a:avLst>
              <a:gd name="adj" fmla="val 50000"/>
            </a:avLst>
          </a:prstGeom>
          <a:solidFill>
            <a:srgbClr val="FBF8F2"/>
          </a:solidFill>
          <a:ln w="6394">
            <a:solidFill>
              <a:srgbClr val="E4DBC9"/>
            </a:solidFill>
            <a:prstDash val="solid"/>
          </a:ln>
        </p:spPr>
        <p:txBody>
          <a:bodyPr/>
          <a:lstStyle/>
          <a:p>
            <a:endParaRPr lang="he-IL"/>
          </a:p>
        </p:txBody>
      </p:sp>
      <p:sp>
        <p:nvSpPr>
          <p:cNvPr id="9" name="Text 7"/>
          <p:cNvSpPr/>
          <p:nvPr/>
        </p:nvSpPr>
        <p:spPr>
          <a:xfrm>
            <a:off x="5171176" y="2381816"/>
            <a:ext cx="797569" cy="325848"/>
          </a:xfrm>
          <a:prstGeom prst="rect">
            <a:avLst/>
          </a:prstGeom>
          <a:noFill/>
          <a:ln/>
        </p:spPr>
        <p:txBody>
          <a:bodyPr wrap="none" lIns="25400" tIns="25400" rIns="25400" bIns="25400" rtlCol="0" anchor="t">
            <a:normAutofit/>
          </a:bodyPr>
          <a:lstStyle/>
          <a:p>
            <a:pPr marL="0" indent="0" algn="l">
              <a:buNone/>
            </a:pPr>
            <a:r>
              <a:rPr lang="en-US" sz="1875" b="1" dirty="0">
                <a:solidFill>
                  <a:srgbClr val="897F6E"/>
                </a:solidFill>
                <a:latin typeface="Fira Sans" pitchFamily="34" charset="0"/>
                <a:ea typeface="Fira Sans" pitchFamily="34" charset="-122"/>
                <a:cs typeface="Fira Sans" pitchFamily="34" charset="-120"/>
              </a:rPr>
              <a:t>Inertia</a:t>
            </a:r>
            <a:endParaRPr lang="en-US" sz="1875" dirty="0"/>
          </a:p>
        </p:txBody>
      </p:sp>
      <p:sp>
        <p:nvSpPr>
          <p:cNvPr id="10" name="Shape 8"/>
          <p:cNvSpPr/>
          <p:nvPr/>
        </p:nvSpPr>
        <p:spPr>
          <a:xfrm>
            <a:off x="6260822" y="2261122"/>
            <a:ext cx="1716998" cy="529137"/>
          </a:xfrm>
          <a:prstGeom prst="roundRect">
            <a:avLst>
              <a:gd name="adj" fmla="val 50000"/>
            </a:avLst>
          </a:prstGeom>
          <a:solidFill>
            <a:srgbClr val="FBF8F2"/>
          </a:solidFill>
          <a:ln w="6394">
            <a:solidFill>
              <a:srgbClr val="E4DBC9"/>
            </a:solidFill>
            <a:prstDash val="solid"/>
          </a:ln>
        </p:spPr>
        <p:txBody>
          <a:bodyPr/>
          <a:lstStyle/>
          <a:p>
            <a:endParaRPr lang="he-IL"/>
          </a:p>
        </p:txBody>
      </p:sp>
      <p:sp>
        <p:nvSpPr>
          <p:cNvPr id="11" name="Text 9"/>
          <p:cNvSpPr/>
          <p:nvPr/>
        </p:nvSpPr>
        <p:spPr>
          <a:xfrm>
            <a:off x="6495817" y="2381816"/>
            <a:ext cx="1323209" cy="325848"/>
          </a:xfrm>
          <a:prstGeom prst="rect">
            <a:avLst/>
          </a:prstGeom>
          <a:noFill/>
          <a:ln/>
        </p:spPr>
        <p:txBody>
          <a:bodyPr wrap="none" lIns="25400" tIns="25400" rIns="25400" bIns="25400" rtlCol="0" anchor="t">
            <a:normAutofit/>
          </a:bodyPr>
          <a:lstStyle/>
          <a:p>
            <a:pPr marL="0" indent="0" algn="l">
              <a:buNone/>
            </a:pPr>
            <a:r>
              <a:rPr lang="en-US" sz="1875" b="1" dirty="0">
                <a:solidFill>
                  <a:srgbClr val="897F6E"/>
                </a:solidFill>
                <a:latin typeface="Fira Sans" pitchFamily="34" charset="0"/>
                <a:ea typeface="Fira Sans" pitchFamily="34" charset="-122"/>
                <a:cs typeface="Fira Sans" pitchFamily="34" charset="-120"/>
              </a:rPr>
              <a:t>Exploration</a:t>
            </a:r>
            <a:endParaRPr lang="en-US" sz="1875" dirty="0"/>
          </a:p>
        </p:txBody>
      </p:sp>
      <p:sp>
        <p:nvSpPr>
          <p:cNvPr id="12" name="Shape 10"/>
          <p:cNvSpPr/>
          <p:nvPr/>
        </p:nvSpPr>
        <p:spPr>
          <a:xfrm>
            <a:off x="990533" y="5062171"/>
            <a:ext cx="2857500" cy="2857500"/>
          </a:xfrm>
          <a:prstGeom prst="roundRect">
            <a:avLst>
              <a:gd name="adj" fmla="val 9333"/>
            </a:avLst>
          </a:prstGeom>
          <a:solidFill>
            <a:srgbClr val="E6EEF0"/>
          </a:solidFill>
          <a:ln w="6394">
            <a:solidFill>
              <a:srgbClr val="CFE0E3"/>
            </a:solidFill>
            <a:prstDash val="solid"/>
          </a:ln>
          <a:effectLst>
            <a:outerShdw blurRad="266700" dist="57150" dir="5400000" algn="bl" rotWithShape="0">
              <a:srgbClr val="463723">
                <a:alpha val="5000"/>
              </a:srgbClr>
            </a:outerShdw>
          </a:effectLst>
        </p:spPr>
        <p:txBody>
          <a:bodyPr/>
          <a:lstStyle/>
          <a:p>
            <a:endParaRPr lang="he-IL"/>
          </a:p>
        </p:txBody>
      </p:sp>
      <p:pic>
        <p:nvPicPr>
          <p:cNvPr id="1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09692" y="5776546"/>
            <a:ext cx="1619183" cy="1428750"/>
          </a:xfrm>
          <a:prstGeom prst="rect">
            <a:avLst/>
          </a:prstGeom>
        </p:spPr>
      </p:pic>
      <p:sp>
        <p:nvSpPr>
          <p:cNvPr id="14" name="Text 11"/>
          <p:cNvSpPr/>
          <p:nvPr/>
        </p:nvSpPr>
        <p:spPr>
          <a:xfrm>
            <a:off x="4533833" y="5096841"/>
            <a:ext cx="14039996" cy="325848"/>
          </a:xfrm>
          <a:prstGeom prst="rect">
            <a:avLst/>
          </a:prstGeom>
          <a:noFill/>
          <a:ln/>
        </p:spPr>
        <p:txBody>
          <a:bodyPr wrap="square" lIns="25400" tIns="25400" rIns="25400" bIns="25400" rtlCol="0" anchor="t">
            <a:normAutofit/>
          </a:bodyPr>
          <a:lstStyle/>
          <a:p>
            <a:pPr marL="0" indent="0" algn="l">
              <a:buNone/>
            </a:pPr>
            <a:r>
              <a:rPr lang="en-US" sz="1875" b="1" kern="0" spc="150" dirty="0">
                <a:solidFill>
                  <a:srgbClr val="BFA06E"/>
                </a:solidFill>
                <a:latin typeface="Fira Sans" pitchFamily="34" charset="0"/>
                <a:ea typeface="Fira Sans" pitchFamily="34" charset="-122"/>
                <a:cs typeface="Fira Sans" pitchFamily="34" charset="-120"/>
              </a:rPr>
              <a:t>MECHANISM 01 / 04</a:t>
            </a:r>
            <a:endParaRPr lang="en-US" sz="1875" dirty="0"/>
          </a:p>
        </p:txBody>
      </p:sp>
      <p:sp>
        <p:nvSpPr>
          <p:cNvPr id="15" name="Text 12"/>
          <p:cNvSpPr/>
          <p:nvPr/>
        </p:nvSpPr>
        <p:spPr>
          <a:xfrm>
            <a:off x="4533833" y="5536956"/>
            <a:ext cx="14039996" cy="767062"/>
          </a:xfrm>
          <a:prstGeom prst="rect">
            <a:avLst/>
          </a:prstGeom>
          <a:noFill/>
          <a:ln/>
        </p:spPr>
        <p:txBody>
          <a:bodyPr wrap="square" lIns="25400" tIns="25400" rIns="25400" bIns="25400" rtlCol="0" anchor="t">
            <a:normAutofit/>
          </a:bodyPr>
          <a:lstStyle/>
          <a:p>
            <a:pPr marL="0" indent="0" algn="l">
              <a:buNone/>
            </a:pPr>
            <a:r>
              <a:rPr lang="en-US" sz="4800" b="1" kern="0" spc="-96" dirty="0">
                <a:solidFill>
                  <a:srgbClr val="2A2520"/>
                </a:solidFill>
                <a:latin typeface="Fira Sans" pitchFamily="34" charset="0"/>
                <a:ea typeface="Fira Sans" pitchFamily="34" charset="-122"/>
                <a:cs typeface="Fira Sans" pitchFamily="34" charset="-120"/>
              </a:rPr>
              <a:t>Cumulative average</a:t>
            </a:r>
            <a:endParaRPr lang="en-US" sz="4800" dirty="0"/>
          </a:p>
        </p:txBody>
      </p:sp>
      <p:sp>
        <p:nvSpPr>
          <p:cNvPr id="16" name="Shape 13"/>
          <p:cNvSpPr/>
          <p:nvPr/>
        </p:nvSpPr>
        <p:spPr>
          <a:xfrm>
            <a:off x="4533833" y="6513501"/>
            <a:ext cx="25578" cy="1371600"/>
          </a:xfrm>
          <a:prstGeom prst="rect">
            <a:avLst/>
          </a:prstGeom>
          <a:solidFill>
            <a:srgbClr val="2F6B7A"/>
          </a:solidFill>
          <a:ln/>
        </p:spPr>
        <p:txBody>
          <a:bodyPr/>
          <a:lstStyle/>
          <a:p>
            <a:endParaRPr lang="he-IL"/>
          </a:p>
        </p:txBody>
      </p:sp>
      <p:sp>
        <p:nvSpPr>
          <p:cNvPr id="17" name="Text 14"/>
          <p:cNvSpPr/>
          <p:nvPr/>
        </p:nvSpPr>
        <p:spPr>
          <a:xfrm>
            <a:off x="4788011" y="6513501"/>
            <a:ext cx="6024668" cy="1409700"/>
          </a:xfrm>
          <a:prstGeom prst="rect">
            <a:avLst/>
          </a:prstGeom>
          <a:noFill/>
          <a:ln/>
        </p:spPr>
        <p:txBody>
          <a:bodyPr wrap="square" lIns="25400" tIns="25400" rIns="25400" bIns="25400" rtlCol="0" anchor="t">
            <a:normAutofit/>
          </a:bodyPr>
          <a:lstStyle/>
          <a:p>
            <a:pPr marL="0" indent="0" algn="l">
              <a:lnSpc>
                <a:spcPct val="150000"/>
              </a:lnSpc>
              <a:buNone/>
            </a:pPr>
            <a:r>
              <a:rPr lang="en-US" sz="2400" dirty="0">
                <a:solidFill>
                  <a:srgbClr val="5A5347"/>
                </a:solidFill>
                <a:latin typeface="Fira Sans" pitchFamily="34" charset="0"/>
                <a:ea typeface="Fira Sans" pitchFamily="34" charset="-122"/>
                <a:cs typeface="Fira Sans" pitchFamily="34" charset="-120"/>
              </a:rPr>
              <a:t>Tracks each option’s mean reward across every past trial - the long-run estimate of which side pays better.</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ECE0"/>
        </a:solidFill>
        <a:effectLst/>
      </p:bgPr>
    </p:bg>
    <p:spTree>
      <p:nvGrpSpPr>
        <p:cNvPr id="1" name=""/>
        <p:cNvGrpSpPr/>
        <p:nvPr/>
      </p:nvGrpSpPr>
      <p:grpSpPr>
        <a:xfrm>
          <a:off x="0" y="0"/>
          <a:ext cx="0" cy="0"/>
          <a:chOff x="0" y="0"/>
          <a:chExt cx="0" cy="0"/>
        </a:xfrm>
      </p:grpSpPr>
      <p:sp>
        <p:nvSpPr>
          <p:cNvPr id="2" name="Text 0"/>
          <p:cNvSpPr/>
          <p:nvPr/>
        </p:nvSpPr>
        <p:spPr>
          <a:xfrm>
            <a:off x="990533" y="914400"/>
            <a:ext cx="17937626" cy="325848"/>
          </a:xfrm>
          <a:prstGeom prst="rect">
            <a:avLst/>
          </a:prstGeom>
          <a:noFill/>
          <a:ln/>
        </p:spPr>
        <p:txBody>
          <a:bodyPr wrap="square" lIns="25400" tIns="25400" rIns="25400" bIns="25400" rtlCol="0" anchor="t">
            <a:normAutofit/>
          </a:bodyPr>
          <a:lstStyle/>
          <a:p>
            <a:pPr marL="0" indent="0" algn="l">
              <a:buNone/>
            </a:pPr>
            <a:r>
              <a:rPr lang="en-US" sz="1875" b="1" kern="0" spc="300" dirty="0">
                <a:solidFill>
                  <a:srgbClr val="B3402F"/>
                </a:solidFill>
                <a:latin typeface="Fira Sans" pitchFamily="34" charset="0"/>
                <a:ea typeface="Fira Sans" pitchFamily="34" charset="-122"/>
                <a:cs typeface="Fira Sans" pitchFamily="34" charset="-120"/>
              </a:rPr>
              <a:t>THE MODEL</a:t>
            </a:r>
            <a:endParaRPr lang="en-US" sz="1875" dirty="0"/>
          </a:p>
        </p:txBody>
      </p:sp>
      <p:sp>
        <p:nvSpPr>
          <p:cNvPr id="3" name="Text 1"/>
          <p:cNvSpPr/>
          <p:nvPr/>
        </p:nvSpPr>
        <p:spPr>
          <a:xfrm>
            <a:off x="990533" y="1335432"/>
            <a:ext cx="17937626" cy="582823"/>
          </a:xfrm>
          <a:prstGeom prst="rect">
            <a:avLst/>
          </a:prstGeom>
          <a:noFill/>
          <a:ln/>
        </p:spPr>
        <p:txBody>
          <a:bodyPr wrap="square" lIns="25400" tIns="25400" rIns="25400" bIns="25400" rtlCol="0" anchor="t">
            <a:normAutofit/>
          </a:bodyPr>
          <a:lstStyle/>
          <a:p>
            <a:pPr marL="0" indent="0" algn="l">
              <a:lnSpc>
                <a:spcPct val="110000"/>
              </a:lnSpc>
              <a:buNone/>
            </a:pPr>
            <a:r>
              <a:rPr lang="en-US" sz="3900" b="1" kern="0" spc="-58" dirty="0">
                <a:solidFill>
                  <a:srgbClr val="2A2520"/>
                </a:solidFill>
                <a:latin typeface="Fira Sans" pitchFamily="34" charset="0"/>
                <a:ea typeface="Fira Sans" pitchFamily="34" charset="-122"/>
                <a:cs typeface="Fira Sans" pitchFamily="34" charset="-120"/>
              </a:rPr>
              <a:t>The four mechanisms of CATIE</a:t>
            </a:r>
            <a:endParaRPr lang="en-US" sz="3900" dirty="0"/>
          </a:p>
        </p:txBody>
      </p:sp>
      <p:sp>
        <p:nvSpPr>
          <p:cNvPr id="4" name="Shape 2"/>
          <p:cNvSpPr/>
          <p:nvPr/>
        </p:nvSpPr>
        <p:spPr>
          <a:xfrm>
            <a:off x="990533" y="2261122"/>
            <a:ext cx="2590034" cy="529137"/>
          </a:xfrm>
          <a:prstGeom prst="roundRect">
            <a:avLst>
              <a:gd name="adj" fmla="val 50000"/>
            </a:avLst>
          </a:prstGeom>
          <a:solidFill>
            <a:srgbClr val="FBF8F2"/>
          </a:solidFill>
          <a:ln w="6394">
            <a:solidFill>
              <a:srgbClr val="E4DBC9"/>
            </a:solidFill>
            <a:prstDash val="solid"/>
          </a:ln>
        </p:spPr>
        <p:txBody>
          <a:bodyPr/>
          <a:lstStyle/>
          <a:p>
            <a:endParaRPr lang="he-IL"/>
          </a:p>
        </p:txBody>
      </p:sp>
      <p:sp>
        <p:nvSpPr>
          <p:cNvPr id="5" name="Text 3"/>
          <p:cNvSpPr/>
          <p:nvPr/>
        </p:nvSpPr>
        <p:spPr>
          <a:xfrm>
            <a:off x="1225528" y="2381816"/>
            <a:ext cx="2197746" cy="325848"/>
          </a:xfrm>
          <a:prstGeom prst="rect">
            <a:avLst/>
          </a:prstGeom>
          <a:noFill/>
          <a:ln/>
        </p:spPr>
        <p:txBody>
          <a:bodyPr wrap="none" lIns="25400" tIns="25400" rIns="25400" bIns="25400" rtlCol="0" anchor="t">
            <a:normAutofit/>
          </a:bodyPr>
          <a:lstStyle/>
          <a:p>
            <a:pPr marL="0" indent="0" algn="l">
              <a:buNone/>
            </a:pPr>
            <a:r>
              <a:rPr lang="en-US" sz="1875" b="1" dirty="0">
                <a:solidFill>
                  <a:srgbClr val="897F6E"/>
                </a:solidFill>
                <a:latin typeface="Fira Sans" pitchFamily="34" charset="0"/>
                <a:ea typeface="Fira Sans" pitchFamily="34" charset="-122"/>
                <a:cs typeface="Fira Sans" pitchFamily="34" charset="-120"/>
              </a:rPr>
              <a:t>Cumulative average</a:t>
            </a:r>
            <a:endParaRPr lang="en-US" sz="1875" dirty="0"/>
          </a:p>
        </p:txBody>
      </p:sp>
      <p:sp>
        <p:nvSpPr>
          <p:cNvPr id="6" name="Shape 4"/>
          <p:cNvSpPr/>
          <p:nvPr/>
        </p:nvSpPr>
        <p:spPr>
          <a:xfrm>
            <a:off x="3713851" y="2261122"/>
            <a:ext cx="1089047" cy="529137"/>
          </a:xfrm>
          <a:prstGeom prst="roundRect">
            <a:avLst>
              <a:gd name="adj" fmla="val 50000"/>
            </a:avLst>
          </a:prstGeom>
          <a:solidFill>
            <a:srgbClr val="B3402F"/>
          </a:solidFill>
          <a:ln w="6394">
            <a:solidFill>
              <a:srgbClr val="B3402F"/>
            </a:solidFill>
            <a:prstDash val="solid"/>
          </a:ln>
        </p:spPr>
        <p:txBody>
          <a:bodyPr/>
          <a:lstStyle/>
          <a:p>
            <a:endParaRPr lang="he-IL"/>
          </a:p>
        </p:txBody>
      </p:sp>
      <p:sp>
        <p:nvSpPr>
          <p:cNvPr id="7" name="Text 5"/>
          <p:cNvSpPr/>
          <p:nvPr/>
        </p:nvSpPr>
        <p:spPr>
          <a:xfrm>
            <a:off x="3948845" y="2381816"/>
            <a:ext cx="695258" cy="325848"/>
          </a:xfrm>
          <a:prstGeom prst="rect">
            <a:avLst/>
          </a:prstGeom>
          <a:noFill/>
          <a:ln/>
        </p:spPr>
        <p:txBody>
          <a:bodyPr wrap="none" lIns="25400" tIns="25400" rIns="25400" bIns="25400" rtlCol="0" anchor="t">
            <a:normAutofit/>
          </a:bodyPr>
          <a:lstStyle/>
          <a:p>
            <a:pPr marL="0" indent="0" algn="l">
              <a:buNone/>
            </a:pPr>
            <a:r>
              <a:rPr lang="en-US" sz="1875" b="1" dirty="0">
                <a:solidFill>
                  <a:srgbClr val="FFFFFF"/>
                </a:solidFill>
                <a:latin typeface="Fira Sans" pitchFamily="34" charset="0"/>
                <a:ea typeface="Fira Sans" pitchFamily="34" charset="-122"/>
                <a:cs typeface="Fira Sans" pitchFamily="34" charset="-120"/>
              </a:rPr>
              <a:t>Trend</a:t>
            </a:r>
            <a:endParaRPr lang="en-US" sz="1875" dirty="0"/>
          </a:p>
        </p:txBody>
      </p:sp>
      <p:sp>
        <p:nvSpPr>
          <p:cNvPr id="8" name="Shape 6"/>
          <p:cNvSpPr/>
          <p:nvPr/>
        </p:nvSpPr>
        <p:spPr>
          <a:xfrm>
            <a:off x="4936181" y="2261122"/>
            <a:ext cx="1191358" cy="529137"/>
          </a:xfrm>
          <a:prstGeom prst="roundRect">
            <a:avLst>
              <a:gd name="adj" fmla="val 50000"/>
            </a:avLst>
          </a:prstGeom>
          <a:solidFill>
            <a:srgbClr val="FBF8F2"/>
          </a:solidFill>
          <a:ln w="6394">
            <a:solidFill>
              <a:srgbClr val="E4DBC9"/>
            </a:solidFill>
            <a:prstDash val="solid"/>
          </a:ln>
        </p:spPr>
        <p:txBody>
          <a:bodyPr/>
          <a:lstStyle/>
          <a:p>
            <a:endParaRPr lang="he-IL"/>
          </a:p>
        </p:txBody>
      </p:sp>
      <p:sp>
        <p:nvSpPr>
          <p:cNvPr id="9" name="Text 7"/>
          <p:cNvSpPr/>
          <p:nvPr/>
        </p:nvSpPr>
        <p:spPr>
          <a:xfrm>
            <a:off x="5171176" y="2381816"/>
            <a:ext cx="797569" cy="325848"/>
          </a:xfrm>
          <a:prstGeom prst="rect">
            <a:avLst/>
          </a:prstGeom>
          <a:noFill/>
          <a:ln/>
        </p:spPr>
        <p:txBody>
          <a:bodyPr wrap="none" lIns="25400" tIns="25400" rIns="25400" bIns="25400" rtlCol="0" anchor="t">
            <a:normAutofit/>
          </a:bodyPr>
          <a:lstStyle/>
          <a:p>
            <a:pPr marL="0" indent="0" algn="l">
              <a:buNone/>
            </a:pPr>
            <a:r>
              <a:rPr lang="en-US" sz="1875" b="1" dirty="0">
                <a:solidFill>
                  <a:srgbClr val="897F6E"/>
                </a:solidFill>
                <a:latin typeface="Fira Sans" pitchFamily="34" charset="0"/>
                <a:ea typeface="Fira Sans" pitchFamily="34" charset="-122"/>
                <a:cs typeface="Fira Sans" pitchFamily="34" charset="-120"/>
              </a:rPr>
              <a:t>Inertia</a:t>
            </a:r>
            <a:endParaRPr lang="en-US" sz="1875" dirty="0"/>
          </a:p>
        </p:txBody>
      </p:sp>
      <p:sp>
        <p:nvSpPr>
          <p:cNvPr id="10" name="Shape 8"/>
          <p:cNvSpPr/>
          <p:nvPr/>
        </p:nvSpPr>
        <p:spPr>
          <a:xfrm>
            <a:off x="6260822" y="2261122"/>
            <a:ext cx="1716998" cy="529137"/>
          </a:xfrm>
          <a:prstGeom prst="roundRect">
            <a:avLst>
              <a:gd name="adj" fmla="val 50000"/>
            </a:avLst>
          </a:prstGeom>
          <a:solidFill>
            <a:srgbClr val="FBF8F2"/>
          </a:solidFill>
          <a:ln w="6394">
            <a:solidFill>
              <a:srgbClr val="E4DBC9"/>
            </a:solidFill>
            <a:prstDash val="solid"/>
          </a:ln>
        </p:spPr>
        <p:txBody>
          <a:bodyPr/>
          <a:lstStyle/>
          <a:p>
            <a:endParaRPr lang="he-IL"/>
          </a:p>
        </p:txBody>
      </p:sp>
      <p:sp>
        <p:nvSpPr>
          <p:cNvPr id="11" name="Text 9"/>
          <p:cNvSpPr/>
          <p:nvPr/>
        </p:nvSpPr>
        <p:spPr>
          <a:xfrm>
            <a:off x="6495817" y="2381816"/>
            <a:ext cx="1323209" cy="325848"/>
          </a:xfrm>
          <a:prstGeom prst="rect">
            <a:avLst/>
          </a:prstGeom>
          <a:noFill/>
          <a:ln/>
        </p:spPr>
        <p:txBody>
          <a:bodyPr wrap="none" lIns="25400" tIns="25400" rIns="25400" bIns="25400" rtlCol="0" anchor="t">
            <a:normAutofit/>
          </a:bodyPr>
          <a:lstStyle/>
          <a:p>
            <a:pPr marL="0" indent="0" algn="l">
              <a:buNone/>
            </a:pPr>
            <a:r>
              <a:rPr lang="en-US" sz="1875" b="1" dirty="0">
                <a:solidFill>
                  <a:srgbClr val="897F6E"/>
                </a:solidFill>
                <a:latin typeface="Fira Sans" pitchFamily="34" charset="0"/>
                <a:ea typeface="Fira Sans" pitchFamily="34" charset="-122"/>
                <a:cs typeface="Fira Sans" pitchFamily="34" charset="-120"/>
              </a:rPr>
              <a:t>Exploration</a:t>
            </a:r>
            <a:endParaRPr lang="en-US" sz="1875" dirty="0"/>
          </a:p>
        </p:txBody>
      </p:sp>
      <p:sp>
        <p:nvSpPr>
          <p:cNvPr id="12" name="Shape 10"/>
          <p:cNvSpPr/>
          <p:nvPr/>
        </p:nvSpPr>
        <p:spPr>
          <a:xfrm>
            <a:off x="990533" y="5062171"/>
            <a:ext cx="2857500" cy="2857500"/>
          </a:xfrm>
          <a:prstGeom prst="roundRect">
            <a:avLst>
              <a:gd name="adj" fmla="val 9333"/>
            </a:avLst>
          </a:prstGeom>
          <a:solidFill>
            <a:srgbClr val="E6EEF0"/>
          </a:solidFill>
          <a:ln w="6394">
            <a:solidFill>
              <a:srgbClr val="CFE0E3"/>
            </a:solidFill>
            <a:prstDash val="solid"/>
          </a:ln>
          <a:effectLst>
            <a:outerShdw blurRad="266700" dist="57150" dir="5400000" algn="bl" rotWithShape="0">
              <a:srgbClr val="463723">
                <a:alpha val="5000"/>
              </a:srgbClr>
            </a:outerShdw>
          </a:effectLst>
        </p:spPr>
        <p:txBody>
          <a:bodyPr/>
          <a:lstStyle/>
          <a:p>
            <a:endParaRPr lang="he-IL"/>
          </a:p>
        </p:txBody>
      </p:sp>
      <p:pic>
        <p:nvPicPr>
          <p:cNvPr id="1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09692" y="5776546"/>
            <a:ext cx="1619183" cy="1428750"/>
          </a:xfrm>
          <a:prstGeom prst="rect">
            <a:avLst/>
          </a:prstGeom>
        </p:spPr>
      </p:pic>
      <p:sp>
        <p:nvSpPr>
          <p:cNvPr id="14" name="Text 11"/>
          <p:cNvSpPr/>
          <p:nvPr/>
        </p:nvSpPr>
        <p:spPr>
          <a:xfrm>
            <a:off x="4533833" y="5096841"/>
            <a:ext cx="14039996" cy="325848"/>
          </a:xfrm>
          <a:prstGeom prst="rect">
            <a:avLst/>
          </a:prstGeom>
          <a:noFill/>
          <a:ln/>
        </p:spPr>
        <p:txBody>
          <a:bodyPr wrap="square" lIns="25400" tIns="25400" rIns="25400" bIns="25400" rtlCol="0" anchor="t">
            <a:normAutofit/>
          </a:bodyPr>
          <a:lstStyle/>
          <a:p>
            <a:pPr marL="0" indent="0" algn="l">
              <a:buNone/>
            </a:pPr>
            <a:r>
              <a:rPr lang="en-US" sz="1875" b="1" kern="0" spc="150" dirty="0">
                <a:solidFill>
                  <a:srgbClr val="BFA06E"/>
                </a:solidFill>
                <a:latin typeface="Fira Sans" pitchFamily="34" charset="0"/>
                <a:ea typeface="Fira Sans" pitchFamily="34" charset="-122"/>
                <a:cs typeface="Fira Sans" pitchFamily="34" charset="-120"/>
              </a:rPr>
              <a:t>MECHANISM 02 / 04</a:t>
            </a:r>
            <a:endParaRPr lang="en-US" sz="1875" dirty="0"/>
          </a:p>
        </p:txBody>
      </p:sp>
      <p:sp>
        <p:nvSpPr>
          <p:cNvPr id="15" name="Text 12"/>
          <p:cNvSpPr/>
          <p:nvPr/>
        </p:nvSpPr>
        <p:spPr>
          <a:xfrm>
            <a:off x="4533833" y="5536956"/>
            <a:ext cx="14039996" cy="767062"/>
          </a:xfrm>
          <a:prstGeom prst="rect">
            <a:avLst/>
          </a:prstGeom>
          <a:noFill/>
          <a:ln/>
        </p:spPr>
        <p:txBody>
          <a:bodyPr wrap="square" lIns="25400" tIns="25400" rIns="25400" bIns="25400" rtlCol="0" anchor="t">
            <a:normAutofit/>
          </a:bodyPr>
          <a:lstStyle/>
          <a:p>
            <a:pPr marL="0" indent="0" algn="l">
              <a:buNone/>
            </a:pPr>
            <a:r>
              <a:rPr lang="en-US" sz="4800" b="1" kern="0" spc="-96" dirty="0">
                <a:solidFill>
                  <a:srgbClr val="2A2520"/>
                </a:solidFill>
                <a:latin typeface="Fira Sans" pitchFamily="34" charset="0"/>
                <a:ea typeface="Fira Sans" pitchFamily="34" charset="-122"/>
                <a:cs typeface="Fira Sans" pitchFamily="34" charset="-120"/>
              </a:rPr>
              <a:t>Trend</a:t>
            </a:r>
            <a:endParaRPr lang="en-US" sz="4800" dirty="0"/>
          </a:p>
        </p:txBody>
      </p:sp>
      <p:sp>
        <p:nvSpPr>
          <p:cNvPr id="16" name="Shape 13"/>
          <p:cNvSpPr/>
          <p:nvPr/>
        </p:nvSpPr>
        <p:spPr>
          <a:xfrm>
            <a:off x="4533833" y="6513501"/>
            <a:ext cx="25578" cy="1371600"/>
          </a:xfrm>
          <a:prstGeom prst="rect">
            <a:avLst/>
          </a:prstGeom>
          <a:solidFill>
            <a:srgbClr val="2F6B7A"/>
          </a:solidFill>
          <a:ln/>
        </p:spPr>
        <p:txBody>
          <a:bodyPr/>
          <a:lstStyle/>
          <a:p>
            <a:endParaRPr lang="he-IL"/>
          </a:p>
        </p:txBody>
      </p:sp>
      <p:sp>
        <p:nvSpPr>
          <p:cNvPr id="17" name="Text 14"/>
          <p:cNvSpPr/>
          <p:nvPr/>
        </p:nvSpPr>
        <p:spPr>
          <a:xfrm>
            <a:off x="4788011" y="6513501"/>
            <a:ext cx="6024668" cy="1409700"/>
          </a:xfrm>
          <a:prstGeom prst="rect">
            <a:avLst/>
          </a:prstGeom>
          <a:noFill/>
          <a:ln/>
        </p:spPr>
        <p:txBody>
          <a:bodyPr wrap="square" lIns="25400" tIns="25400" rIns="25400" bIns="25400" rtlCol="0" anchor="t">
            <a:normAutofit/>
          </a:bodyPr>
          <a:lstStyle/>
          <a:p>
            <a:pPr marL="0" indent="0" algn="l">
              <a:lnSpc>
                <a:spcPct val="150000"/>
              </a:lnSpc>
              <a:buNone/>
            </a:pPr>
            <a:r>
              <a:rPr lang="en-US" sz="2400" dirty="0">
                <a:solidFill>
                  <a:srgbClr val="5A5347"/>
                </a:solidFill>
                <a:latin typeface="Fira Sans" pitchFamily="34" charset="0"/>
                <a:ea typeface="Fira Sans" pitchFamily="34" charset="-122"/>
                <a:cs typeface="Fira Sans" pitchFamily="34" charset="-120"/>
              </a:rPr>
              <a:t>Weights recent outcomes more heavily, sensing whether an option is climbing or fading right now.</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ECE0"/>
        </a:solidFill>
        <a:effectLst/>
      </p:bgPr>
    </p:bg>
    <p:spTree>
      <p:nvGrpSpPr>
        <p:cNvPr id="1" name=""/>
        <p:cNvGrpSpPr/>
        <p:nvPr/>
      </p:nvGrpSpPr>
      <p:grpSpPr>
        <a:xfrm>
          <a:off x="0" y="0"/>
          <a:ext cx="0" cy="0"/>
          <a:chOff x="0" y="0"/>
          <a:chExt cx="0" cy="0"/>
        </a:xfrm>
      </p:grpSpPr>
      <p:sp>
        <p:nvSpPr>
          <p:cNvPr id="2" name="Text 0"/>
          <p:cNvSpPr/>
          <p:nvPr/>
        </p:nvSpPr>
        <p:spPr>
          <a:xfrm>
            <a:off x="990533" y="914400"/>
            <a:ext cx="17937626" cy="325848"/>
          </a:xfrm>
          <a:prstGeom prst="rect">
            <a:avLst/>
          </a:prstGeom>
          <a:noFill/>
          <a:ln/>
        </p:spPr>
        <p:txBody>
          <a:bodyPr wrap="square" lIns="25400" tIns="25400" rIns="25400" bIns="25400" rtlCol="0" anchor="t">
            <a:normAutofit/>
          </a:bodyPr>
          <a:lstStyle/>
          <a:p>
            <a:pPr marL="0" indent="0" algn="l">
              <a:buNone/>
            </a:pPr>
            <a:r>
              <a:rPr lang="en-US" sz="1875" b="1" kern="0" spc="300" dirty="0">
                <a:solidFill>
                  <a:srgbClr val="B3402F"/>
                </a:solidFill>
                <a:latin typeface="Fira Sans" pitchFamily="34" charset="0"/>
                <a:ea typeface="Fira Sans" pitchFamily="34" charset="-122"/>
                <a:cs typeface="Fira Sans" pitchFamily="34" charset="-120"/>
              </a:rPr>
              <a:t>THE MODEL</a:t>
            </a:r>
            <a:endParaRPr lang="en-US" sz="1875" dirty="0"/>
          </a:p>
        </p:txBody>
      </p:sp>
      <p:sp>
        <p:nvSpPr>
          <p:cNvPr id="3" name="Text 1"/>
          <p:cNvSpPr/>
          <p:nvPr/>
        </p:nvSpPr>
        <p:spPr>
          <a:xfrm>
            <a:off x="990533" y="1335432"/>
            <a:ext cx="17937626" cy="582823"/>
          </a:xfrm>
          <a:prstGeom prst="rect">
            <a:avLst/>
          </a:prstGeom>
          <a:noFill/>
          <a:ln/>
        </p:spPr>
        <p:txBody>
          <a:bodyPr wrap="square" lIns="25400" tIns="25400" rIns="25400" bIns="25400" rtlCol="0" anchor="t">
            <a:normAutofit/>
          </a:bodyPr>
          <a:lstStyle/>
          <a:p>
            <a:pPr marL="0" indent="0" algn="l">
              <a:lnSpc>
                <a:spcPct val="110000"/>
              </a:lnSpc>
              <a:buNone/>
            </a:pPr>
            <a:r>
              <a:rPr lang="en-US" sz="3900" b="1" kern="0" spc="-58" dirty="0">
                <a:solidFill>
                  <a:srgbClr val="2A2520"/>
                </a:solidFill>
                <a:latin typeface="Fira Sans" pitchFamily="34" charset="0"/>
                <a:ea typeface="Fira Sans" pitchFamily="34" charset="-122"/>
                <a:cs typeface="Fira Sans" pitchFamily="34" charset="-120"/>
              </a:rPr>
              <a:t>The four mechanisms of CATIE</a:t>
            </a:r>
            <a:endParaRPr lang="en-US" sz="3900" dirty="0"/>
          </a:p>
        </p:txBody>
      </p:sp>
      <p:sp>
        <p:nvSpPr>
          <p:cNvPr id="4" name="Shape 2"/>
          <p:cNvSpPr/>
          <p:nvPr/>
        </p:nvSpPr>
        <p:spPr>
          <a:xfrm>
            <a:off x="990533" y="2261122"/>
            <a:ext cx="2590034" cy="529137"/>
          </a:xfrm>
          <a:prstGeom prst="roundRect">
            <a:avLst>
              <a:gd name="adj" fmla="val 50000"/>
            </a:avLst>
          </a:prstGeom>
          <a:solidFill>
            <a:srgbClr val="FBF8F2"/>
          </a:solidFill>
          <a:ln w="6394">
            <a:solidFill>
              <a:srgbClr val="E4DBC9"/>
            </a:solidFill>
            <a:prstDash val="solid"/>
          </a:ln>
        </p:spPr>
        <p:txBody>
          <a:bodyPr/>
          <a:lstStyle/>
          <a:p>
            <a:endParaRPr lang="he-IL"/>
          </a:p>
        </p:txBody>
      </p:sp>
      <p:sp>
        <p:nvSpPr>
          <p:cNvPr id="5" name="Text 3"/>
          <p:cNvSpPr/>
          <p:nvPr/>
        </p:nvSpPr>
        <p:spPr>
          <a:xfrm>
            <a:off x="1225528" y="2381816"/>
            <a:ext cx="2197746" cy="325848"/>
          </a:xfrm>
          <a:prstGeom prst="rect">
            <a:avLst/>
          </a:prstGeom>
          <a:noFill/>
          <a:ln/>
        </p:spPr>
        <p:txBody>
          <a:bodyPr wrap="none" lIns="25400" tIns="25400" rIns="25400" bIns="25400" rtlCol="0" anchor="t">
            <a:normAutofit/>
          </a:bodyPr>
          <a:lstStyle/>
          <a:p>
            <a:pPr marL="0" indent="0" algn="l">
              <a:buNone/>
            </a:pPr>
            <a:r>
              <a:rPr lang="en-US" sz="1875" b="1" dirty="0">
                <a:solidFill>
                  <a:srgbClr val="897F6E"/>
                </a:solidFill>
                <a:latin typeface="Fira Sans" pitchFamily="34" charset="0"/>
                <a:ea typeface="Fira Sans" pitchFamily="34" charset="-122"/>
                <a:cs typeface="Fira Sans" pitchFamily="34" charset="-120"/>
              </a:rPr>
              <a:t>Cumulative average</a:t>
            </a:r>
            <a:endParaRPr lang="en-US" sz="1875" dirty="0"/>
          </a:p>
        </p:txBody>
      </p:sp>
      <p:sp>
        <p:nvSpPr>
          <p:cNvPr id="6" name="Shape 4"/>
          <p:cNvSpPr/>
          <p:nvPr/>
        </p:nvSpPr>
        <p:spPr>
          <a:xfrm>
            <a:off x="3713851" y="2261122"/>
            <a:ext cx="1089047" cy="529137"/>
          </a:xfrm>
          <a:prstGeom prst="roundRect">
            <a:avLst>
              <a:gd name="adj" fmla="val 50000"/>
            </a:avLst>
          </a:prstGeom>
          <a:solidFill>
            <a:srgbClr val="FBF8F2"/>
          </a:solidFill>
          <a:ln w="6394">
            <a:solidFill>
              <a:srgbClr val="E4DBC9"/>
            </a:solidFill>
            <a:prstDash val="solid"/>
          </a:ln>
        </p:spPr>
        <p:txBody>
          <a:bodyPr/>
          <a:lstStyle/>
          <a:p>
            <a:endParaRPr lang="he-IL"/>
          </a:p>
        </p:txBody>
      </p:sp>
      <p:sp>
        <p:nvSpPr>
          <p:cNvPr id="7" name="Text 5"/>
          <p:cNvSpPr/>
          <p:nvPr/>
        </p:nvSpPr>
        <p:spPr>
          <a:xfrm>
            <a:off x="3948845" y="2381816"/>
            <a:ext cx="695258" cy="325848"/>
          </a:xfrm>
          <a:prstGeom prst="rect">
            <a:avLst/>
          </a:prstGeom>
          <a:noFill/>
          <a:ln/>
        </p:spPr>
        <p:txBody>
          <a:bodyPr wrap="none" lIns="25400" tIns="25400" rIns="25400" bIns="25400" rtlCol="0" anchor="t">
            <a:normAutofit/>
          </a:bodyPr>
          <a:lstStyle/>
          <a:p>
            <a:pPr marL="0" indent="0" algn="l">
              <a:buNone/>
            </a:pPr>
            <a:r>
              <a:rPr lang="en-US" sz="1875" b="1" dirty="0">
                <a:solidFill>
                  <a:srgbClr val="897F6E"/>
                </a:solidFill>
                <a:latin typeface="Fira Sans" pitchFamily="34" charset="0"/>
                <a:ea typeface="Fira Sans" pitchFamily="34" charset="-122"/>
                <a:cs typeface="Fira Sans" pitchFamily="34" charset="-120"/>
              </a:rPr>
              <a:t>Trend</a:t>
            </a:r>
            <a:endParaRPr lang="en-US" sz="1875" dirty="0"/>
          </a:p>
        </p:txBody>
      </p:sp>
      <p:sp>
        <p:nvSpPr>
          <p:cNvPr id="8" name="Shape 6"/>
          <p:cNvSpPr/>
          <p:nvPr/>
        </p:nvSpPr>
        <p:spPr>
          <a:xfrm>
            <a:off x="4936181" y="2261122"/>
            <a:ext cx="1191358" cy="529137"/>
          </a:xfrm>
          <a:prstGeom prst="roundRect">
            <a:avLst>
              <a:gd name="adj" fmla="val 50000"/>
            </a:avLst>
          </a:prstGeom>
          <a:solidFill>
            <a:srgbClr val="B3402F"/>
          </a:solidFill>
          <a:ln w="6394">
            <a:solidFill>
              <a:srgbClr val="B3402F"/>
            </a:solidFill>
            <a:prstDash val="solid"/>
          </a:ln>
        </p:spPr>
        <p:txBody>
          <a:bodyPr/>
          <a:lstStyle/>
          <a:p>
            <a:endParaRPr lang="he-IL"/>
          </a:p>
        </p:txBody>
      </p:sp>
      <p:sp>
        <p:nvSpPr>
          <p:cNvPr id="9" name="Text 7"/>
          <p:cNvSpPr/>
          <p:nvPr/>
        </p:nvSpPr>
        <p:spPr>
          <a:xfrm>
            <a:off x="5171176" y="2381816"/>
            <a:ext cx="797569" cy="325848"/>
          </a:xfrm>
          <a:prstGeom prst="rect">
            <a:avLst/>
          </a:prstGeom>
          <a:noFill/>
          <a:ln/>
        </p:spPr>
        <p:txBody>
          <a:bodyPr wrap="none" lIns="25400" tIns="25400" rIns="25400" bIns="25400" rtlCol="0" anchor="t">
            <a:normAutofit/>
          </a:bodyPr>
          <a:lstStyle/>
          <a:p>
            <a:pPr marL="0" indent="0" algn="l">
              <a:buNone/>
            </a:pPr>
            <a:r>
              <a:rPr lang="en-US" sz="1875" b="1" dirty="0">
                <a:solidFill>
                  <a:srgbClr val="FFFFFF"/>
                </a:solidFill>
                <a:latin typeface="Fira Sans" pitchFamily="34" charset="0"/>
                <a:ea typeface="Fira Sans" pitchFamily="34" charset="-122"/>
                <a:cs typeface="Fira Sans" pitchFamily="34" charset="-120"/>
              </a:rPr>
              <a:t>Inertia</a:t>
            </a:r>
            <a:endParaRPr lang="en-US" sz="1875" dirty="0"/>
          </a:p>
        </p:txBody>
      </p:sp>
      <p:sp>
        <p:nvSpPr>
          <p:cNvPr id="10" name="Shape 8"/>
          <p:cNvSpPr/>
          <p:nvPr/>
        </p:nvSpPr>
        <p:spPr>
          <a:xfrm>
            <a:off x="6260822" y="2261122"/>
            <a:ext cx="1716998" cy="529137"/>
          </a:xfrm>
          <a:prstGeom prst="roundRect">
            <a:avLst>
              <a:gd name="adj" fmla="val 50000"/>
            </a:avLst>
          </a:prstGeom>
          <a:solidFill>
            <a:srgbClr val="FBF8F2"/>
          </a:solidFill>
          <a:ln w="6394">
            <a:solidFill>
              <a:srgbClr val="E4DBC9"/>
            </a:solidFill>
            <a:prstDash val="solid"/>
          </a:ln>
        </p:spPr>
        <p:txBody>
          <a:bodyPr/>
          <a:lstStyle/>
          <a:p>
            <a:endParaRPr lang="he-IL"/>
          </a:p>
        </p:txBody>
      </p:sp>
      <p:sp>
        <p:nvSpPr>
          <p:cNvPr id="11" name="Text 9"/>
          <p:cNvSpPr/>
          <p:nvPr/>
        </p:nvSpPr>
        <p:spPr>
          <a:xfrm>
            <a:off x="6495817" y="2381816"/>
            <a:ext cx="1323209" cy="325848"/>
          </a:xfrm>
          <a:prstGeom prst="rect">
            <a:avLst/>
          </a:prstGeom>
          <a:noFill/>
          <a:ln/>
        </p:spPr>
        <p:txBody>
          <a:bodyPr wrap="none" lIns="25400" tIns="25400" rIns="25400" bIns="25400" rtlCol="0" anchor="t">
            <a:normAutofit/>
          </a:bodyPr>
          <a:lstStyle/>
          <a:p>
            <a:pPr marL="0" indent="0" algn="l">
              <a:buNone/>
            </a:pPr>
            <a:r>
              <a:rPr lang="en-US" sz="1875" b="1" dirty="0">
                <a:solidFill>
                  <a:srgbClr val="897F6E"/>
                </a:solidFill>
                <a:latin typeface="Fira Sans" pitchFamily="34" charset="0"/>
                <a:ea typeface="Fira Sans" pitchFamily="34" charset="-122"/>
                <a:cs typeface="Fira Sans" pitchFamily="34" charset="-120"/>
              </a:rPr>
              <a:t>Exploration</a:t>
            </a:r>
            <a:endParaRPr lang="en-US" sz="1875" dirty="0"/>
          </a:p>
        </p:txBody>
      </p:sp>
      <p:sp>
        <p:nvSpPr>
          <p:cNvPr id="12" name="Shape 10"/>
          <p:cNvSpPr/>
          <p:nvPr/>
        </p:nvSpPr>
        <p:spPr>
          <a:xfrm>
            <a:off x="990533" y="5062171"/>
            <a:ext cx="2857500" cy="2857500"/>
          </a:xfrm>
          <a:prstGeom prst="roundRect">
            <a:avLst>
              <a:gd name="adj" fmla="val 9333"/>
            </a:avLst>
          </a:prstGeom>
          <a:solidFill>
            <a:srgbClr val="E6EEF0"/>
          </a:solidFill>
          <a:ln w="6394">
            <a:solidFill>
              <a:srgbClr val="CFE0E3"/>
            </a:solidFill>
            <a:prstDash val="solid"/>
          </a:ln>
          <a:effectLst>
            <a:outerShdw blurRad="266700" dist="57150" dir="5400000" algn="bl" rotWithShape="0">
              <a:srgbClr val="463723">
                <a:alpha val="5000"/>
              </a:srgbClr>
            </a:outerShdw>
          </a:effectLst>
        </p:spPr>
        <p:txBody>
          <a:bodyPr/>
          <a:lstStyle/>
          <a:p>
            <a:endParaRPr lang="he-IL"/>
          </a:p>
        </p:txBody>
      </p:sp>
      <p:pic>
        <p:nvPicPr>
          <p:cNvPr id="1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09692" y="5776546"/>
            <a:ext cx="1619183" cy="1428750"/>
          </a:xfrm>
          <a:prstGeom prst="rect">
            <a:avLst/>
          </a:prstGeom>
        </p:spPr>
      </p:pic>
      <p:sp>
        <p:nvSpPr>
          <p:cNvPr id="14" name="Text 11"/>
          <p:cNvSpPr/>
          <p:nvPr/>
        </p:nvSpPr>
        <p:spPr>
          <a:xfrm>
            <a:off x="4533833" y="5096841"/>
            <a:ext cx="14039996" cy="325848"/>
          </a:xfrm>
          <a:prstGeom prst="rect">
            <a:avLst/>
          </a:prstGeom>
          <a:noFill/>
          <a:ln/>
        </p:spPr>
        <p:txBody>
          <a:bodyPr wrap="square" lIns="25400" tIns="25400" rIns="25400" bIns="25400" rtlCol="0" anchor="t">
            <a:normAutofit/>
          </a:bodyPr>
          <a:lstStyle/>
          <a:p>
            <a:pPr marL="0" indent="0" algn="l">
              <a:buNone/>
            </a:pPr>
            <a:r>
              <a:rPr lang="en-US" sz="1875" b="1" kern="0" spc="150" dirty="0">
                <a:solidFill>
                  <a:srgbClr val="BFA06E"/>
                </a:solidFill>
                <a:latin typeface="Fira Sans" pitchFamily="34" charset="0"/>
                <a:ea typeface="Fira Sans" pitchFamily="34" charset="-122"/>
                <a:cs typeface="Fira Sans" pitchFamily="34" charset="-120"/>
              </a:rPr>
              <a:t>MECHANISM 03 / 04</a:t>
            </a:r>
            <a:endParaRPr lang="en-US" sz="1875" dirty="0"/>
          </a:p>
        </p:txBody>
      </p:sp>
      <p:sp>
        <p:nvSpPr>
          <p:cNvPr id="15" name="Text 12"/>
          <p:cNvSpPr/>
          <p:nvPr/>
        </p:nvSpPr>
        <p:spPr>
          <a:xfrm>
            <a:off x="4533833" y="5536956"/>
            <a:ext cx="14039996" cy="767062"/>
          </a:xfrm>
          <a:prstGeom prst="rect">
            <a:avLst/>
          </a:prstGeom>
          <a:noFill/>
          <a:ln/>
        </p:spPr>
        <p:txBody>
          <a:bodyPr wrap="square" lIns="25400" tIns="25400" rIns="25400" bIns="25400" rtlCol="0" anchor="t">
            <a:normAutofit/>
          </a:bodyPr>
          <a:lstStyle/>
          <a:p>
            <a:pPr marL="0" indent="0" algn="l">
              <a:buNone/>
            </a:pPr>
            <a:r>
              <a:rPr lang="en-US" sz="4800" b="1" kern="0" spc="-96" dirty="0">
                <a:solidFill>
                  <a:srgbClr val="2A2520"/>
                </a:solidFill>
                <a:latin typeface="Fira Sans" pitchFamily="34" charset="0"/>
                <a:ea typeface="Fira Sans" pitchFamily="34" charset="-122"/>
                <a:cs typeface="Fira Sans" pitchFamily="34" charset="-120"/>
              </a:rPr>
              <a:t>Inertia</a:t>
            </a:r>
            <a:endParaRPr lang="en-US" sz="4800" dirty="0"/>
          </a:p>
        </p:txBody>
      </p:sp>
      <p:sp>
        <p:nvSpPr>
          <p:cNvPr id="16" name="Shape 13"/>
          <p:cNvSpPr/>
          <p:nvPr/>
        </p:nvSpPr>
        <p:spPr>
          <a:xfrm>
            <a:off x="4533833" y="6513501"/>
            <a:ext cx="25578" cy="1371600"/>
          </a:xfrm>
          <a:prstGeom prst="rect">
            <a:avLst/>
          </a:prstGeom>
          <a:solidFill>
            <a:srgbClr val="2F6B7A"/>
          </a:solidFill>
          <a:ln/>
        </p:spPr>
        <p:txBody>
          <a:bodyPr/>
          <a:lstStyle/>
          <a:p>
            <a:endParaRPr lang="he-IL"/>
          </a:p>
        </p:txBody>
      </p:sp>
      <p:sp>
        <p:nvSpPr>
          <p:cNvPr id="17" name="Text 14"/>
          <p:cNvSpPr/>
          <p:nvPr/>
        </p:nvSpPr>
        <p:spPr>
          <a:xfrm>
            <a:off x="4788011" y="6513501"/>
            <a:ext cx="6024668" cy="1409700"/>
          </a:xfrm>
          <a:prstGeom prst="rect">
            <a:avLst/>
          </a:prstGeom>
          <a:noFill/>
          <a:ln/>
        </p:spPr>
        <p:txBody>
          <a:bodyPr wrap="square" lIns="25400" tIns="25400" rIns="25400" bIns="25400" rtlCol="0" anchor="t">
            <a:normAutofit/>
          </a:bodyPr>
          <a:lstStyle/>
          <a:p>
            <a:pPr marL="0" indent="0" algn="l">
              <a:lnSpc>
                <a:spcPct val="150000"/>
              </a:lnSpc>
              <a:buNone/>
            </a:pPr>
            <a:r>
              <a:rPr lang="en-US" sz="2400" dirty="0">
                <a:solidFill>
                  <a:srgbClr val="5A5347"/>
                </a:solidFill>
                <a:latin typeface="Fira Sans" pitchFamily="34" charset="0"/>
                <a:ea typeface="Fira Sans" pitchFamily="34" charset="-122"/>
                <a:cs typeface="Fira Sans" pitchFamily="34" charset="-120"/>
              </a:rPr>
              <a:t>A pull toward repeating the previous choice - the tendency to stay put rather than switch sides.</a:t>
            </a:r>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ECE0"/>
        </a:solidFill>
        <a:effectLst/>
      </p:bgPr>
    </p:bg>
    <p:spTree>
      <p:nvGrpSpPr>
        <p:cNvPr id="1" name=""/>
        <p:cNvGrpSpPr/>
        <p:nvPr/>
      </p:nvGrpSpPr>
      <p:grpSpPr>
        <a:xfrm>
          <a:off x="0" y="0"/>
          <a:ext cx="0" cy="0"/>
          <a:chOff x="0" y="0"/>
          <a:chExt cx="0" cy="0"/>
        </a:xfrm>
      </p:grpSpPr>
      <p:sp>
        <p:nvSpPr>
          <p:cNvPr id="2" name="Text 0"/>
          <p:cNvSpPr/>
          <p:nvPr/>
        </p:nvSpPr>
        <p:spPr>
          <a:xfrm>
            <a:off x="990533" y="914400"/>
            <a:ext cx="17937626" cy="325848"/>
          </a:xfrm>
          <a:prstGeom prst="rect">
            <a:avLst/>
          </a:prstGeom>
          <a:noFill/>
          <a:ln/>
        </p:spPr>
        <p:txBody>
          <a:bodyPr wrap="square" lIns="25400" tIns="25400" rIns="25400" bIns="25400" rtlCol="0" anchor="t">
            <a:normAutofit/>
          </a:bodyPr>
          <a:lstStyle/>
          <a:p>
            <a:pPr marL="0" indent="0" algn="l">
              <a:buNone/>
            </a:pPr>
            <a:r>
              <a:rPr lang="en-US" sz="1875" b="1" kern="0" spc="300" dirty="0">
                <a:solidFill>
                  <a:srgbClr val="B3402F"/>
                </a:solidFill>
                <a:latin typeface="Fira Sans" pitchFamily="34" charset="0"/>
                <a:ea typeface="Fira Sans" pitchFamily="34" charset="-122"/>
                <a:cs typeface="Fira Sans" pitchFamily="34" charset="-120"/>
              </a:rPr>
              <a:t>THE MODEL</a:t>
            </a:r>
            <a:endParaRPr lang="en-US" sz="1875" dirty="0"/>
          </a:p>
        </p:txBody>
      </p:sp>
      <p:sp>
        <p:nvSpPr>
          <p:cNvPr id="3" name="Text 1"/>
          <p:cNvSpPr/>
          <p:nvPr/>
        </p:nvSpPr>
        <p:spPr>
          <a:xfrm>
            <a:off x="990533" y="1335432"/>
            <a:ext cx="17937626" cy="582823"/>
          </a:xfrm>
          <a:prstGeom prst="rect">
            <a:avLst/>
          </a:prstGeom>
          <a:noFill/>
          <a:ln/>
        </p:spPr>
        <p:txBody>
          <a:bodyPr wrap="square" lIns="25400" tIns="25400" rIns="25400" bIns="25400" rtlCol="0" anchor="t">
            <a:normAutofit/>
          </a:bodyPr>
          <a:lstStyle/>
          <a:p>
            <a:pPr marL="0" indent="0" algn="l">
              <a:lnSpc>
                <a:spcPct val="110000"/>
              </a:lnSpc>
              <a:buNone/>
            </a:pPr>
            <a:r>
              <a:rPr lang="en-US" sz="3900" b="1" kern="0" spc="-58" dirty="0">
                <a:solidFill>
                  <a:srgbClr val="2A2520"/>
                </a:solidFill>
                <a:latin typeface="Fira Sans" pitchFamily="34" charset="0"/>
                <a:ea typeface="Fira Sans" pitchFamily="34" charset="-122"/>
                <a:cs typeface="Fira Sans" pitchFamily="34" charset="-120"/>
              </a:rPr>
              <a:t>The four mechanisms of CATIE</a:t>
            </a:r>
            <a:endParaRPr lang="en-US" sz="3900" dirty="0"/>
          </a:p>
        </p:txBody>
      </p:sp>
      <p:sp>
        <p:nvSpPr>
          <p:cNvPr id="4" name="Shape 2"/>
          <p:cNvSpPr/>
          <p:nvPr/>
        </p:nvSpPr>
        <p:spPr>
          <a:xfrm>
            <a:off x="990533" y="2261122"/>
            <a:ext cx="2590034" cy="529137"/>
          </a:xfrm>
          <a:prstGeom prst="roundRect">
            <a:avLst>
              <a:gd name="adj" fmla="val 50000"/>
            </a:avLst>
          </a:prstGeom>
          <a:solidFill>
            <a:srgbClr val="FBF8F2"/>
          </a:solidFill>
          <a:ln w="6394">
            <a:solidFill>
              <a:srgbClr val="E4DBC9"/>
            </a:solidFill>
            <a:prstDash val="solid"/>
          </a:ln>
        </p:spPr>
        <p:txBody>
          <a:bodyPr/>
          <a:lstStyle/>
          <a:p>
            <a:endParaRPr lang="he-IL"/>
          </a:p>
        </p:txBody>
      </p:sp>
      <p:sp>
        <p:nvSpPr>
          <p:cNvPr id="5" name="Text 3"/>
          <p:cNvSpPr/>
          <p:nvPr/>
        </p:nvSpPr>
        <p:spPr>
          <a:xfrm>
            <a:off x="1225528" y="2381816"/>
            <a:ext cx="2197746" cy="325848"/>
          </a:xfrm>
          <a:prstGeom prst="rect">
            <a:avLst/>
          </a:prstGeom>
          <a:noFill/>
          <a:ln/>
        </p:spPr>
        <p:txBody>
          <a:bodyPr wrap="none" lIns="25400" tIns="25400" rIns="25400" bIns="25400" rtlCol="0" anchor="t">
            <a:normAutofit/>
          </a:bodyPr>
          <a:lstStyle/>
          <a:p>
            <a:pPr marL="0" indent="0" algn="l">
              <a:buNone/>
            </a:pPr>
            <a:r>
              <a:rPr lang="en-US" sz="1875" b="1" dirty="0">
                <a:solidFill>
                  <a:srgbClr val="897F6E"/>
                </a:solidFill>
                <a:latin typeface="Fira Sans" pitchFamily="34" charset="0"/>
                <a:ea typeface="Fira Sans" pitchFamily="34" charset="-122"/>
                <a:cs typeface="Fira Sans" pitchFamily="34" charset="-120"/>
              </a:rPr>
              <a:t>Cumulative average</a:t>
            </a:r>
            <a:endParaRPr lang="en-US" sz="1875" dirty="0"/>
          </a:p>
        </p:txBody>
      </p:sp>
      <p:sp>
        <p:nvSpPr>
          <p:cNvPr id="6" name="Shape 4"/>
          <p:cNvSpPr/>
          <p:nvPr/>
        </p:nvSpPr>
        <p:spPr>
          <a:xfrm>
            <a:off x="3713851" y="2261122"/>
            <a:ext cx="1089047" cy="529137"/>
          </a:xfrm>
          <a:prstGeom prst="roundRect">
            <a:avLst>
              <a:gd name="adj" fmla="val 50000"/>
            </a:avLst>
          </a:prstGeom>
          <a:solidFill>
            <a:srgbClr val="FBF8F2"/>
          </a:solidFill>
          <a:ln w="6394">
            <a:solidFill>
              <a:srgbClr val="E4DBC9"/>
            </a:solidFill>
            <a:prstDash val="solid"/>
          </a:ln>
        </p:spPr>
        <p:txBody>
          <a:bodyPr/>
          <a:lstStyle/>
          <a:p>
            <a:endParaRPr lang="he-IL"/>
          </a:p>
        </p:txBody>
      </p:sp>
      <p:sp>
        <p:nvSpPr>
          <p:cNvPr id="7" name="Text 5"/>
          <p:cNvSpPr/>
          <p:nvPr/>
        </p:nvSpPr>
        <p:spPr>
          <a:xfrm>
            <a:off x="3948845" y="2381816"/>
            <a:ext cx="695258" cy="325848"/>
          </a:xfrm>
          <a:prstGeom prst="rect">
            <a:avLst/>
          </a:prstGeom>
          <a:noFill/>
          <a:ln/>
        </p:spPr>
        <p:txBody>
          <a:bodyPr wrap="none" lIns="25400" tIns="25400" rIns="25400" bIns="25400" rtlCol="0" anchor="t">
            <a:normAutofit/>
          </a:bodyPr>
          <a:lstStyle/>
          <a:p>
            <a:pPr marL="0" indent="0" algn="l">
              <a:buNone/>
            </a:pPr>
            <a:r>
              <a:rPr lang="en-US" sz="1875" b="1" dirty="0">
                <a:solidFill>
                  <a:srgbClr val="897F6E"/>
                </a:solidFill>
                <a:latin typeface="Fira Sans" pitchFamily="34" charset="0"/>
                <a:ea typeface="Fira Sans" pitchFamily="34" charset="-122"/>
                <a:cs typeface="Fira Sans" pitchFamily="34" charset="-120"/>
              </a:rPr>
              <a:t>Trend</a:t>
            </a:r>
            <a:endParaRPr lang="en-US" sz="1875" dirty="0"/>
          </a:p>
        </p:txBody>
      </p:sp>
      <p:sp>
        <p:nvSpPr>
          <p:cNvPr id="8" name="Shape 6"/>
          <p:cNvSpPr/>
          <p:nvPr/>
        </p:nvSpPr>
        <p:spPr>
          <a:xfrm>
            <a:off x="4936181" y="2261122"/>
            <a:ext cx="1191358" cy="529137"/>
          </a:xfrm>
          <a:prstGeom prst="roundRect">
            <a:avLst>
              <a:gd name="adj" fmla="val 50000"/>
            </a:avLst>
          </a:prstGeom>
          <a:solidFill>
            <a:srgbClr val="FBF8F2"/>
          </a:solidFill>
          <a:ln w="6394">
            <a:solidFill>
              <a:srgbClr val="E4DBC9"/>
            </a:solidFill>
            <a:prstDash val="solid"/>
          </a:ln>
        </p:spPr>
        <p:txBody>
          <a:bodyPr/>
          <a:lstStyle/>
          <a:p>
            <a:endParaRPr lang="he-IL"/>
          </a:p>
        </p:txBody>
      </p:sp>
      <p:sp>
        <p:nvSpPr>
          <p:cNvPr id="9" name="Text 7"/>
          <p:cNvSpPr/>
          <p:nvPr/>
        </p:nvSpPr>
        <p:spPr>
          <a:xfrm>
            <a:off x="5171176" y="2381816"/>
            <a:ext cx="797569" cy="325848"/>
          </a:xfrm>
          <a:prstGeom prst="rect">
            <a:avLst/>
          </a:prstGeom>
          <a:noFill/>
          <a:ln/>
        </p:spPr>
        <p:txBody>
          <a:bodyPr wrap="none" lIns="25400" tIns="25400" rIns="25400" bIns="25400" rtlCol="0" anchor="t">
            <a:normAutofit/>
          </a:bodyPr>
          <a:lstStyle/>
          <a:p>
            <a:pPr marL="0" indent="0" algn="l">
              <a:buNone/>
            </a:pPr>
            <a:r>
              <a:rPr lang="en-US" sz="1875" b="1" dirty="0">
                <a:solidFill>
                  <a:srgbClr val="897F6E"/>
                </a:solidFill>
                <a:latin typeface="Fira Sans" pitchFamily="34" charset="0"/>
                <a:ea typeface="Fira Sans" pitchFamily="34" charset="-122"/>
                <a:cs typeface="Fira Sans" pitchFamily="34" charset="-120"/>
              </a:rPr>
              <a:t>Inertia</a:t>
            </a:r>
            <a:endParaRPr lang="en-US" sz="1875" dirty="0"/>
          </a:p>
        </p:txBody>
      </p:sp>
      <p:sp>
        <p:nvSpPr>
          <p:cNvPr id="10" name="Shape 8"/>
          <p:cNvSpPr/>
          <p:nvPr/>
        </p:nvSpPr>
        <p:spPr>
          <a:xfrm>
            <a:off x="6260822" y="2261122"/>
            <a:ext cx="1716998" cy="529137"/>
          </a:xfrm>
          <a:prstGeom prst="roundRect">
            <a:avLst>
              <a:gd name="adj" fmla="val 50000"/>
            </a:avLst>
          </a:prstGeom>
          <a:solidFill>
            <a:srgbClr val="B3402F"/>
          </a:solidFill>
          <a:ln w="6394">
            <a:solidFill>
              <a:srgbClr val="B3402F"/>
            </a:solidFill>
            <a:prstDash val="solid"/>
          </a:ln>
        </p:spPr>
        <p:txBody>
          <a:bodyPr/>
          <a:lstStyle/>
          <a:p>
            <a:endParaRPr lang="he-IL"/>
          </a:p>
        </p:txBody>
      </p:sp>
      <p:sp>
        <p:nvSpPr>
          <p:cNvPr id="11" name="Text 9"/>
          <p:cNvSpPr/>
          <p:nvPr/>
        </p:nvSpPr>
        <p:spPr>
          <a:xfrm>
            <a:off x="6495817" y="2381816"/>
            <a:ext cx="1323209" cy="325848"/>
          </a:xfrm>
          <a:prstGeom prst="rect">
            <a:avLst/>
          </a:prstGeom>
          <a:noFill/>
          <a:ln/>
        </p:spPr>
        <p:txBody>
          <a:bodyPr wrap="none" lIns="25400" tIns="25400" rIns="25400" bIns="25400" rtlCol="0" anchor="t">
            <a:normAutofit/>
          </a:bodyPr>
          <a:lstStyle/>
          <a:p>
            <a:pPr marL="0" indent="0" algn="l">
              <a:buNone/>
            </a:pPr>
            <a:r>
              <a:rPr lang="en-US" sz="1875" b="1" dirty="0">
                <a:solidFill>
                  <a:srgbClr val="FFFFFF"/>
                </a:solidFill>
                <a:latin typeface="Fira Sans" pitchFamily="34" charset="0"/>
                <a:ea typeface="Fira Sans" pitchFamily="34" charset="-122"/>
                <a:cs typeface="Fira Sans" pitchFamily="34" charset="-120"/>
              </a:rPr>
              <a:t>Exploration</a:t>
            </a:r>
            <a:endParaRPr lang="en-US" sz="1875" dirty="0"/>
          </a:p>
        </p:txBody>
      </p:sp>
      <p:sp>
        <p:nvSpPr>
          <p:cNvPr id="12" name="Shape 10"/>
          <p:cNvSpPr/>
          <p:nvPr/>
        </p:nvSpPr>
        <p:spPr>
          <a:xfrm>
            <a:off x="990533" y="5062171"/>
            <a:ext cx="2857500" cy="2857500"/>
          </a:xfrm>
          <a:prstGeom prst="roundRect">
            <a:avLst>
              <a:gd name="adj" fmla="val 9333"/>
            </a:avLst>
          </a:prstGeom>
          <a:solidFill>
            <a:srgbClr val="E6EEF0"/>
          </a:solidFill>
          <a:ln w="6394">
            <a:solidFill>
              <a:srgbClr val="CFE0E3"/>
            </a:solidFill>
            <a:prstDash val="solid"/>
          </a:ln>
          <a:effectLst>
            <a:outerShdw blurRad="266700" dist="57150" dir="5400000" algn="bl" rotWithShape="0">
              <a:srgbClr val="463723">
                <a:alpha val="5000"/>
              </a:srgbClr>
            </a:outerShdw>
          </a:effectLst>
        </p:spPr>
        <p:txBody>
          <a:bodyPr/>
          <a:lstStyle/>
          <a:p>
            <a:endParaRPr lang="he-IL"/>
          </a:p>
        </p:txBody>
      </p:sp>
      <p:pic>
        <p:nvPicPr>
          <p:cNvPr id="1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09692" y="5776546"/>
            <a:ext cx="1619183" cy="1428750"/>
          </a:xfrm>
          <a:prstGeom prst="rect">
            <a:avLst/>
          </a:prstGeom>
        </p:spPr>
      </p:pic>
      <p:sp>
        <p:nvSpPr>
          <p:cNvPr id="14" name="Text 11"/>
          <p:cNvSpPr/>
          <p:nvPr/>
        </p:nvSpPr>
        <p:spPr>
          <a:xfrm>
            <a:off x="4533833" y="5096841"/>
            <a:ext cx="14039996" cy="325848"/>
          </a:xfrm>
          <a:prstGeom prst="rect">
            <a:avLst/>
          </a:prstGeom>
          <a:noFill/>
          <a:ln/>
        </p:spPr>
        <p:txBody>
          <a:bodyPr wrap="square" lIns="25400" tIns="25400" rIns="25400" bIns="25400" rtlCol="0" anchor="t">
            <a:normAutofit/>
          </a:bodyPr>
          <a:lstStyle/>
          <a:p>
            <a:pPr marL="0" indent="0" algn="l">
              <a:buNone/>
            </a:pPr>
            <a:r>
              <a:rPr lang="en-US" sz="1875" b="1" kern="0" spc="150" dirty="0">
                <a:solidFill>
                  <a:srgbClr val="BFA06E"/>
                </a:solidFill>
                <a:latin typeface="Fira Sans" pitchFamily="34" charset="0"/>
                <a:ea typeface="Fira Sans" pitchFamily="34" charset="-122"/>
                <a:cs typeface="Fira Sans" pitchFamily="34" charset="-120"/>
              </a:rPr>
              <a:t>MECHANISM 04 / 04</a:t>
            </a:r>
            <a:endParaRPr lang="en-US" sz="1875" dirty="0"/>
          </a:p>
        </p:txBody>
      </p:sp>
      <p:sp>
        <p:nvSpPr>
          <p:cNvPr id="15" name="Text 12"/>
          <p:cNvSpPr/>
          <p:nvPr/>
        </p:nvSpPr>
        <p:spPr>
          <a:xfrm>
            <a:off x="4533833" y="5536956"/>
            <a:ext cx="14039996" cy="767062"/>
          </a:xfrm>
          <a:prstGeom prst="rect">
            <a:avLst/>
          </a:prstGeom>
          <a:noFill/>
          <a:ln/>
        </p:spPr>
        <p:txBody>
          <a:bodyPr wrap="square" lIns="25400" tIns="25400" rIns="25400" bIns="25400" rtlCol="0" anchor="t">
            <a:normAutofit/>
          </a:bodyPr>
          <a:lstStyle/>
          <a:p>
            <a:pPr marL="0" indent="0" algn="l">
              <a:buNone/>
            </a:pPr>
            <a:r>
              <a:rPr lang="en-US" sz="4800" b="1" kern="0" spc="-96" dirty="0">
                <a:solidFill>
                  <a:srgbClr val="2A2520"/>
                </a:solidFill>
                <a:latin typeface="Fira Sans" pitchFamily="34" charset="0"/>
                <a:ea typeface="Fira Sans" pitchFamily="34" charset="-122"/>
                <a:cs typeface="Fira Sans" pitchFamily="34" charset="-120"/>
              </a:rPr>
              <a:t>Exploration</a:t>
            </a:r>
            <a:endParaRPr lang="en-US" sz="4800" dirty="0"/>
          </a:p>
        </p:txBody>
      </p:sp>
      <p:sp>
        <p:nvSpPr>
          <p:cNvPr id="16" name="Shape 13"/>
          <p:cNvSpPr/>
          <p:nvPr/>
        </p:nvSpPr>
        <p:spPr>
          <a:xfrm>
            <a:off x="4533833" y="6513501"/>
            <a:ext cx="25578" cy="1371600"/>
          </a:xfrm>
          <a:prstGeom prst="rect">
            <a:avLst/>
          </a:prstGeom>
          <a:solidFill>
            <a:srgbClr val="2F6B7A"/>
          </a:solidFill>
          <a:ln/>
        </p:spPr>
        <p:txBody>
          <a:bodyPr/>
          <a:lstStyle/>
          <a:p>
            <a:endParaRPr lang="he-IL"/>
          </a:p>
        </p:txBody>
      </p:sp>
      <p:sp>
        <p:nvSpPr>
          <p:cNvPr id="17" name="Text 14"/>
          <p:cNvSpPr/>
          <p:nvPr/>
        </p:nvSpPr>
        <p:spPr>
          <a:xfrm>
            <a:off x="4788011" y="6513501"/>
            <a:ext cx="6024668" cy="1409700"/>
          </a:xfrm>
          <a:prstGeom prst="rect">
            <a:avLst/>
          </a:prstGeom>
          <a:noFill/>
          <a:ln/>
        </p:spPr>
        <p:txBody>
          <a:bodyPr wrap="square" lIns="25400" tIns="25400" rIns="25400" bIns="25400" rtlCol="0" anchor="t">
            <a:normAutofit/>
          </a:bodyPr>
          <a:lstStyle/>
          <a:p>
            <a:pPr marL="0" indent="0" algn="l">
              <a:lnSpc>
                <a:spcPct val="150000"/>
              </a:lnSpc>
              <a:buNone/>
            </a:pPr>
            <a:r>
              <a:rPr lang="en-US" sz="2400" dirty="0">
                <a:solidFill>
                  <a:srgbClr val="5A5347"/>
                </a:solidFill>
                <a:latin typeface="Fira Sans" pitchFamily="34" charset="0"/>
                <a:ea typeface="Fira Sans" pitchFamily="34" charset="-122"/>
                <a:cs typeface="Fira Sans" pitchFamily="34" charset="-120"/>
              </a:rPr>
              <a:t>Occasional, deliberate deviation from the favored option - sampling the alternative to keep learning.</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ECE0"/>
        </a:solidFill>
        <a:effectLst/>
      </p:bgPr>
    </p:bg>
    <p:spTree>
      <p:nvGrpSpPr>
        <p:cNvPr id="1" name=""/>
        <p:cNvGrpSpPr/>
        <p:nvPr/>
      </p:nvGrpSpPr>
      <p:grpSpPr>
        <a:xfrm>
          <a:off x="0" y="0"/>
          <a:ext cx="0" cy="0"/>
          <a:chOff x="0" y="0"/>
          <a:chExt cx="0" cy="0"/>
        </a:xfrm>
      </p:grpSpPr>
      <p:sp>
        <p:nvSpPr>
          <p:cNvPr id="2" name="Text 0"/>
          <p:cNvSpPr/>
          <p:nvPr/>
        </p:nvSpPr>
        <p:spPr>
          <a:xfrm>
            <a:off x="990533" y="914400"/>
            <a:ext cx="3694088" cy="325848"/>
          </a:xfrm>
          <a:prstGeom prst="rect">
            <a:avLst/>
          </a:prstGeom>
          <a:noFill/>
          <a:ln/>
        </p:spPr>
        <p:txBody>
          <a:bodyPr wrap="square" lIns="25400" tIns="25400" rIns="25400" bIns="25400" rtlCol="0" anchor="t">
            <a:normAutofit/>
          </a:bodyPr>
          <a:lstStyle/>
          <a:p>
            <a:pPr marL="0" indent="0" algn="l">
              <a:buNone/>
            </a:pPr>
            <a:r>
              <a:rPr lang="en-US" sz="1875" b="1" kern="0" spc="300" dirty="0">
                <a:solidFill>
                  <a:srgbClr val="B3402F"/>
                </a:solidFill>
                <a:latin typeface="Fira Sans" pitchFamily="34" charset="0"/>
                <a:ea typeface="Fira Sans" pitchFamily="34" charset="-122"/>
                <a:cs typeface="Fira Sans" pitchFamily="34" charset="-120"/>
              </a:rPr>
              <a:t>DEFINING THE METRIC</a:t>
            </a:r>
            <a:endParaRPr lang="en-US" sz="1875" dirty="0"/>
          </a:p>
        </p:txBody>
      </p:sp>
      <p:sp>
        <p:nvSpPr>
          <p:cNvPr id="3" name="Text 1"/>
          <p:cNvSpPr/>
          <p:nvPr/>
        </p:nvSpPr>
        <p:spPr>
          <a:xfrm>
            <a:off x="990533" y="1335432"/>
            <a:ext cx="3694088" cy="582823"/>
          </a:xfrm>
          <a:prstGeom prst="rect">
            <a:avLst/>
          </a:prstGeom>
          <a:noFill/>
          <a:ln/>
        </p:spPr>
        <p:txBody>
          <a:bodyPr wrap="square" lIns="25400" tIns="25400" rIns="25400" bIns="25400" rtlCol="0" anchor="t">
            <a:normAutofit/>
          </a:bodyPr>
          <a:lstStyle/>
          <a:p>
            <a:pPr marL="0" indent="0" algn="l">
              <a:lnSpc>
                <a:spcPct val="110000"/>
              </a:lnSpc>
              <a:buNone/>
            </a:pPr>
            <a:r>
              <a:rPr lang="en-US" sz="3900" b="1" kern="0" spc="-58" dirty="0">
                <a:solidFill>
                  <a:srgbClr val="2A2520"/>
                </a:solidFill>
                <a:latin typeface="Fira Sans" pitchFamily="34" charset="0"/>
                <a:ea typeface="Fira Sans" pitchFamily="34" charset="-122"/>
                <a:cs typeface="Fira Sans" pitchFamily="34" charset="-120"/>
              </a:rPr>
              <a:t>Surprise points</a:t>
            </a:r>
            <a:endParaRPr lang="en-US" sz="3900" dirty="0"/>
          </a:p>
        </p:txBody>
      </p:sp>
      <p:sp>
        <p:nvSpPr>
          <p:cNvPr id="4" name="Text 2"/>
          <p:cNvSpPr/>
          <p:nvPr/>
        </p:nvSpPr>
        <p:spPr>
          <a:xfrm>
            <a:off x="990533" y="3357463"/>
            <a:ext cx="6109147" cy="1323975"/>
          </a:xfrm>
          <a:prstGeom prst="rect">
            <a:avLst/>
          </a:prstGeom>
          <a:noFill/>
          <a:ln/>
        </p:spPr>
        <p:txBody>
          <a:bodyPr wrap="square" lIns="25400" tIns="25400" rIns="25400" bIns="25400" rtlCol="0" anchor="t">
            <a:normAutofit/>
          </a:bodyPr>
          <a:lstStyle/>
          <a:p>
            <a:pPr marL="0" indent="0" algn="l">
              <a:lnSpc>
                <a:spcPct val="150000"/>
              </a:lnSpc>
              <a:buNone/>
            </a:pPr>
            <a:r>
              <a:rPr lang="en-US" sz="2250" dirty="0">
                <a:solidFill>
                  <a:srgbClr val="5A5347"/>
                </a:solidFill>
                <a:latin typeface="Fira Sans" pitchFamily="34" charset="0"/>
                <a:ea typeface="Fira Sans" pitchFamily="34" charset="-122"/>
                <a:cs typeface="Fira Sans" pitchFamily="34" charset="-120"/>
              </a:rPr>
              <a:t>A </a:t>
            </a:r>
            <a:r>
              <a:rPr lang="en-US" sz="2250" b="1" dirty="0">
                <a:solidFill>
                  <a:srgbClr val="2A2520"/>
                </a:solidFill>
                <a:latin typeface="Fira Sans" pitchFamily="34" charset="0"/>
                <a:ea typeface="Fira Sans" pitchFamily="34" charset="-122"/>
                <a:cs typeface="Fira Sans" pitchFamily="34" charset="-120"/>
              </a:rPr>
              <a:t>surprise point: </a:t>
            </a:r>
            <a:r>
              <a:rPr lang="en-US" sz="2250" dirty="0">
                <a:solidFill>
                  <a:srgbClr val="5A5347"/>
                </a:solidFill>
                <a:latin typeface="Fira Sans" pitchFamily="34" charset="0"/>
                <a:ea typeface="Fira Sans" pitchFamily="34" charset="-122"/>
                <a:cs typeface="Fira Sans" pitchFamily="34" charset="-120"/>
              </a:rPr>
              <a:t>a trial where CATIE assigned </a:t>
            </a:r>
            <a:r>
              <a:rPr lang="en-US" sz="2250" b="1" dirty="0">
                <a:solidFill>
                  <a:srgbClr val="B3402F"/>
                </a:solidFill>
                <a:latin typeface="Fira Sans" pitchFamily="34" charset="0"/>
                <a:ea typeface="Fira Sans" pitchFamily="34" charset="-122"/>
                <a:cs typeface="Fira Sans" pitchFamily="34" charset="-120"/>
              </a:rPr>
              <a:t>p &lt; 0.15 </a:t>
            </a:r>
            <a:r>
              <a:rPr lang="en-US" sz="2250" dirty="0">
                <a:solidFill>
                  <a:srgbClr val="5A5347"/>
                </a:solidFill>
                <a:latin typeface="Fira Sans" pitchFamily="34" charset="0"/>
                <a:ea typeface="Fira Sans" pitchFamily="34" charset="-122"/>
                <a:cs typeface="Fira Sans" pitchFamily="34" charset="-120"/>
              </a:rPr>
              <a:t>to the choice the participant actually made</a:t>
            </a:r>
            <a:endParaRPr lang="en-US" sz="2250" dirty="0"/>
          </a:p>
        </p:txBody>
      </p:sp>
      <p:sp>
        <p:nvSpPr>
          <p:cNvPr id="5" name="Text 3"/>
          <p:cNvSpPr/>
          <p:nvPr/>
        </p:nvSpPr>
        <p:spPr>
          <a:xfrm>
            <a:off x="990533" y="4948071"/>
            <a:ext cx="2483607" cy="990966"/>
          </a:xfrm>
          <a:prstGeom prst="rect">
            <a:avLst/>
          </a:prstGeom>
          <a:noFill/>
          <a:ln/>
        </p:spPr>
        <p:txBody>
          <a:bodyPr wrap="square" lIns="25400" tIns="25400" rIns="25400" bIns="25400" rtlCol="0" anchor="t">
            <a:normAutofit/>
          </a:bodyPr>
          <a:lstStyle/>
          <a:p>
            <a:pPr marL="0" indent="0" algn="l">
              <a:lnSpc>
                <a:spcPct val="82000"/>
              </a:lnSpc>
              <a:buNone/>
            </a:pPr>
            <a:r>
              <a:rPr lang="en-US" sz="9150" b="1" kern="0" spc="-183" dirty="0">
                <a:solidFill>
                  <a:srgbClr val="B3402F"/>
                </a:solidFill>
                <a:latin typeface="Fira Sans" pitchFamily="34" charset="0"/>
                <a:ea typeface="Fira Sans" pitchFamily="34" charset="-122"/>
                <a:cs typeface="Fira Sans" pitchFamily="34" charset="-120"/>
              </a:rPr>
              <a:t>9.1%</a:t>
            </a:r>
            <a:endParaRPr lang="en-US" sz="9150" dirty="0"/>
          </a:p>
        </p:txBody>
      </p:sp>
      <p:sp>
        <p:nvSpPr>
          <p:cNvPr id="6" name="Text 4"/>
          <p:cNvSpPr/>
          <p:nvPr/>
        </p:nvSpPr>
        <p:spPr>
          <a:xfrm>
            <a:off x="3419808" y="5568328"/>
            <a:ext cx="1390174" cy="351426"/>
          </a:xfrm>
          <a:prstGeom prst="rect">
            <a:avLst/>
          </a:prstGeom>
          <a:noFill/>
          <a:ln/>
        </p:spPr>
        <p:txBody>
          <a:bodyPr wrap="square" lIns="25400" tIns="25400" rIns="25400" bIns="25400" rtlCol="0" anchor="t">
            <a:normAutofit/>
          </a:bodyPr>
          <a:lstStyle/>
          <a:p>
            <a:pPr marL="0" indent="0" algn="l">
              <a:buNone/>
            </a:pPr>
            <a:r>
              <a:rPr lang="en-US" sz="2025" dirty="0">
                <a:solidFill>
                  <a:srgbClr val="897F6E"/>
                </a:solidFill>
                <a:latin typeface="Fira Sans" pitchFamily="34" charset="0"/>
                <a:ea typeface="Fira Sans" pitchFamily="34" charset="-122"/>
                <a:cs typeface="Fira Sans" pitchFamily="34" charset="-120"/>
              </a:rPr>
              <a:t>of all trials</a:t>
            </a:r>
            <a:endParaRPr lang="en-US" sz="2025" dirty="0"/>
          </a:p>
        </p:txBody>
      </p:sp>
      <p:sp>
        <p:nvSpPr>
          <p:cNvPr id="7" name="Text 5"/>
          <p:cNvSpPr/>
          <p:nvPr/>
        </p:nvSpPr>
        <p:spPr>
          <a:xfrm>
            <a:off x="990533" y="6053304"/>
            <a:ext cx="6524332" cy="332243"/>
          </a:xfrm>
          <a:prstGeom prst="rect">
            <a:avLst/>
          </a:prstGeom>
          <a:noFill/>
          <a:ln/>
        </p:spPr>
        <p:txBody>
          <a:bodyPr wrap="square" lIns="25400" tIns="25400" rIns="25400" bIns="25400" rtlCol="0" anchor="t">
            <a:normAutofit/>
          </a:bodyPr>
          <a:lstStyle/>
          <a:p>
            <a:pPr marL="0" indent="0" algn="l">
              <a:buNone/>
            </a:pPr>
            <a:r>
              <a:rPr lang="en-US" sz="1950" dirty="0">
                <a:solidFill>
                  <a:srgbClr val="897F6E"/>
                </a:solidFill>
                <a:latin typeface="Fira Sans" pitchFamily="34" charset="0"/>
                <a:ea typeface="Fira Sans" pitchFamily="34" charset="-122"/>
                <a:cs typeface="Fira Sans" pitchFamily="34" charset="-120"/>
              </a:rPr>
              <a:t>4,454 surprise points out of 49,200 (in the EDA set)</a:t>
            </a:r>
            <a:endParaRPr lang="en-US" sz="1950" dirty="0"/>
          </a:p>
        </p:txBody>
      </p:sp>
      <p:sp>
        <p:nvSpPr>
          <p:cNvPr id="8" name="Shape 6"/>
          <p:cNvSpPr/>
          <p:nvPr/>
        </p:nvSpPr>
        <p:spPr>
          <a:xfrm>
            <a:off x="990533" y="6671263"/>
            <a:ext cx="25578" cy="1928813"/>
          </a:xfrm>
          <a:prstGeom prst="rect">
            <a:avLst/>
          </a:prstGeom>
          <a:solidFill>
            <a:srgbClr val="B3402F"/>
          </a:solidFill>
          <a:ln/>
        </p:spPr>
        <p:txBody>
          <a:bodyPr/>
          <a:lstStyle/>
          <a:p>
            <a:endParaRPr lang="he-IL"/>
          </a:p>
        </p:txBody>
      </p:sp>
      <p:sp>
        <p:nvSpPr>
          <p:cNvPr id="9" name="Text 7"/>
          <p:cNvSpPr/>
          <p:nvPr/>
        </p:nvSpPr>
        <p:spPr>
          <a:xfrm>
            <a:off x="1225661" y="6671263"/>
            <a:ext cx="5874019" cy="1966912"/>
          </a:xfrm>
          <a:prstGeom prst="rect">
            <a:avLst/>
          </a:prstGeom>
          <a:noFill/>
          <a:ln/>
        </p:spPr>
        <p:txBody>
          <a:bodyPr wrap="square" lIns="25400" tIns="25400" rIns="25400" bIns="25400" rtlCol="0" anchor="t">
            <a:normAutofit/>
          </a:bodyPr>
          <a:lstStyle/>
          <a:p>
            <a:pPr marL="0" indent="0" algn="l">
              <a:lnSpc>
                <a:spcPct val="150000"/>
              </a:lnSpc>
              <a:buNone/>
            </a:pPr>
            <a:r>
              <a:rPr lang="en-US" sz="2025" dirty="0">
                <a:solidFill>
                  <a:srgbClr val="2A2520"/>
                </a:solidFill>
                <a:latin typeface="Fira Sans" pitchFamily="34" charset="0"/>
                <a:ea typeface="Fira Sans" pitchFamily="34" charset="-122"/>
                <a:cs typeface="Fira Sans" pitchFamily="34" charset="-120"/>
              </a:rPr>
              <a:t>CATIE won on </a:t>
            </a:r>
            <a:r>
              <a:rPr lang="en-US" sz="2025" b="1" dirty="0">
                <a:solidFill>
                  <a:srgbClr val="2A2520"/>
                </a:solidFill>
                <a:latin typeface="Fira Sans" pitchFamily="34" charset="0"/>
                <a:ea typeface="Fira Sans" pitchFamily="34" charset="-122"/>
                <a:cs typeface="Fira Sans" pitchFamily="34" charset="-120"/>
              </a:rPr>
              <a:t>E(P) </a:t>
            </a:r>
            <a:r>
              <a:rPr lang="en-US" sz="2025" dirty="0">
                <a:solidFill>
                  <a:srgbClr val="2A2520"/>
                </a:solidFill>
                <a:latin typeface="Fira Sans" pitchFamily="34" charset="0"/>
                <a:ea typeface="Fira Sans" pitchFamily="34" charset="-122"/>
                <a:cs typeface="Fira Sans" pitchFamily="34" charset="-120"/>
              </a:rPr>
              <a:t>but lost to Q-Learning on </a:t>
            </a:r>
            <a:r>
              <a:rPr lang="en-US" sz="2025" b="1" dirty="0">
                <a:solidFill>
                  <a:srgbClr val="2A2520"/>
                </a:solidFill>
                <a:latin typeface="Fira Sans" pitchFamily="34" charset="0"/>
                <a:ea typeface="Fira Sans" pitchFamily="34" charset="-122"/>
                <a:cs typeface="Fira Sans" pitchFamily="34" charset="-120"/>
              </a:rPr>
              <a:t>E(log P)</a:t>
            </a:r>
            <a:r>
              <a:rPr lang="en-US" sz="2025" dirty="0">
                <a:solidFill>
                  <a:srgbClr val="2A2520"/>
                </a:solidFill>
                <a:latin typeface="Fira Sans" pitchFamily="34" charset="0"/>
                <a:ea typeface="Fira Sans" pitchFamily="34" charset="-122"/>
                <a:cs typeface="Fira Sans" pitchFamily="34" charset="-120"/>
              </a:rPr>
              <a:t>, penalized by “ </a:t>
            </a:r>
            <a:r>
              <a:rPr lang="en-US" sz="2025" i="1" dirty="0">
                <a:solidFill>
                  <a:srgbClr val="2A2520"/>
                </a:solidFill>
                <a:latin typeface="Fira Sans" pitchFamily="34" charset="0"/>
                <a:ea typeface="Fira Sans" pitchFamily="34" charset="-122"/>
                <a:cs typeface="Fira Sans" pitchFamily="34" charset="-120"/>
              </a:rPr>
              <a:t>a relatively large fraction of actions to which the model assigned a relatively small probability </a:t>
            </a:r>
            <a:r>
              <a:rPr lang="en-US" sz="2025" dirty="0">
                <a:solidFill>
                  <a:srgbClr val="2A2520"/>
                </a:solidFill>
                <a:latin typeface="Fira Sans" pitchFamily="34" charset="0"/>
                <a:ea typeface="Fira Sans" pitchFamily="34" charset="-122"/>
                <a:cs typeface="Fira Sans" pitchFamily="34" charset="-120"/>
              </a:rPr>
              <a:t>.” Those are the surprise points we investigate.</a:t>
            </a:r>
            <a:endParaRPr lang="en-US" sz="2025" dirty="0"/>
          </a:p>
        </p:txBody>
      </p:sp>
      <p:sp>
        <p:nvSpPr>
          <p:cNvPr id="10" name="Shape 8"/>
          <p:cNvSpPr/>
          <p:nvPr/>
        </p:nvSpPr>
        <p:spPr>
          <a:xfrm>
            <a:off x="7436094" y="2359236"/>
            <a:ext cx="9861372" cy="7238967"/>
          </a:xfrm>
          <a:prstGeom prst="roundRect">
            <a:avLst>
              <a:gd name="adj" fmla="val 2368"/>
            </a:avLst>
          </a:prstGeom>
          <a:solidFill>
            <a:srgbClr val="FBF8F2"/>
          </a:solidFill>
          <a:ln w="6394">
            <a:solidFill>
              <a:srgbClr val="E4DBC9"/>
            </a:solidFill>
            <a:prstDash val="solid"/>
          </a:ln>
          <a:effectLst>
            <a:outerShdw blurRad="266700" dist="57150" dir="5400000" algn="bl" rotWithShape="0">
              <a:srgbClr val="463723">
                <a:alpha val="5000"/>
              </a:srgbClr>
            </a:outerShdw>
          </a:effectLst>
        </p:spPr>
        <p:txBody>
          <a:bodyPr/>
          <a:lstStyle/>
          <a:p>
            <a:endParaRPr lang="he-IL"/>
          </a:p>
        </p:txBody>
      </p:sp>
      <p:pic>
        <p:nvPicPr>
          <p:cNvPr id="11" name="Image 0" descr="preencoded.png"/>
          <p:cNvPicPr>
            <a:picLocks noChangeAspect="1"/>
          </p:cNvPicPr>
          <p:nvPr/>
        </p:nvPicPr>
        <p:blipFill>
          <a:blip r:embed="rId3"/>
          <a:srcRect t="-14515" b="-14515"/>
          <a:stretch/>
        </p:blipFill>
        <p:spPr>
          <a:xfrm>
            <a:off x="7728239" y="2651380"/>
            <a:ext cx="9277084" cy="665467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ECE0"/>
        </a:solidFill>
        <a:effectLst/>
      </p:bgPr>
    </p:bg>
    <p:spTree>
      <p:nvGrpSpPr>
        <p:cNvPr id="1" name=""/>
        <p:cNvGrpSpPr/>
        <p:nvPr/>
      </p:nvGrpSpPr>
      <p:grpSpPr>
        <a:xfrm>
          <a:off x="0" y="0"/>
          <a:ext cx="0" cy="0"/>
          <a:chOff x="0" y="0"/>
          <a:chExt cx="0" cy="0"/>
        </a:xfrm>
      </p:grpSpPr>
      <p:sp>
        <p:nvSpPr>
          <p:cNvPr id="2" name="Text 0"/>
          <p:cNvSpPr/>
          <p:nvPr/>
        </p:nvSpPr>
        <p:spPr>
          <a:xfrm>
            <a:off x="990533" y="914400"/>
            <a:ext cx="7648539" cy="325848"/>
          </a:xfrm>
          <a:prstGeom prst="rect">
            <a:avLst/>
          </a:prstGeom>
          <a:noFill/>
          <a:ln/>
        </p:spPr>
        <p:txBody>
          <a:bodyPr wrap="square" lIns="25400" tIns="25400" rIns="25400" bIns="25400" rtlCol="0" anchor="t">
            <a:normAutofit/>
          </a:bodyPr>
          <a:lstStyle/>
          <a:p>
            <a:pPr marL="0" indent="0" algn="l">
              <a:buNone/>
            </a:pPr>
            <a:r>
              <a:rPr lang="en-US" sz="1875" b="1" kern="0" spc="300" dirty="0">
                <a:solidFill>
                  <a:srgbClr val="B3402F"/>
                </a:solidFill>
                <a:latin typeface="Fira Sans" pitchFamily="34" charset="0"/>
                <a:ea typeface="Fira Sans" pitchFamily="34" charset="-122"/>
                <a:cs typeface="Fira Sans" pitchFamily="34" charset="-120"/>
              </a:rPr>
              <a:t>HYPOTHESIS 1 · REACTION TIME</a:t>
            </a:r>
            <a:endParaRPr lang="en-US" sz="1875" dirty="0"/>
          </a:p>
        </p:txBody>
      </p:sp>
      <p:sp>
        <p:nvSpPr>
          <p:cNvPr id="3" name="Text 1"/>
          <p:cNvSpPr/>
          <p:nvPr/>
        </p:nvSpPr>
        <p:spPr>
          <a:xfrm>
            <a:off x="990533" y="1335432"/>
            <a:ext cx="7161813" cy="1127547"/>
          </a:xfrm>
          <a:prstGeom prst="rect">
            <a:avLst/>
          </a:prstGeom>
          <a:noFill/>
          <a:ln/>
        </p:spPr>
        <p:txBody>
          <a:bodyPr wrap="square" lIns="25400" tIns="25400" rIns="25400" bIns="25400" rtlCol="0" anchor="t">
            <a:normAutofit/>
          </a:bodyPr>
          <a:lstStyle/>
          <a:p>
            <a:pPr marL="0" indent="0" algn="l">
              <a:lnSpc>
                <a:spcPct val="110000"/>
              </a:lnSpc>
              <a:buNone/>
            </a:pPr>
            <a:r>
              <a:rPr lang="en-US" sz="3900" b="1" kern="0" spc="-58" dirty="0">
                <a:solidFill>
                  <a:srgbClr val="2A2520"/>
                </a:solidFill>
                <a:latin typeface="Fira Sans" pitchFamily="34" charset="0"/>
                <a:ea typeface="Fira Sans" pitchFamily="34" charset="-122"/>
                <a:cs typeface="Fira Sans" pitchFamily="34" charset="-120"/>
              </a:rPr>
              <a:t>Does surprise slow people down?</a:t>
            </a:r>
            <a:endParaRPr lang="en-US" sz="3900" dirty="0"/>
          </a:p>
        </p:txBody>
      </p:sp>
      <p:sp>
        <p:nvSpPr>
          <p:cNvPr id="4" name="Text 2"/>
          <p:cNvSpPr/>
          <p:nvPr/>
        </p:nvSpPr>
        <p:spPr>
          <a:xfrm>
            <a:off x="990533" y="4865343"/>
            <a:ext cx="5639260" cy="1323975"/>
          </a:xfrm>
          <a:prstGeom prst="rect">
            <a:avLst/>
          </a:prstGeom>
          <a:noFill/>
          <a:ln/>
        </p:spPr>
        <p:txBody>
          <a:bodyPr wrap="square" lIns="25400" tIns="25400" rIns="25400" bIns="25400" rtlCol="0" anchor="t">
            <a:normAutofit/>
          </a:bodyPr>
          <a:lstStyle/>
          <a:p>
            <a:pPr marL="0" indent="0" algn="l">
              <a:lnSpc>
                <a:spcPct val="150000"/>
              </a:lnSpc>
              <a:buNone/>
            </a:pPr>
            <a:r>
              <a:rPr lang="en-US" sz="2250" dirty="0">
                <a:solidFill>
                  <a:srgbClr val="5A5347"/>
                </a:solidFill>
                <a:latin typeface="Fira Sans" pitchFamily="34" charset="0"/>
                <a:ea typeface="Fira Sans" pitchFamily="34" charset="-122"/>
                <a:cs typeface="Fira Sans" pitchFamily="34" charset="-120"/>
              </a:rPr>
              <a:t>The intuition: when the model is surprised, the participant should </a:t>
            </a:r>
            <a:r>
              <a:rPr lang="en-US" sz="2250" b="1" dirty="0">
                <a:solidFill>
                  <a:srgbClr val="2A2520"/>
                </a:solidFill>
                <a:latin typeface="Fira Sans" pitchFamily="34" charset="0"/>
                <a:ea typeface="Fira Sans" pitchFamily="34" charset="-122"/>
                <a:cs typeface="Fira Sans" pitchFamily="34" charset="-120"/>
              </a:rPr>
              <a:t>hesitate </a:t>
            </a:r>
            <a:r>
              <a:rPr lang="en-US" sz="2250" dirty="0">
                <a:solidFill>
                  <a:srgbClr val="5A5347"/>
                </a:solidFill>
                <a:latin typeface="Fira Sans" pitchFamily="34" charset="0"/>
                <a:ea typeface="Fira Sans" pitchFamily="34" charset="-122"/>
                <a:cs typeface="Fira Sans" pitchFamily="34" charset="-120"/>
              </a:rPr>
              <a:t>so reaction time should rise</a:t>
            </a:r>
            <a:endParaRPr lang="en-US" sz="2250" dirty="0"/>
          </a:p>
        </p:txBody>
      </p:sp>
      <p:sp>
        <p:nvSpPr>
          <p:cNvPr id="5" name="Shape 3"/>
          <p:cNvSpPr/>
          <p:nvPr/>
        </p:nvSpPr>
        <p:spPr>
          <a:xfrm>
            <a:off x="990533" y="6436968"/>
            <a:ext cx="25578" cy="1199850"/>
          </a:xfrm>
          <a:prstGeom prst="rect">
            <a:avLst/>
          </a:prstGeom>
          <a:solidFill>
            <a:srgbClr val="2F6B7A"/>
          </a:solidFill>
          <a:ln/>
        </p:spPr>
        <p:txBody>
          <a:bodyPr/>
          <a:lstStyle/>
          <a:p>
            <a:endParaRPr lang="he-IL"/>
          </a:p>
        </p:txBody>
      </p:sp>
      <p:sp>
        <p:nvSpPr>
          <p:cNvPr id="6" name="Text 4"/>
          <p:cNvSpPr/>
          <p:nvPr/>
        </p:nvSpPr>
        <p:spPr>
          <a:xfrm>
            <a:off x="1225661" y="6436968"/>
            <a:ext cx="5404133" cy="1237950"/>
          </a:xfrm>
          <a:prstGeom prst="rect">
            <a:avLst/>
          </a:prstGeom>
          <a:noFill/>
          <a:ln/>
        </p:spPr>
        <p:txBody>
          <a:bodyPr wrap="square" lIns="25400" tIns="25400" rIns="25400" bIns="25400" rtlCol="0" anchor="t">
            <a:normAutofit/>
          </a:bodyPr>
          <a:lstStyle/>
          <a:p>
            <a:pPr marL="0" indent="0" algn="l">
              <a:lnSpc>
                <a:spcPct val="150000"/>
              </a:lnSpc>
              <a:buNone/>
            </a:pPr>
            <a:r>
              <a:rPr lang="en-US" sz="2100" dirty="0">
                <a:solidFill>
                  <a:srgbClr val="2A2520"/>
                </a:solidFill>
                <a:latin typeface="Fira Sans" pitchFamily="34" charset="0"/>
                <a:ea typeface="Fira Sans" pitchFamily="34" charset="-122"/>
                <a:cs typeface="Fira Sans" pitchFamily="34" charset="-120"/>
              </a:rPr>
              <a:t>At threshold </a:t>
            </a:r>
            <a:r>
              <a:rPr lang="en-US" sz="2100" b="1" dirty="0">
                <a:solidFill>
                  <a:srgbClr val="2A2520"/>
                </a:solidFill>
                <a:latin typeface="Fira Sans" pitchFamily="34" charset="0"/>
                <a:ea typeface="Fira Sans" pitchFamily="34" charset="-122"/>
                <a:cs typeface="Fira Sans" pitchFamily="34" charset="-120"/>
              </a:rPr>
              <a:t>X = 10% </a:t>
            </a:r>
            <a:r>
              <a:rPr lang="en-US" sz="2100" dirty="0">
                <a:solidFill>
                  <a:srgbClr val="2A2520"/>
                </a:solidFill>
                <a:latin typeface="Fira Sans" pitchFamily="34" charset="0"/>
                <a:ea typeface="Fira Sans" pitchFamily="34" charset="-122"/>
                <a:cs typeface="Fira Sans" pitchFamily="34" charset="-120"/>
              </a:rPr>
              <a:t>, the difference is real but </a:t>
            </a:r>
            <a:r>
              <a:rPr lang="en-US" sz="2100" b="1" dirty="0">
                <a:solidFill>
                  <a:srgbClr val="2A2520"/>
                </a:solidFill>
                <a:latin typeface="Fira Sans" pitchFamily="34" charset="0"/>
                <a:ea typeface="Fira Sans" pitchFamily="34" charset="-122"/>
                <a:cs typeface="Fira Sans" pitchFamily="34" charset="-120"/>
              </a:rPr>
              <a:t>small and consistent </a:t>
            </a:r>
            <a:r>
              <a:rPr lang="en-US" sz="2100" dirty="0">
                <a:solidFill>
                  <a:srgbClr val="2A2520"/>
                </a:solidFill>
                <a:latin typeface="Fira Sans" pitchFamily="34" charset="0"/>
                <a:ea typeface="Fira Sans" pitchFamily="34" charset="-122"/>
                <a:cs typeface="Fira Sans" pitchFamily="34" charset="-120"/>
              </a:rPr>
              <a:t>: Surprise slowest, Autopilot fastest.</a:t>
            </a:r>
            <a:endParaRPr lang="en-US" sz="2100" dirty="0"/>
          </a:p>
        </p:txBody>
      </p:sp>
      <p:sp>
        <p:nvSpPr>
          <p:cNvPr id="7" name="Shape 5"/>
          <p:cNvSpPr/>
          <p:nvPr/>
        </p:nvSpPr>
        <p:spPr>
          <a:xfrm>
            <a:off x="6979893" y="2786762"/>
            <a:ext cx="10317574" cy="6928738"/>
          </a:xfrm>
          <a:prstGeom prst="roundRect">
            <a:avLst>
              <a:gd name="adj" fmla="val 2474"/>
            </a:avLst>
          </a:prstGeom>
          <a:solidFill>
            <a:srgbClr val="FBF8F2"/>
          </a:solidFill>
          <a:ln w="6394">
            <a:solidFill>
              <a:srgbClr val="E4DBC9"/>
            </a:solidFill>
            <a:prstDash val="solid"/>
          </a:ln>
          <a:effectLst>
            <a:outerShdw blurRad="266700" dist="57150" dir="5400000" algn="bl" rotWithShape="0">
              <a:srgbClr val="463723">
                <a:alpha val="5000"/>
              </a:srgbClr>
            </a:outerShdw>
          </a:effectLst>
        </p:spPr>
        <p:txBody>
          <a:bodyPr/>
          <a:lstStyle/>
          <a:p>
            <a:endParaRPr lang="he-IL"/>
          </a:p>
        </p:txBody>
      </p:sp>
      <p:pic>
        <p:nvPicPr>
          <p:cNvPr id="8" name="Image 0" descr="preencoded.png"/>
          <p:cNvPicPr>
            <a:picLocks noChangeAspect="1"/>
          </p:cNvPicPr>
          <p:nvPr/>
        </p:nvPicPr>
        <p:blipFill>
          <a:blip r:embed="rId3"/>
          <a:srcRect l="-4067" r="-4067"/>
          <a:stretch/>
        </p:blipFill>
        <p:spPr>
          <a:xfrm>
            <a:off x="7272038" y="3078906"/>
            <a:ext cx="9733284" cy="634444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ECE0"/>
        </a:solidFill>
        <a:effectLst/>
      </p:bgPr>
    </p:bg>
    <p:spTree>
      <p:nvGrpSpPr>
        <p:cNvPr id="1" name=""/>
        <p:cNvGrpSpPr/>
        <p:nvPr/>
      </p:nvGrpSpPr>
      <p:grpSpPr>
        <a:xfrm>
          <a:off x="0" y="0"/>
          <a:ext cx="0" cy="0"/>
          <a:chOff x="0" y="0"/>
          <a:chExt cx="0" cy="0"/>
        </a:xfrm>
      </p:grpSpPr>
      <p:sp>
        <p:nvSpPr>
          <p:cNvPr id="2" name="Text 0"/>
          <p:cNvSpPr/>
          <p:nvPr/>
        </p:nvSpPr>
        <p:spPr>
          <a:xfrm>
            <a:off x="990533" y="914400"/>
            <a:ext cx="7648539" cy="325848"/>
          </a:xfrm>
          <a:prstGeom prst="rect">
            <a:avLst/>
          </a:prstGeom>
          <a:noFill/>
          <a:ln/>
        </p:spPr>
        <p:txBody>
          <a:bodyPr wrap="square" lIns="25400" tIns="25400" rIns="25400" bIns="25400" rtlCol="0" anchor="t">
            <a:normAutofit/>
          </a:bodyPr>
          <a:lstStyle/>
          <a:p>
            <a:pPr marL="0" indent="0" algn="l">
              <a:buNone/>
            </a:pPr>
            <a:r>
              <a:rPr lang="en-US" sz="1875" b="1" kern="0" spc="300" dirty="0">
                <a:solidFill>
                  <a:srgbClr val="B3402F"/>
                </a:solidFill>
                <a:latin typeface="Fira Sans" pitchFamily="34" charset="0"/>
                <a:ea typeface="Fira Sans" pitchFamily="34" charset="-122"/>
                <a:cs typeface="Fira Sans" pitchFamily="34" charset="-120"/>
              </a:rPr>
              <a:t>HYPOTHESIS 1 · REJECTED</a:t>
            </a:r>
            <a:endParaRPr lang="en-US" sz="1875" dirty="0"/>
          </a:p>
        </p:txBody>
      </p:sp>
      <p:sp>
        <p:nvSpPr>
          <p:cNvPr id="3" name="Text 1"/>
          <p:cNvSpPr/>
          <p:nvPr/>
        </p:nvSpPr>
        <p:spPr>
          <a:xfrm>
            <a:off x="990533" y="1335432"/>
            <a:ext cx="7161813" cy="1127547"/>
          </a:xfrm>
          <a:prstGeom prst="rect">
            <a:avLst/>
          </a:prstGeom>
          <a:noFill/>
          <a:ln/>
        </p:spPr>
        <p:txBody>
          <a:bodyPr wrap="square" lIns="25400" tIns="25400" rIns="25400" bIns="25400" rtlCol="0" anchor="t">
            <a:normAutofit/>
          </a:bodyPr>
          <a:lstStyle/>
          <a:p>
            <a:pPr marL="0" indent="0" algn="l">
              <a:lnSpc>
                <a:spcPct val="110000"/>
              </a:lnSpc>
              <a:buNone/>
            </a:pPr>
            <a:r>
              <a:rPr lang="en-US" sz="3900" b="1" kern="0" spc="-58" dirty="0">
                <a:solidFill>
                  <a:srgbClr val="2A2520"/>
                </a:solidFill>
                <a:latin typeface="Fira Sans" pitchFamily="34" charset="0"/>
                <a:ea typeface="Fira Sans" pitchFamily="34" charset="-122"/>
                <a:cs typeface="Fira Sans" pitchFamily="34" charset="-120"/>
              </a:rPr>
              <a:t>A dramatic U-shape - that turned out to be an artifact</a:t>
            </a:r>
            <a:endParaRPr lang="en-US" sz="3900" dirty="0"/>
          </a:p>
        </p:txBody>
      </p:sp>
      <p:sp>
        <p:nvSpPr>
          <p:cNvPr id="4" name="Shape 2"/>
          <p:cNvSpPr/>
          <p:nvPr/>
        </p:nvSpPr>
        <p:spPr>
          <a:xfrm>
            <a:off x="990533" y="2786762"/>
            <a:ext cx="10317574" cy="6928738"/>
          </a:xfrm>
          <a:prstGeom prst="roundRect">
            <a:avLst>
              <a:gd name="adj" fmla="val 2474"/>
            </a:avLst>
          </a:prstGeom>
          <a:solidFill>
            <a:srgbClr val="FBF8F2"/>
          </a:solidFill>
          <a:ln w="6394">
            <a:solidFill>
              <a:srgbClr val="E4DBC9"/>
            </a:solidFill>
            <a:prstDash val="solid"/>
          </a:ln>
          <a:effectLst>
            <a:outerShdw blurRad="266700" dist="57150" dir="5400000" algn="bl" rotWithShape="0">
              <a:srgbClr val="463723">
                <a:alpha val="5000"/>
              </a:srgbClr>
            </a:outerShdw>
          </a:effectLst>
        </p:spPr>
        <p:txBody>
          <a:bodyPr/>
          <a:lstStyle/>
          <a:p>
            <a:endParaRPr lang="he-IL"/>
          </a:p>
        </p:txBody>
      </p:sp>
      <p:pic>
        <p:nvPicPr>
          <p:cNvPr id="5" name="Image 0" descr="preencoded.png"/>
          <p:cNvPicPr>
            <a:picLocks noChangeAspect="1"/>
          </p:cNvPicPr>
          <p:nvPr/>
        </p:nvPicPr>
        <p:blipFill>
          <a:blip r:embed="rId3"/>
          <a:srcRect l="-4067" r="-4067"/>
          <a:stretch/>
        </p:blipFill>
        <p:spPr>
          <a:xfrm>
            <a:off x="1282678" y="3078906"/>
            <a:ext cx="9733284" cy="6344449"/>
          </a:xfrm>
          <a:prstGeom prst="rect">
            <a:avLst/>
          </a:prstGeom>
        </p:spPr>
      </p:pic>
      <p:sp>
        <p:nvSpPr>
          <p:cNvPr id="6" name="Text 3"/>
          <p:cNvSpPr/>
          <p:nvPr/>
        </p:nvSpPr>
        <p:spPr>
          <a:xfrm>
            <a:off x="11822456" y="5079656"/>
            <a:ext cx="5639260" cy="895350"/>
          </a:xfrm>
          <a:prstGeom prst="rect">
            <a:avLst/>
          </a:prstGeom>
          <a:noFill/>
          <a:ln/>
        </p:spPr>
        <p:txBody>
          <a:bodyPr wrap="square" lIns="25400" tIns="25400" rIns="25400" bIns="25400" rtlCol="0" anchor="t">
            <a:normAutofit/>
          </a:bodyPr>
          <a:lstStyle/>
          <a:p>
            <a:pPr marL="0" indent="0" algn="l">
              <a:lnSpc>
                <a:spcPct val="150000"/>
              </a:lnSpc>
              <a:buNone/>
            </a:pPr>
            <a:r>
              <a:rPr lang="en-US" sz="2250" dirty="0">
                <a:solidFill>
                  <a:srgbClr val="5A5347"/>
                </a:solidFill>
                <a:latin typeface="Fira Sans" pitchFamily="34" charset="0"/>
                <a:ea typeface="Fira Sans" pitchFamily="34" charset="-122"/>
                <a:cs typeface="Fira Sans" pitchFamily="34" charset="-120"/>
              </a:rPr>
              <a:t>At </a:t>
            </a:r>
            <a:r>
              <a:rPr lang="en-US" sz="2250" b="1" dirty="0">
                <a:solidFill>
                  <a:srgbClr val="5A5347"/>
                </a:solidFill>
                <a:latin typeface="Fira Sans" pitchFamily="34" charset="0"/>
                <a:ea typeface="Fira Sans" pitchFamily="34" charset="-122"/>
                <a:cs typeface="Fira Sans" pitchFamily="34" charset="-120"/>
              </a:rPr>
              <a:t>X = 5% </a:t>
            </a:r>
            <a:r>
              <a:rPr lang="en-US" sz="2250" dirty="0">
                <a:solidFill>
                  <a:srgbClr val="5A5347"/>
                </a:solidFill>
                <a:latin typeface="Fira Sans" pitchFamily="34" charset="0"/>
                <a:ea typeface="Fira Sans" pitchFamily="34" charset="-122"/>
                <a:cs typeface="Fira Sans" pitchFamily="34" charset="-120"/>
              </a:rPr>
              <a:t>the effect looked huge until we checked the counts: </a:t>
            </a:r>
            <a:r>
              <a:rPr lang="en-US" sz="2250" b="1" dirty="0">
                <a:solidFill>
                  <a:srgbClr val="2A2520"/>
                </a:solidFill>
                <a:latin typeface="Fira Sans" pitchFamily="34" charset="0"/>
                <a:ea typeface="Fira Sans" pitchFamily="34" charset="-122"/>
                <a:cs typeface="Fira Sans" pitchFamily="34" charset="-120"/>
              </a:rPr>
              <a:t>n = 195 </a:t>
            </a:r>
            <a:r>
              <a:rPr lang="en-US" sz="2250" dirty="0">
                <a:solidFill>
                  <a:srgbClr val="5A5347"/>
                </a:solidFill>
                <a:latin typeface="Fira Sans" pitchFamily="34" charset="0"/>
                <a:ea typeface="Fira Sans" pitchFamily="34" charset="-122"/>
                <a:cs typeface="Fira Sans" pitchFamily="34" charset="-120"/>
              </a:rPr>
              <a:t>and </a:t>
            </a:r>
            <a:r>
              <a:rPr lang="en-US" sz="2250" b="1" dirty="0">
                <a:solidFill>
                  <a:srgbClr val="2A2520"/>
                </a:solidFill>
                <a:latin typeface="Fira Sans" pitchFamily="34" charset="0"/>
                <a:ea typeface="Fira Sans" pitchFamily="34" charset="-122"/>
                <a:cs typeface="Fira Sans" pitchFamily="34" charset="-120"/>
              </a:rPr>
              <a:t>509</a:t>
            </a:r>
            <a:r>
              <a:rPr lang="en-US" sz="2250" dirty="0">
                <a:solidFill>
                  <a:srgbClr val="5A5347"/>
                </a:solidFill>
                <a:latin typeface="Fira Sans" pitchFamily="34" charset="0"/>
                <a:ea typeface="Fira Sans" pitchFamily="34" charset="-122"/>
                <a:cs typeface="Fira Sans" pitchFamily="34" charset="-120"/>
              </a:rPr>
              <a:t>.</a:t>
            </a:r>
            <a:endParaRPr lang="en-US" sz="2250" dirty="0"/>
          </a:p>
        </p:txBody>
      </p:sp>
      <p:sp>
        <p:nvSpPr>
          <p:cNvPr id="7" name="Shape 4"/>
          <p:cNvSpPr/>
          <p:nvPr/>
        </p:nvSpPr>
        <p:spPr>
          <a:xfrm>
            <a:off x="11822456" y="6222656"/>
            <a:ext cx="25578" cy="1199850"/>
          </a:xfrm>
          <a:prstGeom prst="rect">
            <a:avLst/>
          </a:prstGeom>
          <a:solidFill>
            <a:srgbClr val="B3402F"/>
          </a:solidFill>
          <a:ln/>
        </p:spPr>
        <p:txBody>
          <a:bodyPr/>
          <a:lstStyle/>
          <a:p>
            <a:endParaRPr lang="he-IL"/>
          </a:p>
        </p:txBody>
      </p:sp>
      <p:sp>
        <p:nvSpPr>
          <p:cNvPr id="8" name="Text 5"/>
          <p:cNvSpPr/>
          <p:nvPr/>
        </p:nvSpPr>
        <p:spPr>
          <a:xfrm>
            <a:off x="12057584" y="6222656"/>
            <a:ext cx="5404133" cy="1237950"/>
          </a:xfrm>
          <a:prstGeom prst="rect">
            <a:avLst/>
          </a:prstGeom>
          <a:noFill/>
          <a:ln/>
        </p:spPr>
        <p:txBody>
          <a:bodyPr wrap="square" lIns="25400" tIns="25400" rIns="25400" bIns="25400" rtlCol="0" anchor="t">
            <a:normAutofit/>
          </a:bodyPr>
          <a:lstStyle/>
          <a:p>
            <a:pPr marL="0" indent="0" algn="l">
              <a:lnSpc>
                <a:spcPct val="150000"/>
              </a:lnSpc>
              <a:buNone/>
            </a:pPr>
            <a:r>
              <a:rPr lang="en-US" sz="2100" b="1" dirty="0">
                <a:solidFill>
                  <a:srgbClr val="B3402F"/>
                </a:solidFill>
                <a:latin typeface="Fira Sans" pitchFamily="34" charset="0"/>
                <a:ea typeface="Fira Sans" pitchFamily="34" charset="-122"/>
                <a:cs typeface="Fira Sans" pitchFamily="34" charset="-120"/>
              </a:rPr>
              <a:t>Rejected. </a:t>
            </a:r>
            <a:r>
              <a:rPr lang="en-US" sz="2100" dirty="0">
                <a:solidFill>
                  <a:srgbClr val="2A2520"/>
                </a:solidFill>
                <a:latin typeface="Fira Sans" pitchFamily="34" charset="0"/>
                <a:ea typeface="Fira Sans" pitchFamily="34" charset="-122"/>
                <a:cs typeface="Fira Sans" pitchFamily="34" charset="-120"/>
              </a:rPr>
              <a:t>Tiny groups inflate z-scores, and a 1.5 s measurement floor distorts the rest. An artifact, ruled out on data, not a guess.</a:t>
            </a:r>
            <a:endParaRPr lang="en-US" sz="2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ECE0"/>
        </a:solidFill>
        <a:effectLst/>
      </p:bgPr>
    </p:bg>
    <p:spTree>
      <p:nvGrpSpPr>
        <p:cNvPr id="1" name=""/>
        <p:cNvGrpSpPr/>
        <p:nvPr/>
      </p:nvGrpSpPr>
      <p:grpSpPr>
        <a:xfrm>
          <a:off x="0" y="0"/>
          <a:ext cx="0" cy="0"/>
          <a:chOff x="0" y="0"/>
          <a:chExt cx="0" cy="0"/>
        </a:xfrm>
      </p:grpSpPr>
      <p:sp>
        <p:nvSpPr>
          <p:cNvPr id="2" name="Text 0"/>
          <p:cNvSpPr/>
          <p:nvPr/>
        </p:nvSpPr>
        <p:spPr>
          <a:xfrm>
            <a:off x="990533" y="914400"/>
            <a:ext cx="8285871" cy="325848"/>
          </a:xfrm>
          <a:prstGeom prst="rect">
            <a:avLst/>
          </a:prstGeom>
          <a:noFill/>
          <a:ln/>
        </p:spPr>
        <p:txBody>
          <a:bodyPr wrap="square" lIns="25400" tIns="25400" rIns="25400" bIns="25400" rtlCol="0" anchor="t">
            <a:normAutofit/>
          </a:bodyPr>
          <a:lstStyle/>
          <a:p>
            <a:pPr marL="0" indent="0" algn="l">
              <a:buNone/>
            </a:pPr>
            <a:r>
              <a:rPr lang="en-US" sz="1875" b="1" kern="0" spc="300" dirty="0">
                <a:solidFill>
                  <a:srgbClr val="B3402F"/>
                </a:solidFill>
                <a:latin typeface="Fira Sans" pitchFamily="34" charset="0"/>
                <a:ea typeface="Fira Sans" pitchFamily="34" charset="-122"/>
                <a:cs typeface="Fira Sans" pitchFamily="34" charset="-120"/>
              </a:rPr>
              <a:t>HYPOTHESIS 2 · BEHAVIORAL HISTORY</a:t>
            </a:r>
            <a:endParaRPr lang="en-US" sz="1875" dirty="0"/>
          </a:p>
        </p:txBody>
      </p:sp>
      <p:sp>
        <p:nvSpPr>
          <p:cNvPr id="3" name="Text 1"/>
          <p:cNvSpPr/>
          <p:nvPr/>
        </p:nvSpPr>
        <p:spPr>
          <a:xfrm>
            <a:off x="990533" y="1335432"/>
            <a:ext cx="7758588" cy="1127547"/>
          </a:xfrm>
          <a:prstGeom prst="rect">
            <a:avLst/>
          </a:prstGeom>
          <a:noFill/>
          <a:ln/>
        </p:spPr>
        <p:txBody>
          <a:bodyPr wrap="square" lIns="25400" tIns="25400" rIns="25400" bIns="25400" rtlCol="0" anchor="t">
            <a:normAutofit/>
          </a:bodyPr>
          <a:lstStyle/>
          <a:p>
            <a:pPr marL="0" indent="0" algn="l">
              <a:lnSpc>
                <a:spcPct val="110000"/>
              </a:lnSpc>
              <a:buNone/>
            </a:pPr>
            <a:r>
              <a:rPr lang="en-US" sz="3900" b="1" kern="0" spc="-58" dirty="0">
                <a:solidFill>
                  <a:srgbClr val="2A2520"/>
                </a:solidFill>
                <a:latin typeface="Fira Sans" pitchFamily="34" charset="0"/>
                <a:ea typeface="Fira Sans" pitchFamily="34" charset="-122"/>
                <a:cs typeface="Fira Sans" pitchFamily="34" charset="-120"/>
              </a:rPr>
              <a:t>A perfect correlate - that we excluded on principle</a:t>
            </a:r>
            <a:endParaRPr lang="en-US" sz="3900" dirty="0"/>
          </a:p>
        </p:txBody>
      </p:sp>
      <p:sp>
        <p:nvSpPr>
          <p:cNvPr id="4" name="Shape 2"/>
          <p:cNvSpPr/>
          <p:nvPr/>
        </p:nvSpPr>
        <p:spPr>
          <a:xfrm>
            <a:off x="990533" y="2767778"/>
            <a:ext cx="9557138" cy="6947721"/>
          </a:xfrm>
          <a:prstGeom prst="roundRect">
            <a:avLst>
              <a:gd name="adj" fmla="val 2468"/>
            </a:avLst>
          </a:prstGeom>
          <a:solidFill>
            <a:srgbClr val="FBF8F2"/>
          </a:solidFill>
          <a:ln w="6394">
            <a:solidFill>
              <a:srgbClr val="E4DBC9"/>
            </a:solidFill>
            <a:prstDash val="solid"/>
          </a:ln>
          <a:effectLst>
            <a:outerShdw blurRad="266700" dist="57150" dir="5400000" algn="bl" rotWithShape="0">
              <a:srgbClr val="463723">
                <a:alpha val="5000"/>
              </a:srgbClr>
            </a:outerShdw>
          </a:effectLst>
        </p:spPr>
        <p:txBody>
          <a:bodyPr/>
          <a:lstStyle/>
          <a:p>
            <a:endParaRPr lang="he-IL"/>
          </a:p>
        </p:txBody>
      </p:sp>
      <p:pic>
        <p:nvPicPr>
          <p:cNvPr id="5" name="Image 0" descr="preencoded.png"/>
          <p:cNvPicPr>
            <a:picLocks noChangeAspect="1"/>
          </p:cNvPicPr>
          <p:nvPr/>
        </p:nvPicPr>
        <p:blipFill>
          <a:blip r:embed="rId3"/>
          <a:srcRect t="-14379" b="-14379"/>
          <a:stretch/>
        </p:blipFill>
        <p:spPr>
          <a:xfrm>
            <a:off x="1282678" y="3059923"/>
            <a:ext cx="8972849" cy="6363433"/>
          </a:xfrm>
          <a:prstGeom prst="rect">
            <a:avLst/>
          </a:prstGeom>
        </p:spPr>
      </p:pic>
      <p:sp>
        <p:nvSpPr>
          <p:cNvPr id="6" name="Text 3"/>
          <p:cNvSpPr/>
          <p:nvPr/>
        </p:nvSpPr>
        <p:spPr>
          <a:xfrm>
            <a:off x="11062021" y="4374573"/>
            <a:ext cx="6422508" cy="1281113"/>
          </a:xfrm>
          <a:prstGeom prst="rect">
            <a:avLst/>
          </a:prstGeom>
          <a:noFill/>
          <a:ln/>
        </p:spPr>
        <p:txBody>
          <a:bodyPr wrap="square" lIns="25400" tIns="25400" rIns="25400" bIns="25400" rtlCol="0" anchor="t">
            <a:normAutofit/>
          </a:bodyPr>
          <a:lstStyle/>
          <a:p>
            <a:pPr marL="0" indent="0" algn="l">
              <a:lnSpc>
                <a:spcPct val="145000"/>
              </a:lnSpc>
              <a:buNone/>
            </a:pPr>
            <a:r>
              <a:rPr lang="en-US" sz="2250" dirty="0">
                <a:solidFill>
                  <a:srgbClr val="5A5347"/>
                </a:solidFill>
                <a:latin typeface="Fira Sans" pitchFamily="34" charset="0"/>
                <a:ea typeface="Fira Sans" pitchFamily="34" charset="-122"/>
                <a:cs typeface="Fira Sans" pitchFamily="34" charset="-120"/>
              </a:rPr>
              <a:t>A prior physical side-switch is the strongest correlate — </a:t>
            </a:r>
            <a:r>
              <a:rPr lang="en-US" sz="2250" b="1" dirty="0">
                <a:solidFill>
                  <a:srgbClr val="2A2520"/>
                </a:solidFill>
                <a:latin typeface="Fira Sans" pitchFamily="34" charset="0"/>
                <a:ea typeface="Fira Sans" pitchFamily="34" charset="-122"/>
                <a:cs typeface="Fira Sans" pitchFamily="34" charset="-120"/>
              </a:rPr>
              <a:t>Cohen’s d = 2.15 </a:t>
            </a:r>
            <a:r>
              <a:rPr lang="en-US" sz="2250" dirty="0">
                <a:solidFill>
                  <a:srgbClr val="5A5347"/>
                </a:solidFill>
                <a:latin typeface="Fira Sans" pitchFamily="34" charset="0"/>
                <a:ea typeface="Fira Sans" pitchFamily="34" charset="-122"/>
                <a:cs typeface="Fira Sans" pitchFamily="34" charset="-120"/>
              </a:rPr>
              <a:t>. Too good to be true.</a:t>
            </a:r>
            <a:endParaRPr lang="en-US" sz="2250" dirty="0"/>
          </a:p>
        </p:txBody>
      </p:sp>
      <p:sp>
        <p:nvSpPr>
          <p:cNvPr id="7" name="Shape 4"/>
          <p:cNvSpPr/>
          <p:nvPr/>
        </p:nvSpPr>
        <p:spPr>
          <a:xfrm>
            <a:off x="11062021" y="5865169"/>
            <a:ext cx="1521469" cy="452804"/>
          </a:xfrm>
          <a:prstGeom prst="roundRect">
            <a:avLst>
              <a:gd name="adj" fmla="val 21036"/>
            </a:avLst>
          </a:prstGeom>
          <a:solidFill>
            <a:srgbClr val="E6EEF0"/>
          </a:solidFill>
          <a:ln w="6394">
            <a:solidFill>
              <a:srgbClr val="CFE0E3"/>
            </a:solidFill>
            <a:prstDash val="solid"/>
          </a:ln>
        </p:spPr>
        <p:txBody>
          <a:bodyPr/>
          <a:lstStyle/>
          <a:p>
            <a:endParaRPr lang="he-IL"/>
          </a:p>
        </p:txBody>
      </p:sp>
      <p:sp>
        <p:nvSpPr>
          <p:cNvPr id="8" name="Text 5"/>
          <p:cNvSpPr/>
          <p:nvPr/>
        </p:nvSpPr>
        <p:spPr>
          <a:xfrm>
            <a:off x="11220816" y="5947763"/>
            <a:ext cx="1280080" cy="325715"/>
          </a:xfrm>
          <a:prstGeom prst="rect">
            <a:avLst/>
          </a:prstGeom>
          <a:noFill/>
          <a:ln/>
        </p:spPr>
        <p:txBody>
          <a:bodyPr wrap="square" lIns="25400" tIns="25400" rIns="25400" bIns="25400" rtlCol="0" anchor="t">
            <a:normAutofit/>
          </a:bodyPr>
          <a:lstStyle/>
          <a:p>
            <a:pPr marL="0" indent="0" algn="l">
              <a:buNone/>
            </a:pPr>
            <a:r>
              <a:rPr lang="en-US" sz="1875" dirty="0">
                <a:solidFill>
                  <a:srgbClr val="2F6B7A"/>
                </a:solidFill>
                <a:latin typeface="Fira Sans" pitchFamily="34" charset="0"/>
                <a:ea typeface="Fira Sans" pitchFamily="34" charset="-122"/>
                <a:cs typeface="Fira Sans" pitchFamily="34" charset="-120"/>
              </a:rPr>
              <a:t>side switch</a:t>
            </a:r>
            <a:endParaRPr lang="en-US" sz="1875" dirty="0"/>
          </a:p>
        </p:txBody>
      </p:sp>
      <p:sp>
        <p:nvSpPr>
          <p:cNvPr id="9" name="Text 6"/>
          <p:cNvSpPr/>
          <p:nvPr/>
        </p:nvSpPr>
        <p:spPr>
          <a:xfrm>
            <a:off x="12697791" y="5947696"/>
            <a:ext cx="314292" cy="325848"/>
          </a:xfrm>
          <a:prstGeom prst="rect">
            <a:avLst/>
          </a:prstGeom>
          <a:noFill/>
          <a:ln/>
        </p:spPr>
        <p:txBody>
          <a:bodyPr wrap="square" lIns="25400" tIns="25400" rIns="25400" bIns="25400" rtlCol="0" anchor="t">
            <a:normAutofit/>
          </a:bodyPr>
          <a:lstStyle/>
          <a:p>
            <a:pPr marL="0" indent="0" algn="l">
              <a:buNone/>
            </a:pPr>
            <a:r>
              <a:rPr lang="en-US" sz="1875" dirty="0">
                <a:solidFill>
                  <a:srgbClr val="BFA06E"/>
                </a:solidFill>
                <a:latin typeface="Fira Sans" pitchFamily="34" charset="0"/>
                <a:ea typeface="Fira Sans" pitchFamily="34" charset="-122"/>
                <a:cs typeface="Fira Sans" pitchFamily="34" charset="-120"/>
              </a:rPr>
              <a:t>→</a:t>
            </a:r>
            <a:endParaRPr lang="en-US" sz="1875" dirty="0"/>
          </a:p>
        </p:txBody>
      </p:sp>
      <p:sp>
        <p:nvSpPr>
          <p:cNvPr id="10" name="Shape 7"/>
          <p:cNvSpPr/>
          <p:nvPr/>
        </p:nvSpPr>
        <p:spPr>
          <a:xfrm>
            <a:off x="13050183" y="5865169"/>
            <a:ext cx="2329662" cy="452804"/>
          </a:xfrm>
          <a:prstGeom prst="roundRect">
            <a:avLst>
              <a:gd name="adj" fmla="val 21036"/>
            </a:avLst>
          </a:prstGeom>
          <a:solidFill>
            <a:srgbClr val="FBF8F2"/>
          </a:solidFill>
          <a:ln w="6394">
            <a:solidFill>
              <a:srgbClr val="E4DBC9"/>
            </a:solidFill>
            <a:prstDash val="solid"/>
          </a:ln>
        </p:spPr>
        <p:txBody>
          <a:bodyPr/>
          <a:lstStyle/>
          <a:p>
            <a:endParaRPr lang="he-IL"/>
          </a:p>
        </p:txBody>
      </p:sp>
      <p:sp>
        <p:nvSpPr>
          <p:cNvPr id="11" name="Text 8"/>
          <p:cNvSpPr/>
          <p:nvPr/>
        </p:nvSpPr>
        <p:spPr>
          <a:xfrm>
            <a:off x="13208977" y="5947763"/>
            <a:ext cx="2088273" cy="325715"/>
          </a:xfrm>
          <a:prstGeom prst="rect">
            <a:avLst/>
          </a:prstGeom>
          <a:noFill/>
          <a:ln/>
        </p:spPr>
        <p:txBody>
          <a:bodyPr wrap="square" lIns="25400" tIns="25400" rIns="25400" bIns="25400" rtlCol="0" anchor="t">
            <a:normAutofit/>
          </a:bodyPr>
          <a:lstStyle/>
          <a:p>
            <a:pPr marL="0" indent="0" algn="l">
              <a:buNone/>
            </a:pPr>
            <a:r>
              <a:rPr lang="en-US" sz="1875" dirty="0">
                <a:solidFill>
                  <a:srgbClr val="5A5347"/>
                </a:solidFill>
                <a:latin typeface="Fira Sans" pitchFamily="34" charset="0"/>
                <a:ea typeface="Fira Sans" pitchFamily="34" charset="-122"/>
                <a:cs typeface="Fira Sans" pitchFamily="34" charset="-120"/>
              </a:rPr>
              <a:t>inertia mechanism</a:t>
            </a:r>
            <a:endParaRPr lang="en-US" sz="1875" dirty="0"/>
          </a:p>
        </p:txBody>
      </p:sp>
      <p:sp>
        <p:nvSpPr>
          <p:cNvPr id="12" name="Text 9"/>
          <p:cNvSpPr/>
          <p:nvPr/>
        </p:nvSpPr>
        <p:spPr>
          <a:xfrm>
            <a:off x="15494144" y="5947696"/>
            <a:ext cx="314292" cy="325848"/>
          </a:xfrm>
          <a:prstGeom prst="rect">
            <a:avLst/>
          </a:prstGeom>
          <a:noFill/>
          <a:ln/>
        </p:spPr>
        <p:txBody>
          <a:bodyPr wrap="square" lIns="25400" tIns="25400" rIns="25400" bIns="25400" rtlCol="0" anchor="t">
            <a:normAutofit/>
          </a:bodyPr>
          <a:lstStyle/>
          <a:p>
            <a:pPr marL="0" indent="0" algn="l">
              <a:buNone/>
            </a:pPr>
            <a:r>
              <a:rPr lang="en-US" sz="1875" dirty="0">
                <a:solidFill>
                  <a:srgbClr val="BFA06E"/>
                </a:solidFill>
                <a:latin typeface="Fira Sans" pitchFamily="34" charset="0"/>
                <a:ea typeface="Fira Sans" pitchFamily="34" charset="-122"/>
                <a:cs typeface="Fira Sans" pitchFamily="34" charset="-120"/>
              </a:rPr>
              <a:t>→</a:t>
            </a:r>
            <a:endParaRPr lang="en-US" sz="1875" dirty="0"/>
          </a:p>
        </p:txBody>
      </p:sp>
      <p:sp>
        <p:nvSpPr>
          <p:cNvPr id="13" name="Shape 10"/>
          <p:cNvSpPr/>
          <p:nvPr/>
        </p:nvSpPr>
        <p:spPr>
          <a:xfrm>
            <a:off x="15846536" y="5865169"/>
            <a:ext cx="901811" cy="452804"/>
          </a:xfrm>
          <a:prstGeom prst="roundRect">
            <a:avLst>
              <a:gd name="adj" fmla="val 21036"/>
            </a:avLst>
          </a:prstGeom>
          <a:solidFill>
            <a:srgbClr val="F6E7E1"/>
          </a:solidFill>
          <a:ln w="6394">
            <a:solidFill>
              <a:srgbClr val="E9CABF"/>
            </a:solidFill>
            <a:prstDash val="solid"/>
          </a:ln>
        </p:spPr>
        <p:txBody>
          <a:bodyPr/>
          <a:lstStyle/>
          <a:p>
            <a:endParaRPr lang="he-IL"/>
          </a:p>
        </p:txBody>
      </p:sp>
      <p:sp>
        <p:nvSpPr>
          <p:cNvPr id="14" name="Text 11"/>
          <p:cNvSpPr/>
          <p:nvPr/>
        </p:nvSpPr>
        <p:spPr>
          <a:xfrm>
            <a:off x="16005331" y="5947763"/>
            <a:ext cx="660422" cy="325715"/>
          </a:xfrm>
          <a:prstGeom prst="rect">
            <a:avLst/>
          </a:prstGeom>
          <a:noFill/>
          <a:ln/>
        </p:spPr>
        <p:txBody>
          <a:bodyPr wrap="square" lIns="25400" tIns="25400" rIns="25400" bIns="25400" rtlCol="0" anchor="t">
            <a:normAutofit/>
          </a:bodyPr>
          <a:lstStyle/>
          <a:p>
            <a:pPr marL="0" indent="0" algn="l">
              <a:buNone/>
            </a:pPr>
            <a:r>
              <a:rPr lang="en-US" sz="1875" dirty="0">
                <a:solidFill>
                  <a:srgbClr val="B3402F"/>
                </a:solidFill>
                <a:latin typeface="Fira Sans" pitchFamily="34" charset="0"/>
                <a:ea typeface="Fira Sans" pitchFamily="34" charset="-122"/>
                <a:cs typeface="Fira Sans" pitchFamily="34" charset="-120"/>
              </a:rPr>
              <a:t>low p</a:t>
            </a:r>
            <a:endParaRPr lang="en-US" sz="1875" dirty="0"/>
          </a:p>
        </p:txBody>
      </p:sp>
      <p:sp>
        <p:nvSpPr>
          <p:cNvPr id="15" name="Shape 12"/>
          <p:cNvSpPr/>
          <p:nvPr/>
        </p:nvSpPr>
        <p:spPr>
          <a:xfrm>
            <a:off x="11062021" y="6565556"/>
            <a:ext cx="25578" cy="1543050"/>
          </a:xfrm>
          <a:prstGeom prst="rect">
            <a:avLst/>
          </a:prstGeom>
          <a:solidFill>
            <a:srgbClr val="B3402F"/>
          </a:solidFill>
          <a:ln/>
        </p:spPr>
        <p:txBody>
          <a:bodyPr/>
          <a:lstStyle/>
          <a:p>
            <a:endParaRPr lang="he-IL"/>
          </a:p>
        </p:txBody>
      </p:sp>
      <p:sp>
        <p:nvSpPr>
          <p:cNvPr id="16" name="Text 13"/>
          <p:cNvSpPr/>
          <p:nvPr/>
        </p:nvSpPr>
        <p:spPr>
          <a:xfrm>
            <a:off x="11297149" y="6565556"/>
            <a:ext cx="6187380" cy="1581150"/>
          </a:xfrm>
          <a:prstGeom prst="rect">
            <a:avLst/>
          </a:prstGeom>
          <a:noFill/>
          <a:ln/>
        </p:spPr>
        <p:txBody>
          <a:bodyPr wrap="square" lIns="25400" tIns="25400" rIns="25400" bIns="25400" rtlCol="0" anchor="t">
            <a:normAutofit/>
          </a:bodyPr>
          <a:lstStyle/>
          <a:p>
            <a:pPr marL="0" indent="0" algn="l">
              <a:lnSpc>
                <a:spcPct val="150000"/>
              </a:lnSpc>
              <a:buNone/>
            </a:pPr>
            <a:r>
              <a:rPr lang="en-US" sz="2025" b="1" dirty="0">
                <a:solidFill>
                  <a:srgbClr val="B3402F"/>
                </a:solidFill>
                <a:latin typeface="Fira Sans" pitchFamily="34" charset="0"/>
                <a:ea typeface="Fira Sans" pitchFamily="34" charset="-122"/>
                <a:cs typeface="Fira Sans" pitchFamily="34" charset="-120"/>
              </a:rPr>
              <a:t>Circular by construction: </a:t>
            </a:r>
            <a:r>
              <a:rPr lang="en-US" sz="2025" dirty="0">
                <a:solidFill>
                  <a:srgbClr val="2A2520"/>
                </a:solidFill>
                <a:latin typeface="Fira Sans" pitchFamily="34" charset="0"/>
                <a:ea typeface="Fira Sans" pitchFamily="34" charset="-122"/>
                <a:cs typeface="Fira Sans" pitchFamily="34" charset="-120"/>
              </a:rPr>
              <a:t>any feature built from the current choice is penalized by inertia. Inclusion criterion — analyze only features </a:t>
            </a:r>
            <a:r>
              <a:rPr lang="en-US" sz="2025" b="1" dirty="0">
                <a:solidFill>
                  <a:srgbClr val="2A2520"/>
                </a:solidFill>
                <a:latin typeface="Fira Sans" pitchFamily="34" charset="0"/>
                <a:ea typeface="Fira Sans" pitchFamily="34" charset="-122"/>
                <a:cs typeface="Fira Sans" pitchFamily="34" charset="-120"/>
              </a:rPr>
              <a:t>independent of the current choice.</a:t>
            </a:r>
            <a:endParaRPr lang="en-US" sz="202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2ECE0"/>
        </a:solidFill>
        <a:effectLst/>
      </p:bgPr>
    </p:bg>
    <p:spTree>
      <p:nvGrpSpPr>
        <p:cNvPr id="1" name=""/>
        <p:cNvGrpSpPr/>
        <p:nvPr/>
      </p:nvGrpSpPr>
      <p:grpSpPr>
        <a:xfrm>
          <a:off x="0" y="0"/>
          <a:ext cx="0" cy="0"/>
          <a:chOff x="0" y="0"/>
          <a:chExt cx="0" cy="0"/>
        </a:xfrm>
      </p:grpSpPr>
      <p:sp>
        <p:nvSpPr>
          <p:cNvPr id="2" name="Text 0"/>
          <p:cNvSpPr/>
          <p:nvPr/>
        </p:nvSpPr>
        <p:spPr>
          <a:xfrm>
            <a:off x="990533" y="914400"/>
            <a:ext cx="7648539" cy="325848"/>
          </a:xfrm>
          <a:prstGeom prst="rect">
            <a:avLst/>
          </a:prstGeom>
          <a:noFill/>
          <a:ln/>
        </p:spPr>
        <p:txBody>
          <a:bodyPr wrap="square" lIns="25400" tIns="25400" rIns="25400" bIns="25400" rtlCol="0" anchor="ctr">
            <a:normAutofit/>
          </a:bodyPr>
          <a:lstStyle/>
          <a:p>
            <a:pPr marL="0" indent="0" algn="l">
              <a:buNone/>
            </a:pPr>
            <a:r>
              <a:rPr lang="en-US" sz="1875" b="1" kern="0" spc="300" dirty="0">
                <a:solidFill>
                  <a:srgbClr val="B3402F"/>
                </a:solidFill>
                <a:latin typeface="Fira Sans" pitchFamily="34" charset="0"/>
                <a:ea typeface="Fira Sans" pitchFamily="34" charset="-122"/>
                <a:cs typeface="Fira Sans" pitchFamily="34" charset="-120"/>
              </a:rPr>
              <a:t>CURRENT WORK</a:t>
            </a:r>
            <a:endParaRPr lang="en-US" sz="1875" dirty="0"/>
          </a:p>
        </p:txBody>
      </p:sp>
      <p:sp>
        <p:nvSpPr>
          <p:cNvPr id="3" name="Text 1"/>
          <p:cNvSpPr/>
          <p:nvPr/>
        </p:nvSpPr>
        <p:spPr>
          <a:xfrm>
            <a:off x="990533" y="1335432"/>
            <a:ext cx="7161813" cy="1127547"/>
          </a:xfrm>
          <a:prstGeom prst="rect">
            <a:avLst/>
          </a:prstGeom>
          <a:noFill/>
          <a:ln/>
        </p:spPr>
        <p:txBody>
          <a:bodyPr wrap="square" lIns="25400" tIns="25400" rIns="25400" bIns="25400" rtlCol="0" anchor="t">
            <a:normAutofit/>
          </a:bodyPr>
          <a:lstStyle/>
          <a:p>
            <a:pPr marL="0" indent="0" algn="l">
              <a:lnSpc>
                <a:spcPct val="110000"/>
              </a:lnSpc>
              <a:buNone/>
            </a:pPr>
            <a:r>
              <a:rPr lang="en-US" sz="3900" b="1" kern="0" spc="-58" dirty="0">
                <a:solidFill>
                  <a:srgbClr val="2A2520"/>
                </a:solidFill>
                <a:latin typeface="Fira Sans" pitchFamily="34" charset="0"/>
                <a:ea typeface="Fira Sans" pitchFamily="34" charset="-122"/>
                <a:cs typeface="Fira Sans" pitchFamily="34" charset="-120"/>
              </a:rPr>
              <a:t>Calibration: is the confidence warranted?</a:t>
            </a:r>
            <a:endParaRPr lang="en-US" sz="3900" dirty="0"/>
          </a:p>
        </p:txBody>
      </p:sp>
      <p:sp>
        <p:nvSpPr>
          <p:cNvPr id="4" name="Text 2"/>
          <p:cNvSpPr/>
          <p:nvPr/>
        </p:nvSpPr>
        <p:spPr>
          <a:xfrm>
            <a:off x="990533" y="4641539"/>
            <a:ext cx="7382143" cy="1752600"/>
          </a:xfrm>
          <a:prstGeom prst="rect">
            <a:avLst/>
          </a:prstGeom>
          <a:noFill/>
          <a:ln/>
        </p:spPr>
        <p:txBody>
          <a:bodyPr wrap="square" lIns="25400" tIns="25400" rIns="25400" bIns="25400" rtlCol="0" anchor="t">
            <a:normAutofit/>
          </a:bodyPr>
          <a:lstStyle/>
          <a:p>
            <a:pPr marL="0" indent="0" algn="l">
              <a:lnSpc>
                <a:spcPct val="150000"/>
              </a:lnSpc>
              <a:buNone/>
            </a:pPr>
            <a:r>
              <a:rPr lang="en-US" sz="2250" dirty="0">
                <a:solidFill>
                  <a:srgbClr val="5A5347"/>
                </a:solidFill>
                <a:latin typeface="Fira Sans" pitchFamily="34" charset="0"/>
                <a:ea typeface="Fira Sans" pitchFamily="34" charset="-122"/>
                <a:cs typeface="Fira Sans" pitchFamily="34" charset="-120"/>
              </a:rPr>
              <a:t>New approach: stop hunting features — study </a:t>
            </a:r>
            <a:r>
              <a:rPr lang="en-US" sz="2250" b="1" dirty="0">
                <a:solidFill>
                  <a:srgbClr val="2A2520"/>
                </a:solidFill>
                <a:latin typeface="Fira Sans" pitchFamily="34" charset="0"/>
                <a:ea typeface="Fira Sans" pitchFamily="34" charset="-122"/>
                <a:cs typeface="Fira Sans" pitchFamily="34" charset="-120"/>
              </a:rPr>
              <a:t>p itself </a:t>
            </a:r>
            <a:r>
              <a:rPr lang="en-US" sz="2250" dirty="0">
                <a:solidFill>
                  <a:srgbClr val="5A5347"/>
                </a:solidFill>
                <a:latin typeface="Fira Sans" pitchFamily="34" charset="0"/>
                <a:ea typeface="Fira Sans" pitchFamily="34" charset="-122"/>
                <a:cs typeface="Fira Sans" pitchFamily="34" charset="-120"/>
              </a:rPr>
              <a:t>as a mathematical object. Bucket predictions and compare each bucket’s stated p to its empirical frequency.</a:t>
            </a:r>
            <a:endParaRPr lang="en-US" sz="2250" dirty="0"/>
          </a:p>
        </p:txBody>
      </p:sp>
      <p:sp>
        <p:nvSpPr>
          <p:cNvPr id="5" name="Shape 3"/>
          <p:cNvSpPr/>
          <p:nvPr/>
        </p:nvSpPr>
        <p:spPr>
          <a:xfrm>
            <a:off x="990533" y="6641789"/>
            <a:ext cx="25578" cy="1199850"/>
          </a:xfrm>
          <a:prstGeom prst="rect">
            <a:avLst/>
          </a:prstGeom>
          <a:solidFill>
            <a:srgbClr val="2F6B7A"/>
          </a:solidFill>
          <a:ln/>
        </p:spPr>
        <p:txBody>
          <a:bodyPr/>
          <a:lstStyle/>
          <a:p>
            <a:endParaRPr lang="he-IL"/>
          </a:p>
        </p:txBody>
      </p:sp>
      <p:sp>
        <p:nvSpPr>
          <p:cNvPr id="6" name="Text 4"/>
          <p:cNvSpPr/>
          <p:nvPr/>
        </p:nvSpPr>
        <p:spPr>
          <a:xfrm>
            <a:off x="1225661" y="6641789"/>
            <a:ext cx="7147016" cy="1237950"/>
          </a:xfrm>
          <a:prstGeom prst="rect">
            <a:avLst/>
          </a:prstGeom>
          <a:noFill/>
          <a:ln/>
        </p:spPr>
        <p:txBody>
          <a:bodyPr wrap="square" lIns="25400" tIns="25400" rIns="25400" bIns="25400" rtlCol="0" anchor="t">
            <a:normAutofit/>
          </a:bodyPr>
          <a:lstStyle/>
          <a:p>
            <a:pPr marL="0" indent="0" algn="l">
              <a:lnSpc>
                <a:spcPct val="150000"/>
              </a:lnSpc>
              <a:buNone/>
            </a:pPr>
            <a:r>
              <a:rPr lang="en-US" sz="2100" dirty="0">
                <a:solidFill>
                  <a:srgbClr val="2A2520"/>
                </a:solidFill>
                <a:latin typeface="Fira Sans" pitchFamily="34" charset="0"/>
                <a:ea typeface="Fira Sans" pitchFamily="34" charset="-122"/>
                <a:cs typeface="Fira Sans" pitchFamily="34" charset="-120"/>
              </a:rPr>
              <a:t>The curve is </a:t>
            </a:r>
            <a:r>
              <a:rPr lang="en-US" sz="2100" b="1" dirty="0">
                <a:solidFill>
                  <a:srgbClr val="2A2520"/>
                </a:solidFill>
                <a:latin typeface="Fira Sans" pitchFamily="34" charset="0"/>
                <a:ea typeface="Fira Sans" pitchFamily="34" charset="-122"/>
                <a:cs typeface="Fira Sans" pitchFamily="34" charset="-120"/>
              </a:rPr>
              <a:t>non-monotonic</a:t>
            </a:r>
            <a:r>
              <a:rPr lang="en-US" sz="2100" dirty="0">
                <a:solidFill>
                  <a:srgbClr val="2A2520"/>
                </a:solidFill>
                <a:latin typeface="Fira Sans" pitchFamily="34" charset="0"/>
                <a:ea typeface="Fira Sans" pitchFamily="34" charset="-122"/>
                <a:cs typeface="Fira Sans" pitchFamily="34" charset="-120"/>
              </a:rPr>
              <a:t>: CATIE is </a:t>
            </a:r>
            <a:r>
              <a:rPr lang="en-US" sz="2100" i="1" dirty="0">
                <a:solidFill>
                  <a:srgbClr val="2A2520"/>
                </a:solidFill>
                <a:latin typeface="Fira Sans" pitchFamily="34" charset="0"/>
                <a:ea typeface="Fira Sans" pitchFamily="34" charset="-122"/>
                <a:cs typeface="Fira Sans" pitchFamily="34" charset="-120"/>
              </a:rPr>
              <a:t>under </a:t>
            </a:r>
            <a:r>
              <a:rPr lang="en-US" sz="2100" dirty="0">
                <a:solidFill>
                  <a:srgbClr val="2A2520"/>
                </a:solidFill>
                <a:latin typeface="Fira Sans" pitchFamily="34" charset="0"/>
                <a:ea typeface="Fira Sans" pitchFamily="34" charset="-122"/>
                <a:cs typeface="Fira Sans" pitchFamily="34" charset="-120"/>
              </a:rPr>
              <a:t>-confident at the low end, mildly </a:t>
            </a:r>
            <a:r>
              <a:rPr lang="en-US" sz="2100" i="1" dirty="0">
                <a:solidFill>
                  <a:srgbClr val="2A2520"/>
                </a:solidFill>
                <a:latin typeface="Fira Sans" pitchFamily="34" charset="0"/>
                <a:ea typeface="Fira Sans" pitchFamily="34" charset="-122"/>
                <a:cs typeface="Fira Sans" pitchFamily="34" charset="-120"/>
              </a:rPr>
              <a:t>over </a:t>
            </a:r>
            <a:r>
              <a:rPr lang="en-US" sz="2100" dirty="0">
                <a:solidFill>
                  <a:srgbClr val="2A2520"/>
                </a:solidFill>
                <a:latin typeface="Fira Sans" pitchFamily="34" charset="0"/>
                <a:ea typeface="Fira Sans" pitchFamily="34" charset="-122"/>
                <a:cs typeface="Fira Sans" pitchFamily="34" charset="-120"/>
              </a:rPr>
              <a:t>-confident at the top — specific zones of miscalibration, not a uniform bias.</a:t>
            </a:r>
            <a:endParaRPr lang="en-US" sz="2100" dirty="0"/>
          </a:p>
        </p:txBody>
      </p:sp>
      <p:sp>
        <p:nvSpPr>
          <p:cNvPr id="7" name="Shape 5"/>
          <p:cNvSpPr/>
          <p:nvPr/>
        </p:nvSpPr>
        <p:spPr>
          <a:xfrm>
            <a:off x="8672013" y="2767778"/>
            <a:ext cx="8625454" cy="6947721"/>
          </a:xfrm>
          <a:prstGeom prst="roundRect">
            <a:avLst>
              <a:gd name="adj" fmla="val 2468"/>
            </a:avLst>
          </a:prstGeom>
          <a:solidFill>
            <a:srgbClr val="FBF8F2"/>
          </a:solidFill>
          <a:ln w="6394">
            <a:solidFill>
              <a:srgbClr val="E4DBC9"/>
            </a:solidFill>
            <a:prstDash val="solid"/>
          </a:ln>
          <a:effectLst>
            <a:outerShdw blurRad="266700" dist="57150" dir="5400000" algn="bl" rotWithShape="0">
              <a:srgbClr val="463723">
                <a:alpha val="5000"/>
              </a:srgbClr>
            </a:outerShdw>
          </a:effectLst>
        </p:spPr>
        <p:txBody>
          <a:bodyPr/>
          <a:lstStyle/>
          <a:p>
            <a:endParaRPr lang="he-IL"/>
          </a:p>
        </p:txBody>
      </p:sp>
      <p:pic>
        <p:nvPicPr>
          <p:cNvPr id="8" name="Image 0" descr="preencoded.png"/>
          <p:cNvPicPr>
            <a:picLocks noChangeAspect="1"/>
          </p:cNvPicPr>
          <p:nvPr/>
        </p:nvPicPr>
        <p:blipFill>
          <a:blip r:embed="rId3"/>
          <a:srcRect l="-13249" r="-13249"/>
          <a:stretch/>
        </p:blipFill>
        <p:spPr>
          <a:xfrm>
            <a:off x="8964157" y="3059923"/>
            <a:ext cx="8041165" cy="636343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2ECE0"/>
        </a:solidFill>
        <a:effectLst/>
      </p:bgPr>
    </p:bg>
    <p:spTree>
      <p:nvGrpSpPr>
        <p:cNvPr id="1" name=""/>
        <p:cNvGrpSpPr/>
        <p:nvPr/>
      </p:nvGrpSpPr>
      <p:grpSpPr>
        <a:xfrm>
          <a:off x="0" y="0"/>
          <a:ext cx="0" cy="0"/>
          <a:chOff x="0" y="0"/>
          <a:chExt cx="0" cy="0"/>
        </a:xfrm>
      </p:grpSpPr>
      <p:sp>
        <p:nvSpPr>
          <p:cNvPr id="2" name="Text 0"/>
          <p:cNvSpPr/>
          <p:nvPr/>
        </p:nvSpPr>
        <p:spPr>
          <a:xfrm>
            <a:off x="990533" y="914400"/>
            <a:ext cx="7648539" cy="325848"/>
          </a:xfrm>
          <a:prstGeom prst="rect">
            <a:avLst/>
          </a:prstGeom>
          <a:noFill/>
          <a:ln/>
        </p:spPr>
        <p:txBody>
          <a:bodyPr wrap="square" lIns="25400" tIns="25400" rIns="25400" bIns="25400" rtlCol="0" anchor="ctr">
            <a:normAutofit/>
          </a:bodyPr>
          <a:lstStyle/>
          <a:p>
            <a:pPr marL="0" indent="0" algn="l">
              <a:buNone/>
            </a:pPr>
            <a:r>
              <a:rPr lang="en-US" sz="1875" b="1" kern="0" spc="300" dirty="0">
                <a:solidFill>
                  <a:srgbClr val="B3402F"/>
                </a:solidFill>
                <a:latin typeface="Fira Sans" pitchFamily="34" charset="0"/>
                <a:ea typeface="Fira Sans" pitchFamily="34" charset="-122"/>
                <a:cs typeface="Fira Sans" pitchFamily="34" charset="-120"/>
              </a:rPr>
              <a:t>CURRENT WORK</a:t>
            </a:r>
            <a:endParaRPr lang="en-US" sz="1875" dirty="0"/>
          </a:p>
        </p:txBody>
      </p:sp>
      <p:sp>
        <p:nvSpPr>
          <p:cNvPr id="3" name="Text 1"/>
          <p:cNvSpPr/>
          <p:nvPr/>
        </p:nvSpPr>
        <p:spPr>
          <a:xfrm>
            <a:off x="990533" y="1335432"/>
            <a:ext cx="7161813" cy="1127547"/>
          </a:xfrm>
          <a:prstGeom prst="rect">
            <a:avLst/>
          </a:prstGeom>
          <a:noFill/>
          <a:ln/>
        </p:spPr>
        <p:txBody>
          <a:bodyPr wrap="square" lIns="25400" tIns="25400" rIns="25400" bIns="25400" rtlCol="0" anchor="t">
            <a:normAutofit/>
          </a:bodyPr>
          <a:lstStyle/>
          <a:p>
            <a:pPr marL="0" indent="0" algn="l">
              <a:lnSpc>
                <a:spcPct val="110000"/>
              </a:lnSpc>
              <a:buNone/>
            </a:pPr>
            <a:r>
              <a:rPr lang="en-US" sz="3900" b="1" kern="0" spc="-58" dirty="0">
                <a:solidFill>
                  <a:srgbClr val="2A2520"/>
                </a:solidFill>
                <a:latin typeface="Fira Sans" pitchFamily="34" charset="0"/>
                <a:ea typeface="Fira Sans" pitchFamily="34" charset="-122"/>
                <a:cs typeface="Fira Sans" pitchFamily="34" charset="-120"/>
              </a:rPr>
              <a:t>Calibration: does confidence drift over a session?</a:t>
            </a:r>
            <a:endParaRPr lang="en-US" sz="3900" dirty="0"/>
          </a:p>
        </p:txBody>
      </p:sp>
      <p:sp>
        <p:nvSpPr>
          <p:cNvPr id="4" name="Shape 2"/>
          <p:cNvSpPr/>
          <p:nvPr/>
        </p:nvSpPr>
        <p:spPr>
          <a:xfrm>
            <a:off x="990533" y="2812639"/>
            <a:ext cx="10469640" cy="6858000"/>
          </a:xfrm>
          <a:prstGeom prst="roundRect">
            <a:avLst>
              <a:gd name="adj" fmla="val 2500"/>
            </a:avLst>
          </a:prstGeom>
          <a:solidFill>
            <a:srgbClr val="FBF8F2"/>
          </a:solidFill>
          <a:ln w="6394">
            <a:solidFill>
              <a:srgbClr val="E4DBC9"/>
            </a:solidFill>
            <a:prstDash val="solid"/>
          </a:ln>
          <a:effectLst>
            <a:outerShdw blurRad="266700" dist="57150" dir="5400000" algn="bl" rotWithShape="0">
              <a:srgbClr val="463723">
                <a:alpha val="5000"/>
              </a:srgbClr>
            </a:outerShdw>
          </a:effectLst>
        </p:spPr>
        <p:txBody>
          <a:bodyPr/>
          <a:lstStyle/>
          <a:p>
            <a:endParaRPr lang="he-IL"/>
          </a:p>
        </p:txBody>
      </p:sp>
      <p:pic>
        <p:nvPicPr>
          <p:cNvPr id="5" name="Image 0" descr="preencoded.png"/>
          <p:cNvPicPr>
            <a:picLocks noChangeAspect="1"/>
          </p:cNvPicPr>
          <p:nvPr/>
        </p:nvPicPr>
        <p:blipFill>
          <a:blip r:embed="rId3"/>
          <a:srcRect t="-14335" b="-14335"/>
          <a:stretch/>
        </p:blipFill>
        <p:spPr>
          <a:xfrm>
            <a:off x="1282678" y="3104784"/>
            <a:ext cx="9885351" cy="6273711"/>
          </a:xfrm>
          <a:prstGeom prst="rect">
            <a:avLst/>
          </a:prstGeom>
        </p:spPr>
      </p:pic>
      <p:sp>
        <p:nvSpPr>
          <p:cNvPr id="6" name="Text 3"/>
          <p:cNvSpPr/>
          <p:nvPr/>
        </p:nvSpPr>
        <p:spPr>
          <a:xfrm>
            <a:off x="11974524" y="4855852"/>
            <a:ext cx="5482631" cy="1323975"/>
          </a:xfrm>
          <a:prstGeom prst="rect">
            <a:avLst/>
          </a:prstGeom>
          <a:noFill/>
          <a:ln/>
        </p:spPr>
        <p:txBody>
          <a:bodyPr wrap="square" lIns="25400" tIns="25400" rIns="25400" bIns="25400" rtlCol="0" anchor="t">
            <a:normAutofit/>
          </a:bodyPr>
          <a:lstStyle/>
          <a:p>
            <a:pPr marL="0" indent="0" algn="l">
              <a:lnSpc>
                <a:spcPct val="150000"/>
              </a:lnSpc>
              <a:buNone/>
            </a:pPr>
            <a:r>
              <a:rPr lang="en-US" sz="2250" dirty="0">
                <a:solidFill>
                  <a:srgbClr val="5A5347"/>
                </a:solidFill>
                <a:latin typeface="Fira Sans" pitchFamily="34" charset="0"/>
                <a:ea typeface="Fira Sans" pitchFamily="34" charset="-122"/>
                <a:cs typeface="Fira Sans" pitchFamily="34" charset="-120"/>
              </a:rPr>
              <a:t>Tracking mean confidence against trial number, </a:t>
            </a:r>
            <a:r>
              <a:rPr lang="en-US" sz="2250" b="1" dirty="0">
                <a:solidFill>
                  <a:srgbClr val="2A2520"/>
                </a:solidFill>
                <a:latin typeface="Fira Sans" pitchFamily="34" charset="0"/>
                <a:ea typeface="Fira Sans" pitchFamily="34" charset="-122"/>
                <a:cs typeface="Fira Sans" pitchFamily="34" charset="-120"/>
              </a:rPr>
              <a:t>separately per reward schedule </a:t>
            </a:r>
            <a:r>
              <a:rPr lang="en-US" sz="2250" dirty="0">
                <a:solidFill>
                  <a:srgbClr val="5A5347"/>
                </a:solidFill>
                <a:latin typeface="Fira Sans" pitchFamily="34" charset="0"/>
                <a:ea typeface="Fira Sans" pitchFamily="34" charset="-122"/>
                <a:cs typeface="Fira Sans" pitchFamily="34" charset="-120"/>
              </a:rPr>
              <a:t>(4, 5, 7 in this set).</a:t>
            </a:r>
            <a:endParaRPr lang="en-US" sz="2250" dirty="0"/>
          </a:p>
        </p:txBody>
      </p:sp>
      <p:sp>
        <p:nvSpPr>
          <p:cNvPr id="7" name="Shape 4"/>
          <p:cNvSpPr/>
          <p:nvPr/>
        </p:nvSpPr>
        <p:spPr>
          <a:xfrm>
            <a:off x="11974524" y="6427477"/>
            <a:ext cx="25578" cy="1199850"/>
          </a:xfrm>
          <a:prstGeom prst="rect">
            <a:avLst/>
          </a:prstGeom>
          <a:solidFill>
            <a:srgbClr val="2F6B7A"/>
          </a:solidFill>
          <a:ln/>
        </p:spPr>
        <p:txBody>
          <a:bodyPr/>
          <a:lstStyle/>
          <a:p>
            <a:endParaRPr lang="he-IL"/>
          </a:p>
        </p:txBody>
      </p:sp>
      <p:sp>
        <p:nvSpPr>
          <p:cNvPr id="8" name="Text 5"/>
          <p:cNvSpPr/>
          <p:nvPr/>
        </p:nvSpPr>
        <p:spPr>
          <a:xfrm>
            <a:off x="12209651" y="6427477"/>
            <a:ext cx="5247504" cy="1237950"/>
          </a:xfrm>
          <a:prstGeom prst="rect">
            <a:avLst/>
          </a:prstGeom>
          <a:noFill/>
          <a:ln/>
        </p:spPr>
        <p:txBody>
          <a:bodyPr wrap="square" lIns="25400" tIns="25400" rIns="25400" bIns="25400" rtlCol="0" anchor="t">
            <a:normAutofit/>
          </a:bodyPr>
          <a:lstStyle/>
          <a:p>
            <a:pPr marL="0" indent="0" algn="l">
              <a:lnSpc>
                <a:spcPct val="150000"/>
              </a:lnSpc>
              <a:buNone/>
            </a:pPr>
            <a:r>
              <a:rPr lang="en-US" sz="2100" dirty="0">
                <a:solidFill>
                  <a:srgbClr val="2A2520"/>
                </a:solidFill>
                <a:latin typeface="Fira Sans" pitchFamily="34" charset="0"/>
                <a:ea typeface="Fira Sans" pitchFamily="34" charset="-122"/>
                <a:cs typeface="Fira Sans" pitchFamily="34" charset="-120"/>
              </a:rPr>
              <a:t>Testing whether the model’s confidence </a:t>
            </a:r>
            <a:r>
              <a:rPr lang="en-US" sz="2100" b="1" dirty="0">
                <a:solidFill>
                  <a:srgbClr val="2A2520"/>
                </a:solidFill>
                <a:latin typeface="Fira Sans" pitchFamily="34" charset="0"/>
                <a:ea typeface="Fira Sans" pitchFamily="34" charset="-122"/>
                <a:cs typeface="Fira Sans" pitchFamily="34" charset="-120"/>
              </a:rPr>
              <a:t>systematically drifts </a:t>
            </a:r>
            <a:r>
              <a:rPr lang="en-US" sz="2100" dirty="0">
                <a:solidFill>
                  <a:srgbClr val="2A2520"/>
                </a:solidFill>
                <a:latin typeface="Fira Sans" pitchFamily="34" charset="0"/>
                <a:ea typeface="Fira Sans" pitchFamily="34" charset="-122"/>
                <a:cs typeface="Fira Sans" pitchFamily="34" charset="-120"/>
              </a:rPr>
              <a:t>as a session unfolds — or stays stable.</a:t>
            </a:r>
            <a:endParaRPr lang="en-US" sz="2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2ECE0"/>
        </a:solidFill>
        <a:effectLst/>
      </p:bgPr>
    </p:bg>
    <p:spTree>
      <p:nvGrpSpPr>
        <p:cNvPr id="1" name=""/>
        <p:cNvGrpSpPr/>
        <p:nvPr/>
      </p:nvGrpSpPr>
      <p:grpSpPr>
        <a:xfrm>
          <a:off x="0" y="0"/>
          <a:ext cx="0" cy="0"/>
          <a:chOff x="0" y="0"/>
          <a:chExt cx="0" cy="0"/>
        </a:xfrm>
      </p:grpSpPr>
      <p:sp>
        <p:nvSpPr>
          <p:cNvPr id="2" name="Text 0"/>
          <p:cNvSpPr/>
          <p:nvPr/>
        </p:nvSpPr>
        <p:spPr>
          <a:xfrm>
            <a:off x="990533" y="914400"/>
            <a:ext cx="8756149" cy="325848"/>
          </a:xfrm>
          <a:prstGeom prst="rect">
            <a:avLst/>
          </a:prstGeom>
          <a:noFill/>
          <a:ln/>
        </p:spPr>
        <p:txBody>
          <a:bodyPr wrap="square" lIns="25400" tIns="25400" rIns="25400" bIns="25400" rtlCol="0" anchor="ctr">
            <a:normAutofit/>
          </a:bodyPr>
          <a:lstStyle/>
          <a:p>
            <a:pPr marL="0" indent="0" algn="l">
              <a:buNone/>
            </a:pPr>
            <a:r>
              <a:rPr lang="en-US" sz="1875" b="1" kern="0" spc="300" dirty="0">
                <a:solidFill>
                  <a:srgbClr val="B3402F"/>
                </a:solidFill>
                <a:latin typeface="Fira Sans" pitchFamily="34" charset="0"/>
                <a:ea typeface="Fira Sans" pitchFamily="34" charset="-122"/>
                <a:cs typeface="Fira Sans" pitchFamily="34" charset="-120"/>
              </a:rPr>
              <a:t>CURRENT WORK</a:t>
            </a:r>
            <a:endParaRPr lang="en-US" sz="1875" dirty="0"/>
          </a:p>
        </p:txBody>
      </p:sp>
      <p:sp>
        <p:nvSpPr>
          <p:cNvPr id="3" name="Text 1"/>
          <p:cNvSpPr/>
          <p:nvPr/>
        </p:nvSpPr>
        <p:spPr>
          <a:xfrm>
            <a:off x="990533" y="1335432"/>
            <a:ext cx="8756149" cy="582823"/>
          </a:xfrm>
          <a:prstGeom prst="rect">
            <a:avLst/>
          </a:prstGeom>
          <a:noFill/>
          <a:ln/>
        </p:spPr>
        <p:txBody>
          <a:bodyPr wrap="square" lIns="25400" tIns="25400" rIns="25400" bIns="25400" rtlCol="0" anchor="t">
            <a:normAutofit/>
          </a:bodyPr>
          <a:lstStyle/>
          <a:p>
            <a:pPr marL="0" indent="0" algn="l">
              <a:lnSpc>
                <a:spcPct val="110000"/>
              </a:lnSpc>
              <a:buNone/>
            </a:pPr>
            <a:r>
              <a:rPr lang="en-US" sz="3900" b="1" kern="0" spc="-58" dirty="0">
                <a:solidFill>
                  <a:srgbClr val="2A2520"/>
                </a:solidFill>
                <a:latin typeface="Fira Sans" pitchFamily="34" charset="0"/>
                <a:ea typeface="Fira Sans" pitchFamily="34" charset="-122"/>
                <a:cs typeface="Fira Sans" pitchFamily="34" charset="-120"/>
              </a:rPr>
              <a:t>High-confidence shrinkage </a:t>
            </a:r>
            <a:r>
              <a:rPr lang="en-US" sz="3900" b="1" kern="0" spc="-58" dirty="0">
                <a:solidFill>
                  <a:srgbClr val="B3402F"/>
                </a:solidFill>
                <a:latin typeface="Fira Sans" pitchFamily="34" charset="0"/>
                <a:ea typeface="Fira Sans" pitchFamily="34" charset="-122"/>
                <a:cs typeface="Fira Sans" pitchFamily="34" charset="-120"/>
              </a:rPr>
              <a:t>(p &gt; 0.85)</a:t>
            </a:r>
            <a:endParaRPr lang="en-US" sz="3900" dirty="0"/>
          </a:p>
        </p:txBody>
      </p:sp>
      <p:sp>
        <p:nvSpPr>
          <p:cNvPr id="4" name="Shape 2"/>
          <p:cNvSpPr/>
          <p:nvPr/>
        </p:nvSpPr>
        <p:spPr>
          <a:xfrm>
            <a:off x="990533" y="2435469"/>
            <a:ext cx="9557138" cy="7048433"/>
          </a:xfrm>
          <a:prstGeom prst="roundRect">
            <a:avLst>
              <a:gd name="adj" fmla="val 2432"/>
            </a:avLst>
          </a:prstGeom>
          <a:solidFill>
            <a:srgbClr val="FBF8F2"/>
          </a:solidFill>
          <a:ln w="6394">
            <a:solidFill>
              <a:srgbClr val="E4DBC9"/>
            </a:solidFill>
            <a:prstDash val="solid"/>
          </a:ln>
          <a:effectLst>
            <a:outerShdw blurRad="266700" dist="57150" dir="5400000" algn="bl" rotWithShape="0">
              <a:srgbClr val="463723">
                <a:alpha val="5000"/>
              </a:srgbClr>
            </a:outerShdw>
          </a:effectLst>
        </p:spPr>
        <p:txBody>
          <a:bodyPr/>
          <a:lstStyle/>
          <a:p>
            <a:endParaRPr lang="he-IL"/>
          </a:p>
        </p:txBody>
      </p:sp>
      <p:pic>
        <p:nvPicPr>
          <p:cNvPr id="5" name="Image 0" descr="preencoded.png"/>
          <p:cNvPicPr>
            <a:picLocks noChangeAspect="1"/>
          </p:cNvPicPr>
          <p:nvPr/>
        </p:nvPicPr>
        <p:blipFill>
          <a:blip r:embed="rId3"/>
          <a:srcRect t="-6385" b="-6385"/>
          <a:stretch/>
        </p:blipFill>
        <p:spPr>
          <a:xfrm>
            <a:off x="1282678" y="2727614"/>
            <a:ext cx="8972849" cy="6464144"/>
          </a:xfrm>
          <a:prstGeom prst="rect">
            <a:avLst/>
          </a:prstGeom>
        </p:spPr>
      </p:pic>
      <p:sp>
        <p:nvSpPr>
          <p:cNvPr id="6" name="Text 3"/>
          <p:cNvSpPr/>
          <p:nvPr/>
        </p:nvSpPr>
        <p:spPr>
          <a:xfrm>
            <a:off x="11062021" y="4216011"/>
            <a:ext cx="6422508" cy="895350"/>
          </a:xfrm>
          <a:prstGeom prst="rect">
            <a:avLst/>
          </a:prstGeom>
          <a:noFill/>
          <a:ln/>
        </p:spPr>
        <p:txBody>
          <a:bodyPr wrap="square" lIns="25400" tIns="25400" rIns="25400" bIns="25400" rtlCol="0" anchor="t">
            <a:normAutofit/>
          </a:bodyPr>
          <a:lstStyle/>
          <a:p>
            <a:pPr marL="0" indent="0" algn="l">
              <a:lnSpc>
                <a:spcPct val="150000"/>
              </a:lnSpc>
              <a:buNone/>
            </a:pPr>
            <a:r>
              <a:rPr lang="en-US" sz="2250" dirty="0">
                <a:solidFill>
                  <a:srgbClr val="5A5347"/>
                </a:solidFill>
                <a:latin typeface="Fira Sans" pitchFamily="34" charset="0"/>
                <a:ea typeface="Fira Sans" pitchFamily="34" charset="-122"/>
                <a:cs typeface="Fira Sans" pitchFamily="34" charset="-120"/>
              </a:rPr>
              <a:t>When CATIE is most confident, real accuracy </a:t>
            </a:r>
            <a:r>
              <a:rPr lang="en-US" sz="2250" b="1" dirty="0">
                <a:solidFill>
                  <a:srgbClr val="2A2520"/>
                </a:solidFill>
                <a:latin typeface="Fira Sans" pitchFamily="34" charset="0"/>
                <a:ea typeface="Fira Sans" pitchFamily="34" charset="-122"/>
                <a:cs typeface="Fira Sans" pitchFamily="34" charset="-120"/>
              </a:rPr>
              <a:t>lags </a:t>
            </a:r>
            <a:r>
              <a:rPr lang="en-US" sz="2250" dirty="0">
                <a:solidFill>
                  <a:srgbClr val="5A5347"/>
                </a:solidFill>
                <a:latin typeface="Fira Sans" pitchFamily="34" charset="0"/>
                <a:ea typeface="Fira Sans" pitchFamily="34" charset="-122"/>
                <a:cs typeface="Fira Sans" pitchFamily="34" charset="-120"/>
              </a:rPr>
              <a:t>what it claims.</a:t>
            </a:r>
            <a:endParaRPr lang="en-US" sz="2250" dirty="0"/>
          </a:p>
        </p:txBody>
      </p:sp>
      <p:sp>
        <p:nvSpPr>
          <p:cNvPr id="7" name="Text 4"/>
          <p:cNvSpPr/>
          <p:nvPr/>
        </p:nvSpPr>
        <p:spPr>
          <a:xfrm>
            <a:off x="11062021" y="5339928"/>
            <a:ext cx="2400300" cy="306665"/>
          </a:xfrm>
          <a:prstGeom prst="rect">
            <a:avLst/>
          </a:prstGeom>
          <a:noFill/>
          <a:ln/>
        </p:spPr>
        <p:txBody>
          <a:bodyPr wrap="square" lIns="25400" tIns="25400" rIns="25400" bIns="25400" rtlCol="0" anchor="t">
            <a:normAutofit/>
          </a:bodyPr>
          <a:lstStyle/>
          <a:p>
            <a:pPr marL="0" indent="0" algn="l">
              <a:buNone/>
            </a:pPr>
            <a:r>
              <a:rPr lang="en-US" sz="1800" b="1" kern="0" spc="144" dirty="0">
                <a:solidFill>
                  <a:srgbClr val="2F6B7A"/>
                </a:solidFill>
                <a:latin typeface="Fira Sans" pitchFamily="34" charset="0"/>
                <a:ea typeface="Fira Sans" pitchFamily="34" charset="-122"/>
                <a:cs typeface="Fira Sans" pitchFamily="34" charset="-120"/>
              </a:rPr>
              <a:t>STATED</a:t>
            </a:r>
            <a:endParaRPr lang="en-US" sz="1800" dirty="0"/>
          </a:p>
        </p:txBody>
      </p:sp>
      <p:sp>
        <p:nvSpPr>
          <p:cNvPr id="8" name="Text 5"/>
          <p:cNvSpPr/>
          <p:nvPr/>
        </p:nvSpPr>
        <p:spPr>
          <a:xfrm>
            <a:off x="11062021" y="5665643"/>
            <a:ext cx="2400300" cy="632780"/>
          </a:xfrm>
          <a:prstGeom prst="rect">
            <a:avLst/>
          </a:prstGeom>
          <a:noFill/>
          <a:ln/>
        </p:spPr>
        <p:txBody>
          <a:bodyPr wrap="square" lIns="25400" tIns="25400" rIns="25400" bIns="25400" rtlCol="0" anchor="t">
            <a:normAutofit/>
          </a:bodyPr>
          <a:lstStyle/>
          <a:p>
            <a:pPr marL="0" indent="0" algn="l">
              <a:buNone/>
            </a:pPr>
            <a:r>
              <a:rPr lang="en-US" sz="3900" b="1" dirty="0">
                <a:solidFill>
                  <a:srgbClr val="2F6B7A"/>
                </a:solidFill>
                <a:latin typeface="Fira Sans" pitchFamily="34" charset="0"/>
                <a:ea typeface="Fira Sans" pitchFamily="34" charset="-122"/>
                <a:cs typeface="Fira Sans" pitchFamily="34" charset="-120"/>
              </a:rPr>
              <a:t>0.88–0.95</a:t>
            </a:r>
            <a:endParaRPr lang="en-US" sz="3900" dirty="0"/>
          </a:p>
        </p:txBody>
      </p:sp>
      <p:sp>
        <p:nvSpPr>
          <p:cNvPr id="9" name="Text 6"/>
          <p:cNvSpPr/>
          <p:nvPr/>
        </p:nvSpPr>
        <p:spPr>
          <a:xfrm>
            <a:off x="13472713" y="5582716"/>
            <a:ext cx="438183" cy="472920"/>
          </a:xfrm>
          <a:prstGeom prst="rect">
            <a:avLst/>
          </a:prstGeom>
          <a:noFill/>
          <a:ln/>
        </p:spPr>
        <p:txBody>
          <a:bodyPr wrap="square" lIns="25400" tIns="25400" rIns="25400" bIns="25400" rtlCol="0" anchor="t">
            <a:normAutofit/>
          </a:bodyPr>
          <a:lstStyle/>
          <a:p>
            <a:pPr marL="0" indent="0" algn="l">
              <a:buNone/>
            </a:pPr>
            <a:r>
              <a:rPr lang="en-US" sz="2850" dirty="0">
                <a:solidFill>
                  <a:srgbClr val="BFA06E"/>
                </a:solidFill>
                <a:latin typeface="Fira Sans" pitchFamily="34" charset="0"/>
                <a:ea typeface="Fira Sans" pitchFamily="34" charset="-122"/>
                <a:cs typeface="Fira Sans" pitchFamily="34" charset="-120"/>
              </a:rPr>
              <a:t>→</a:t>
            </a:r>
            <a:endParaRPr lang="en-US" sz="2850" dirty="0"/>
          </a:p>
        </p:txBody>
      </p:sp>
      <p:sp>
        <p:nvSpPr>
          <p:cNvPr id="10" name="Text 7"/>
          <p:cNvSpPr/>
          <p:nvPr/>
        </p:nvSpPr>
        <p:spPr>
          <a:xfrm>
            <a:off x="14063296" y="5339928"/>
            <a:ext cx="2302815" cy="306665"/>
          </a:xfrm>
          <a:prstGeom prst="rect">
            <a:avLst/>
          </a:prstGeom>
          <a:noFill/>
          <a:ln/>
        </p:spPr>
        <p:txBody>
          <a:bodyPr wrap="square" lIns="25400" tIns="25400" rIns="25400" bIns="25400" rtlCol="0" anchor="t">
            <a:normAutofit/>
          </a:bodyPr>
          <a:lstStyle/>
          <a:p>
            <a:pPr marL="0" indent="0" algn="l">
              <a:buNone/>
            </a:pPr>
            <a:r>
              <a:rPr lang="en-US" sz="1800" b="1" kern="0" spc="144" dirty="0">
                <a:solidFill>
                  <a:srgbClr val="B3402F"/>
                </a:solidFill>
                <a:latin typeface="Fira Sans" pitchFamily="34" charset="0"/>
                <a:ea typeface="Fira Sans" pitchFamily="34" charset="-122"/>
                <a:cs typeface="Fira Sans" pitchFamily="34" charset="-120"/>
              </a:rPr>
              <a:t>OBSERVED</a:t>
            </a:r>
            <a:endParaRPr lang="en-US" sz="1800" dirty="0"/>
          </a:p>
        </p:txBody>
      </p:sp>
      <p:sp>
        <p:nvSpPr>
          <p:cNvPr id="11" name="Text 8"/>
          <p:cNvSpPr/>
          <p:nvPr/>
        </p:nvSpPr>
        <p:spPr>
          <a:xfrm>
            <a:off x="14063296" y="5665643"/>
            <a:ext cx="2302815" cy="632780"/>
          </a:xfrm>
          <a:prstGeom prst="rect">
            <a:avLst/>
          </a:prstGeom>
          <a:noFill/>
          <a:ln/>
        </p:spPr>
        <p:txBody>
          <a:bodyPr wrap="square" lIns="25400" tIns="25400" rIns="25400" bIns="25400" rtlCol="0" anchor="t">
            <a:normAutofit/>
          </a:bodyPr>
          <a:lstStyle/>
          <a:p>
            <a:pPr marL="0" indent="0" algn="l">
              <a:buNone/>
            </a:pPr>
            <a:r>
              <a:rPr lang="en-US" sz="3900" b="1" dirty="0">
                <a:solidFill>
                  <a:srgbClr val="B3402F"/>
                </a:solidFill>
                <a:latin typeface="Fira Sans" pitchFamily="34" charset="0"/>
                <a:ea typeface="Fira Sans" pitchFamily="34" charset="-122"/>
                <a:cs typeface="Fira Sans" pitchFamily="34" charset="-120"/>
              </a:rPr>
              <a:t>0.70–0.81</a:t>
            </a:r>
            <a:endParaRPr lang="en-US" sz="3900" dirty="0"/>
          </a:p>
        </p:txBody>
      </p:sp>
      <p:sp>
        <p:nvSpPr>
          <p:cNvPr id="12" name="Shape 9"/>
          <p:cNvSpPr/>
          <p:nvPr/>
        </p:nvSpPr>
        <p:spPr>
          <a:xfrm>
            <a:off x="11062021" y="6546073"/>
            <a:ext cx="25578" cy="1157288"/>
          </a:xfrm>
          <a:prstGeom prst="rect">
            <a:avLst/>
          </a:prstGeom>
          <a:solidFill>
            <a:srgbClr val="B3402F"/>
          </a:solidFill>
          <a:ln/>
        </p:spPr>
        <p:txBody>
          <a:bodyPr/>
          <a:lstStyle/>
          <a:p>
            <a:endParaRPr lang="he-IL"/>
          </a:p>
        </p:txBody>
      </p:sp>
      <p:sp>
        <p:nvSpPr>
          <p:cNvPr id="13" name="Text 10"/>
          <p:cNvSpPr/>
          <p:nvPr/>
        </p:nvSpPr>
        <p:spPr>
          <a:xfrm>
            <a:off x="11297149" y="6546073"/>
            <a:ext cx="6187380" cy="1195388"/>
          </a:xfrm>
          <a:prstGeom prst="rect">
            <a:avLst/>
          </a:prstGeom>
          <a:noFill/>
          <a:ln/>
        </p:spPr>
        <p:txBody>
          <a:bodyPr wrap="square" lIns="25400" tIns="25400" rIns="25400" bIns="25400" rtlCol="0" anchor="t">
            <a:normAutofit/>
          </a:bodyPr>
          <a:lstStyle/>
          <a:p>
            <a:pPr marL="0" indent="0" algn="l">
              <a:lnSpc>
                <a:spcPct val="150000"/>
              </a:lnSpc>
              <a:buNone/>
            </a:pPr>
            <a:r>
              <a:rPr lang="en-US" sz="2025" dirty="0">
                <a:solidFill>
                  <a:srgbClr val="2A2520"/>
                </a:solidFill>
                <a:latin typeface="Fira Sans" pitchFamily="34" charset="0"/>
                <a:ea typeface="Fira Sans" pitchFamily="34" charset="-122"/>
                <a:cs typeface="Fira Sans" pitchFamily="34" charset="-120"/>
              </a:rPr>
              <a:t>Maybe no new model is needed — a </a:t>
            </a:r>
            <a:r>
              <a:rPr lang="en-US" sz="2025" b="1" dirty="0">
                <a:solidFill>
                  <a:srgbClr val="2A2520"/>
                </a:solidFill>
                <a:latin typeface="Fira Sans" pitchFamily="34" charset="0"/>
                <a:ea typeface="Fira Sans" pitchFamily="34" charset="-122"/>
                <a:cs typeface="Fira Sans" pitchFamily="34" charset="-120"/>
              </a:rPr>
              <a:t>monotonic transformation </a:t>
            </a:r>
            <a:r>
              <a:rPr lang="en-US" sz="2025" dirty="0">
                <a:solidFill>
                  <a:srgbClr val="2A2520"/>
                </a:solidFill>
                <a:latin typeface="Fira Sans" pitchFamily="34" charset="0"/>
                <a:ea typeface="Fira Sans" pitchFamily="34" charset="-122"/>
                <a:cs typeface="Fira Sans" pitchFamily="34" charset="-120"/>
              </a:rPr>
              <a:t>that compresses the extreme range of p could realign it with behavior.</a:t>
            </a:r>
            <a:endParaRPr lang="en-US" sz="202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2ECE0"/>
        </a:solidFill>
        <a:effectLst/>
      </p:bgPr>
    </p:bg>
    <p:spTree>
      <p:nvGrpSpPr>
        <p:cNvPr id="1" name=""/>
        <p:cNvGrpSpPr/>
        <p:nvPr/>
      </p:nvGrpSpPr>
      <p:grpSpPr>
        <a:xfrm>
          <a:off x="0" y="0"/>
          <a:ext cx="0" cy="0"/>
          <a:chOff x="0" y="0"/>
          <a:chExt cx="0" cy="0"/>
        </a:xfrm>
      </p:grpSpPr>
      <p:sp>
        <p:nvSpPr>
          <p:cNvPr id="2" name="Text 0"/>
          <p:cNvSpPr/>
          <p:nvPr/>
        </p:nvSpPr>
        <p:spPr>
          <a:xfrm>
            <a:off x="990533" y="914400"/>
            <a:ext cx="5930961" cy="325848"/>
          </a:xfrm>
          <a:prstGeom prst="rect">
            <a:avLst/>
          </a:prstGeom>
          <a:noFill/>
          <a:ln/>
        </p:spPr>
        <p:txBody>
          <a:bodyPr wrap="square" lIns="25400" tIns="25400" rIns="25400" bIns="25400" rtlCol="0" anchor="t">
            <a:normAutofit/>
          </a:bodyPr>
          <a:lstStyle/>
          <a:p>
            <a:pPr marL="0" indent="0" algn="l">
              <a:buNone/>
            </a:pPr>
            <a:r>
              <a:rPr lang="en-US" sz="1875" b="1" kern="0" spc="300" dirty="0">
                <a:solidFill>
                  <a:srgbClr val="B3402F"/>
                </a:solidFill>
                <a:latin typeface="Fira Sans" pitchFamily="34" charset="0"/>
                <a:ea typeface="Fira Sans" pitchFamily="34" charset="-122"/>
                <a:cs typeface="Fira Sans" pitchFamily="34" charset="-120"/>
              </a:rPr>
              <a:t>ROADMAP &amp; CONCLUSION</a:t>
            </a:r>
            <a:endParaRPr lang="en-US" sz="1875" dirty="0"/>
          </a:p>
        </p:txBody>
      </p:sp>
      <p:sp>
        <p:nvSpPr>
          <p:cNvPr id="3" name="Text 1"/>
          <p:cNvSpPr/>
          <p:nvPr/>
        </p:nvSpPr>
        <p:spPr>
          <a:xfrm>
            <a:off x="990533" y="1335432"/>
            <a:ext cx="5930961" cy="582823"/>
          </a:xfrm>
          <a:prstGeom prst="rect">
            <a:avLst/>
          </a:prstGeom>
          <a:noFill/>
          <a:ln/>
        </p:spPr>
        <p:txBody>
          <a:bodyPr wrap="square" lIns="25400" tIns="25400" rIns="25400" bIns="25400" rtlCol="0" anchor="t">
            <a:normAutofit/>
          </a:bodyPr>
          <a:lstStyle/>
          <a:p>
            <a:pPr marL="0" indent="0" algn="l">
              <a:lnSpc>
                <a:spcPct val="110000"/>
              </a:lnSpc>
              <a:buNone/>
            </a:pPr>
            <a:r>
              <a:rPr lang="en-US" sz="3900" b="1" kern="0" spc="-58" dirty="0">
                <a:solidFill>
                  <a:srgbClr val="2A2520"/>
                </a:solidFill>
                <a:latin typeface="Fira Sans" pitchFamily="34" charset="0"/>
                <a:ea typeface="Fira Sans" pitchFamily="34" charset="-122"/>
                <a:cs typeface="Fira Sans" pitchFamily="34" charset="-120"/>
              </a:rPr>
              <a:t>Three directions forward</a:t>
            </a:r>
            <a:endParaRPr lang="en-US" sz="3900" dirty="0"/>
          </a:p>
        </p:txBody>
      </p:sp>
      <p:sp>
        <p:nvSpPr>
          <p:cNvPr id="4" name="Shape 2"/>
          <p:cNvSpPr/>
          <p:nvPr/>
        </p:nvSpPr>
        <p:spPr>
          <a:xfrm>
            <a:off x="990533" y="3165131"/>
            <a:ext cx="5245111" cy="4762433"/>
          </a:xfrm>
          <a:prstGeom prst="roundRect">
            <a:avLst>
              <a:gd name="adj" fmla="val 3600"/>
            </a:avLst>
          </a:prstGeom>
          <a:solidFill>
            <a:srgbClr val="FBF8F2"/>
          </a:solidFill>
          <a:ln w="6394">
            <a:solidFill>
              <a:srgbClr val="E4DBC9"/>
            </a:solidFill>
            <a:prstDash val="solid"/>
          </a:ln>
          <a:effectLst>
            <a:outerShdw blurRad="266700" dist="57150" dir="5400000" algn="bl" rotWithShape="0">
              <a:srgbClr val="463723">
                <a:alpha val="5000"/>
              </a:srgbClr>
            </a:outerShdw>
          </a:effectLst>
        </p:spPr>
        <p:txBody>
          <a:bodyPr/>
          <a:lstStyle/>
          <a:p>
            <a:endParaRPr lang="he-IL"/>
          </a:p>
        </p:txBody>
      </p:sp>
      <p:sp>
        <p:nvSpPr>
          <p:cNvPr id="5" name="Text 3"/>
          <p:cNvSpPr/>
          <p:nvPr/>
        </p:nvSpPr>
        <p:spPr>
          <a:xfrm>
            <a:off x="3447850" y="4285251"/>
            <a:ext cx="330478" cy="332243"/>
          </a:xfrm>
          <a:prstGeom prst="rect">
            <a:avLst/>
          </a:prstGeom>
          <a:noFill/>
          <a:ln/>
        </p:spPr>
        <p:txBody>
          <a:bodyPr wrap="square" lIns="25400" tIns="25400" rIns="25400" bIns="25400" rtlCol="0" anchor="t">
            <a:normAutofit/>
          </a:bodyPr>
          <a:lstStyle/>
          <a:p>
            <a:pPr marL="0" indent="0" algn="ctr">
              <a:buNone/>
            </a:pPr>
            <a:r>
              <a:rPr lang="en-US" sz="1950" b="1" dirty="0">
                <a:solidFill>
                  <a:srgbClr val="B3402F"/>
                </a:solidFill>
                <a:latin typeface="Fira Sans" pitchFamily="34" charset="0"/>
                <a:ea typeface="Fira Sans" pitchFamily="34" charset="-122"/>
                <a:cs typeface="Fira Sans" pitchFamily="34" charset="-120"/>
              </a:rPr>
              <a:t>01</a:t>
            </a:r>
            <a:endParaRPr lang="en-US" sz="1950" dirty="0"/>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55839" y="4750843"/>
            <a:ext cx="914400" cy="628650"/>
          </a:xfrm>
          <a:prstGeom prst="rect">
            <a:avLst/>
          </a:prstGeom>
        </p:spPr>
      </p:pic>
      <p:sp>
        <p:nvSpPr>
          <p:cNvPr id="7" name="Text 4"/>
          <p:cNvSpPr/>
          <p:nvPr/>
        </p:nvSpPr>
        <p:spPr>
          <a:xfrm>
            <a:off x="2300123" y="5550944"/>
            <a:ext cx="2625933" cy="408976"/>
          </a:xfrm>
          <a:prstGeom prst="rect">
            <a:avLst/>
          </a:prstGeom>
          <a:noFill/>
          <a:ln/>
        </p:spPr>
        <p:txBody>
          <a:bodyPr wrap="square" lIns="25400" tIns="25400" rIns="25400" bIns="25400" rtlCol="0" anchor="t">
            <a:normAutofit/>
          </a:bodyPr>
          <a:lstStyle/>
          <a:p>
            <a:pPr marL="0" indent="0" algn="ctr">
              <a:buNone/>
            </a:pPr>
            <a:r>
              <a:rPr lang="en-US" sz="2400" b="1" dirty="0">
                <a:solidFill>
                  <a:srgbClr val="2A2520"/>
                </a:solidFill>
                <a:latin typeface="Fira Sans" pitchFamily="34" charset="0"/>
                <a:ea typeface="Fira Sans" pitchFamily="34" charset="-122"/>
                <a:cs typeface="Fira Sans" pitchFamily="34" charset="-120"/>
              </a:rPr>
              <a:t>Gradient Descent</a:t>
            </a:r>
            <a:endParaRPr lang="en-US" sz="2400" dirty="0"/>
          </a:p>
        </p:txBody>
      </p:sp>
      <p:sp>
        <p:nvSpPr>
          <p:cNvPr id="8" name="Text 5"/>
          <p:cNvSpPr/>
          <p:nvPr/>
        </p:nvSpPr>
        <p:spPr>
          <a:xfrm>
            <a:off x="1212765" y="6093269"/>
            <a:ext cx="4800647" cy="752275"/>
          </a:xfrm>
          <a:prstGeom prst="rect">
            <a:avLst/>
          </a:prstGeom>
          <a:noFill/>
          <a:ln/>
        </p:spPr>
        <p:txBody>
          <a:bodyPr wrap="square" lIns="25400" tIns="25400" rIns="25400" bIns="25400" rtlCol="0" anchor="t">
            <a:normAutofit/>
          </a:bodyPr>
          <a:lstStyle/>
          <a:p>
            <a:pPr marL="0" indent="0" algn="ctr">
              <a:lnSpc>
                <a:spcPct val="150000"/>
              </a:lnSpc>
              <a:buNone/>
            </a:pPr>
            <a:r>
              <a:rPr lang="en-US" sz="1875" dirty="0">
                <a:solidFill>
                  <a:srgbClr val="7A7264"/>
                </a:solidFill>
                <a:latin typeface="Fira Sans" pitchFamily="34" charset="0"/>
                <a:ea typeface="Fira Sans" pitchFamily="34" charset="-122"/>
                <a:cs typeface="Fira Sans" pitchFamily="34" charset="-120"/>
              </a:rPr>
              <a:t>Re-tune CATIE’s original parameters specifically on our data.</a:t>
            </a:r>
            <a:endParaRPr lang="en-US" sz="1875" dirty="0"/>
          </a:p>
        </p:txBody>
      </p:sp>
      <p:sp>
        <p:nvSpPr>
          <p:cNvPr id="9" name="Shape 6"/>
          <p:cNvSpPr/>
          <p:nvPr/>
        </p:nvSpPr>
        <p:spPr>
          <a:xfrm>
            <a:off x="6521394" y="3165131"/>
            <a:ext cx="5245211" cy="4762433"/>
          </a:xfrm>
          <a:prstGeom prst="roundRect">
            <a:avLst>
              <a:gd name="adj" fmla="val 3600"/>
            </a:avLst>
          </a:prstGeom>
          <a:solidFill>
            <a:srgbClr val="FBF8F2"/>
          </a:solidFill>
          <a:ln w="6394">
            <a:solidFill>
              <a:srgbClr val="E4DBC9"/>
            </a:solidFill>
            <a:prstDash val="solid"/>
          </a:ln>
          <a:effectLst>
            <a:outerShdw blurRad="266700" dist="57150" dir="5400000" algn="bl" rotWithShape="0">
              <a:srgbClr val="463723">
                <a:alpha val="5000"/>
              </a:srgbClr>
            </a:outerShdw>
          </a:effectLst>
        </p:spPr>
        <p:txBody>
          <a:bodyPr/>
          <a:lstStyle/>
          <a:p>
            <a:endParaRPr lang="he-IL"/>
          </a:p>
        </p:txBody>
      </p:sp>
      <p:sp>
        <p:nvSpPr>
          <p:cNvPr id="10" name="Text 7"/>
          <p:cNvSpPr/>
          <p:nvPr/>
        </p:nvSpPr>
        <p:spPr>
          <a:xfrm>
            <a:off x="8970818" y="4106707"/>
            <a:ext cx="346364" cy="332243"/>
          </a:xfrm>
          <a:prstGeom prst="rect">
            <a:avLst/>
          </a:prstGeom>
          <a:noFill/>
          <a:ln/>
        </p:spPr>
        <p:txBody>
          <a:bodyPr wrap="square" lIns="25400" tIns="25400" rIns="25400" bIns="25400" rtlCol="0" anchor="t">
            <a:normAutofit/>
          </a:bodyPr>
          <a:lstStyle/>
          <a:p>
            <a:pPr marL="0" indent="0" algn="ctr">
              <a:buNone/>
            </a:pPr>
            <a:r>
              <a:rPr lang="en-US" sz="1950" b="1" dirty="0">
                <a:solidFill>
                  <a:srgbClr val="B3402F"/>
                </a:solidFill>
                <a:latin typeface="Fira Sans" pitchFamily="34" charset="0"/>
                <a:ea typeface="Fira Sans" pitchFamily="34" charset="-122"/>
                <a:cs typeface="Fira Sans" pitchFamily="34" charset="-120"/>
              </a:rPr>
              <a:t>02</a:t>
            </a:r>
            <a:endParaRPr lang="en-US" sz="1950" dirty="0"/>
          </a:p>
        </p:txBody>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620158" y="4572300"/>
            <a:ext cx="1047683" cy="628650"/>
          </a:xfrm>
          <a:prstGeom prst="rect">
            <a:avLst/>
          </a:prstGeom>
        </p:spPr>
      </p:pic>
      <p:sp>
        <p:nvSpPr>
          <p:cNvPr id="12" name="Text 8"/>
          <p:cNvSpPr/>
          <p:nvPr/>
        </p:nvSpPr>
        <p:spPr>
          <a:xfrm>
            <a:off x="7954730" y="5372399"/>
            <a:ext cx="2378539" cy="408976"/>
          </a:xfrm>
          <a:prstGeom prst="rect">
            <a:avLst/>
          </a:prstGeom>
          <a:noFill/>
          <a:ln/>
        </p:spPr>
        <p:txBody>
          <a:bodyPr wrap="square" lIns="25400" tIns="25400" rIns="25400" bIns="25400" rtlCol="0" anchor="t">
            <a:normAutofit/>
          </a:bodyPr>
          <a:lstStyle/>
          <a:p>
            <a:pPr marL="0" indent="0" algn="ctr">
              <a:buNone/>
            </a:pPr>
            <a:r>
              <a:rPr lang="en-US" sz="2400" b="1" dirty="0">
                <a:solidFill>
                  <a:srgbClr val="2A2520"/>
                </a:solidFill>
                <a:latin typeface="Fira Sans" pitchFamily="34" charset="0"/>
                <a:ea typeface="Fira Sans" pitchFamily="34" charset="-122"/>
                <a:cs typeface="Fira Sans" pitchFamily="34" charset="-120"/>
              </a:rPr>
              <a:t>Neural Network</a:t>
            </a:r>
            <a:endParaRPr lang="en-US" sz="2400" dirty="0"/>
          </a:p>
        </p:txBody>
      </p:sp>
      <p:sp>
        <p:nvSpPr>
          <p:cNvPr id="13" name="Text 9"/>
          <p:cNvSpPr/>
          <p:nvPr/>
        </p:nvSpPr>
        <p:spPr>
          <a:xfrm>
            <a:off x="6743625" y="5914725"/>
            <a:ext cx="4800750" cy="1109363"/>
          </a:xfrm>
          <a:prstGeom prst="rect">
            <a:avLst/>
          </a:prstGeom>
          <a:noFill/>
          <a:ln/>
        </p:spPr>
        <p:txBody>
          <a:bodyPr wrap="square" lIns="25400" tIns="25400" rIns="25400" bIns="25400" rtlCol="0" anchor="t">
            <a:normAutofit/>
          </a:bodyPr>
          <a:lstStyle/>
          <a:p>
            <a:pPr marL="0" indent="0" algn="ctr">
              <a:lnSpc>
                <a:spcPct val="150000"/>
              </a:lnSpc>
              <a:buNone/>
            </a:pPr>
            <a:r>
              <a:rPr lang="en-US" sz="1875" dirty="0">
                <a:solidFill>
                  <a:srgbClr val="7A7264"/>
                </a:solidFill>
                <a:latin typeface="Fira Sans" pitchFamily="34" charset="0"/>
                <a:ea typeface="Fira Sans" pitchFamily="34" charset="-122"/>
                <a:cs typeface="Fira Sans" pitchFamily="34" charset="-120"/>
              </a:rPr>
              <a:t>Train on re-engineered, non-circular history: reward history · streaks · trial position.</a:t>
            </a:r>
            <a:endParaRPr lang="en-US" sz="1875" dirty="0"/>
          </a:p>
        </p:txBody>
      </p:sp>
      <p:sp>
        <p:nvSpPr>
          <p:cNvPr id="14" name="Shape 10"/>
          <p:cNvSpPr/>
          <p:nvPr/>
        </p:nvSpPr>
        <p:spPr>
          <a:xfrm>
            <a:off x="12052355" y="3165131"/>
            <a:ext cx="5245111" cy="4762433"/>
          </a:xfrm>
          <a:prstGeom prst="roundRect">
            <a:avLst>
              <a:gd name="adj" fmla="val 3600"/>
            </a:avLst>
          </a:prstGeom>
          <a:solidFill>
            <a:srgbClr val="FBF8F2"/>
          </a:solidFill>
          <a:ln w="6394">
            <a:solidFill>
              <a:srgbClr val="E4DBC9"/>
            </a:solidFill>
            <a:prstDash val="solid"/>
          </a:ln>
          <a:effectLst>
            <a:outerShdw blurRad="266700" dist="57150" dir="5400000" algn="bl" rotWithShape="0">
              <a:srgbClr val="463723">
                <a:alpha val="5000"/>
              </a:srgbClr>
            </a:outerShdw>
          </a:effectLst>
        </p:spPr>
        <p:txBody>
          <a:bodyPr/>
          <a:lstStyle/>
          <a:p>
            <a:endParaRPr lang="he-IL"/>
          </a:p>
        </p:txBody>
      </p:sp>
      <p:sp>
        <p:nvSpPr>
          <p:cNvPr id="15" name="Text 11"/>
          <p:cNvSpPr/>
          <p:nvPr/>
        </p:nvSpPr>
        <p:spPr>
          <a:xfrm>
            <a:off x="14501180" y="4463795"/>
            <a:ext cx="347363" cy="332243"/>
          </a:xfrm>
          <a:prstGeom prst="rect">
            <a:avLst/>
          </a:prstGeom>
          <a:noFill/>
          <a:ln/>
        </p:spPr>
        <p:txBody>
          <a:bodyPr wrap="square" lIns="25400" tIns="25400" rIns="25400" bIns="25400" rtlCol="0" anchor="t">
            <a:normAutofit/>
          </a:bodyPr>
          <a:lstStyle/>
          <a:p>
            <a:pPr marL="0" indent="0" algn="ctr">
              <a:buNone/>
            </a:pPr>
            <a:r>
              <a:rPr lang="en-US" sz="1950" b="1" dirty="0">
                <a:solidFill>
                  <a:srgbClr val="B3402F"/>
                </a:solidFill>
                <a:latin typeface="Fira Sans" pitchFamily="34" charset="0"/>
                <a:ea typeface="Fira Sans" pitchFamily="34" charset="-122"/>
                <a:cs typeface="Fira Sans" pitchFamily="34" charset="-120"/>
              </a:rPr>
              <a:t>03</a:t>
            </a:r>
            <a:endParaRPr lang="en-US" sz="1950" dirty="0"/>
          </a:p>
        </p:txBody>
      </p:sp>
      <p:pic>
        <p:nvPicPr>
          <p:cNvPr id="1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4217661" y="4929387"/>
            <a:ext cx="914400" cy="628650"/>
          </a:xfrm>
          <a:prstGeom prst="rect">
            <a:avLst/>
          </a:prstGeom>
        </p:spPr>
      </p:pic>
      <p:sp>
        <p:nvSpPr>
          <p:cNvPr id="17" name="Text 12"/>
          <p:cNvSpPr/>
          <p:nvPr/>
        </p:nvSpPr>
        <p:spPr>
          <a:xfrm>
            <a:off x="12973214" y="5729487"/>
            <a:ext cx="3403392" cy="408976"/>
          </a:xfrm>
          <a:prstGeom prst="rect">
            <a:avLst/>
          </a:prstGeom>
          <a:noFill/>
          <a:ln/>
        </p:spPr>
        <p:txBody>
          <a:bodyPr wrap="square" lIns="25400" tIns="25400" rIns="25400" bIns="25400" rtlCol="0" anchor="t">
            <a:normAutofit/>
          </a:bodyPr>
          <a:lstStyle/>
          <a:p>
            <a:pPr marL="0" indent="0" algn="ctr">
              <a:buNone/>
            </a:pPr>
            <a:r>
              <a:rPr lang="en-US" sz="2400" b="1" dirty="0">
                <a:solidFill>
                  <a:srgbClr val="2A2520"/>
                </a:solidFill>
                <a:latin typeface="Fira Sans" pitchFamily="34" charset="0"/>
                <a:ea typeface="Fira Sans" pitchFamily="34" charset="-122"/>
                <a:cs typeface="Fira Sans" pitchFamily="34" charset="-120"/>
              </a:rPr>
              <a:t>Large Language Model</a:t>
            </a:r>
            <a:endParaRPr lang="en-US" sz="2400" dirty="0"/>
          </a:p>
        </p:txBody>
      </p:sp>
      <p:sp>
        <p:nvSpPr>
          <p:cNvPr id="18" name="Text 13"/>
          <p:cNvSpPr/>
          <p:nvPr/>
        </p:nvSpPr>
        <p:spPr>
          <a:xfrm>
            <a:off x="12707033" y="6271813"/>
            <a:ext cx="3935657" cy="395188"/>
          </a:xfrm>
          <a:prstGeom prst="rect">
            <a:avLst/>
          </a:prstGeom>
          <a:noFill/>
          <a:ln/>
        </p:spPr>
        <p:txBody>
          <a:bodyPr wrap="square" lIns="25400" tIns="25400" rIns="25400" bIns="25400" rtlCol="0" anchor="t">
            <a:normAutofit/>
          </a:bodyPr>
          <a:lstStyle/>
          <a:p>
            <a:pPr marL="0" indent="0" algn="ctr">
              <a:lnSpc>
                <a:spcPct val="150000"/>
              </a:lnSpc>
              <a:buNone/>
            </a:pPr>
            <a:r>
              <a:rPr lang="en-US" sz="1875" dirty="0">
                <a:solidFill>
                  <a:srgbClr val="7A7264"/>
                </a:solidFill>
                <a:latin typeface="Fira Sans" pitchFamily="34" charset="0"/>
                <a:ea typeface="Fira Sans" pitchFamily="34" charset="-122"/>
                <a:cs typeface="Fira Sans" pitchFamily="34" charset="-120"/>
              </a:rPr>
              <a:t>Generate features autonomously.</a:t>
            </a:r>
            <a:endParaRPr lang="en-US" sz="1875" dirty="0"/>
          </a:p>
        </p:txBody>
      </p:sp>
      <p:sp>
        <p:nvSpPr>
          <p:cNvPr id="19" name="Text 14"/>
          <p:cNvSpPr/>
          <p:nvPr/>
        </p:nvSpPr>
        <p:spPr>
          <a:xfrm>
            <a:off x="175187" y="9174473"/>
            <a:ext cx="17937626" cy="541060"/>
          </a:xfrm>
          <a:prstGeom prst="rect">
            <a:avLst/>
          </a:prstGeom>
          <a:noFill/>
          <a:ln/>
        </p:spPr>
        <p:txBody>
          <a:bodyPr wrap="square" lIns="25400" tIns="25400" rIns="25400" bIns="25400" rtlCol="0" anchor="t">
            <a:normAutofit/>
          </a:bodyPr>
          <a:lstStyle/>
          <a:p>
            <a:pPr marL="0" indent="0" algn="ctr">
              <a:lnSpc>
                <a:spcPct val="120000"/>
              </a:lnSpc>
              <a:buNone/>
            </a:pPr>
            <a:r>
              <a:rPr lang="en-US" sz="3300" b="1" dirty="0">
                <a:solidFill>
                  <a:srgbClr val="2A2520"/>
                </a:solidFill>
                <a:latin typeface="Fira Sans" pitchFamily="34" charset="0"/>
                <a:ea typeface="Fira Sans" pitchFamily="34" charset="-122"/>
                <a:cs typeface="Fira Sans" pitchFamily="34" charset="-120"/>
              </a:rPr>
              <a:t>Accuracy alone isn’t enough — </a:t>
            </a:r>
            <a:r>
              <a:rPr lang="en-US" sz="3300" b="1" dirty="0">
                <a:solidFill>
                  <a:srgbClr val="B3402F"/>
                </a:solidFill>
                <a:latin typeface="Fira Sans" pitchFamily="34" charset="0"/>
                <a:ea typeface="Fira Sans" pitchFamily="34" charset="-122"/>
                <a:cs typeface="Fira Sans" pitchFamily="34" charset="-120"/>
              </a:rPr>
              <a:t>calibration </a:t>
            </a:r>
            <a:r>
              <a:rPr lang="en-US" sz="3300" b="1" dirty="0">
                <a:solidFill>
                  <a:srgbClr val="2A2520"/>
                </a:solidFill>
                <a:latin typeface="Fira Sans" pitchFamily="34" charset="0"/>
                <a:ea typeface="Fira Sans" pitchFamily="34" charset="-122"/>
                <a:cs typeface="Fira Sans" pitchFamily="34" charset="-120"/>
              </a:rPr>
              <a:t>must be measured too.</a:t>
            </a:r>
            <a:endParaRPr lang="en-US" sz="3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1523</Words>
  <Application>Microsoft Office PowerPoint</Application>
  <PresentationFormat>מותאם אישית</PresentationFormat>
  <Paragraphs>159</Paragraphs>
  <Slides>15</Slides>
  <Notes>15</Notes>
  <HiddenSlides>0</HiddenSlides>
  <MMClips>0</MMClips>
  <ScaleCrop>false</ScaleCrop>
  <HeadingPairs>
    <vt:vector size="6" baseType="variant">
      <vt:variant>
        <vt:lpstr>גופנים בשימוש</vt:lpstr>
      </vt:variant>
      <vt:variant>
        <vt:i4>2</vt:i4>
      </vt:variant>
      <vt:variant>
        <vt:lpstr>ערכת נושא</vt:lpstr>
      </vt:variant>
      <vt:variant>
        <vt:i4>1</vt:i4>
      </vt:variant>
      <vt:variant>
        <vt:lpstr>כותרות שקופיות</vt:lpstr>
      </vt:variant>
      <vt:variant>
        <vt:i4>15</vt:i4>
      </vt:variant>
    </vt:vector>
  </HeadingPairs>
  <TitlesOfParts>
    <vt:vector size="18" baseType="lpstr">
      <vt:lpstr>Arial</vt:lpstr>
      <vt:lpstr>Fira Sans</vt:lpstr>
      <vt:lpstr>Office Theme</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Shir Holzman</cp:lastModifiedBy>
  <cp:revision>2</cp:revision>
  <dcterms:created xsi:type="dcterms:W3CDTF">2026-06-18T11:45:13Z</dcterms:created>
  <dcterms:modified xsi:type="dcterms:W3CDTF">2026-06-18T11:46:54Z</dcterms:modified>
</cp:coreProperties>
</file>