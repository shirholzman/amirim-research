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694" autoAdjust="0"/>
  </p:normalViewPr>
  <p:slideViewPr>
    <p:cSldViewPr snapToGrid="0" snapToObjects="1">
      <p:cViewPr varScale="1">
        <p:scale>
          <a:sx n="38" d="100"/>
          <a:sy n="38" d="100"/>
        </p:scale>
        <p:origin x="1356" y="3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86824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שלום לכולם. אני בודקת מודל שניצח בתחרות בינלאומית </a:t>
            </a:r>
            <a:r>
              <a:rPr lang="en-US" dirty="0" err="1"/>
              <a:t>להנדסת</a:t>
            </a:r>
            <a:r>
              <a:rPr lang="en-US" dirty="0"/>
              <a:t> </a:t>
            </a:r>
            <a:r>
              <a:rPr lang="en-US" dirty="0" err="1"/>
              <a:t>בחירה</a:t>
            </a:r>
            <a:r>
              <a:rPr lang="he-IL" dirty="0"/>
              <a:t>,</a:t>
            </a:r>
            <a:r>
              <a:rPr lang="en-US" dirty="0"/>
              <a:t> </a:t>
            </a:r>
            <a:r>
              <a:rPr lang="en-US" dirty="0" err="1"/>
              <a:t>אבל</a:t>
            </a:r>
            <a:r>
              <a:rPr lang="en-US" dirty="0"/>
              <a:t> ניצחון בממוצע לא אומר שהמודל מדויק בכל מקרה. השאלה המרכזית במחקר שלי: מתי ה“ביטחון” שמודל CATIE מצהיר עליו לא תואם את ההתנהגות בפועל, ואיך אפשר לתקן את זה?</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לפני שנצלול לניתוח — למה זה בכלל חשוב. מערכות תומכות-החלטה פועלות על סמך הביטחון שהמודל מצהיר עליו, לא רק על הדיוק הממוצע שלו. תחזיות בטוחות-אך-שגויות הן כשל מוכר בכל הלמידה החישובית המודרנית, לא ייחודי ל-CATIE. CATIE כבר ניצח בתחרות — השאלה הקשה יותר היא אם אפשר לסמוך על הביטחון שלו ניסיון אחר ניסיון.</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הנה הפרדיגמה של הנדסת בחירה: במשימה הזו, משתתפים בוחרים 100 פעמים בין שתי אפשרויות, ומקבלים משוב רק על הבחירה שביצעו. לוח התגמולים מהונדס מראש כדי להשפיע על הבחירות, ומודל כמו CATIE קורא את כל הרצף ומפיק הסתברות p לבחירה הבאה.</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מודל CATIE משלב ארבעה מנגנונים — ממוצע מצטבר, מגמה, אינרציה ואקספלורציה — וכך השיג הטיה של 64.3% בקרב המשתתפים, גבוה משמעותית ממודלי Q-Learning מתחרים. חשוב להבין: CATIE לא פולט בחירה — הוא פולט הסתברות, p, לבחירה הצפויה. וזו ההסתברות הזו שאני בודק/ת.</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המנגנון הראשון: ממוצע מצטבר. CATIE עוקב אחר התגמול הממוצע של כל אפשרות לאורך כל הניסיונות הקודמים — אומדן לטווח הארוך של איזה צד משתלם יותר.</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המנגנון השני: מגמה. משקל גבוה יותר לתוצאות האחרונות, כך שהמודל רגיש לשאלה אם אפשרות נמצאת במגמת עלייה או ירידה כרגע.</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המנגנון השלישי: אינרציה. נטייה לחזור על הבחירה הקודמת — להישאר באותו צד במקום להחליף.</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המנגנון הרביעי: אקספלורציה. סטייה מזדמנת ומכוונת מהאפשרות המועדפת — דגימה של החלופה כדי להמשיך וללמוד.</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כדי לבדוק את דיוק התחזיות, הגדרתי “נקודת הפתעה”: ניסיון שבו CATIE העריך הסתברות נמוכה מ-0.15 לבחירה שהמשתתף בפועל ביצע. מתוך 49,200 ניסיונות בסט הנתונים, 4,454 ניסיונות — כ-9.1% — מסווגים כנקודות הפתעה. אלה הניסיונות שבהם המודל “טעה” בביטחון רב, וזה המוקד של הניתוח שלי.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ההשערה: כשהמודל מופתע, אולי המשתתף מתעכב, ולכן זמן התגובה יעלה. כשבדקתי בסף יציב של 10% — עם כמעט 3,000 ניסיוני הפתעה — האפקט היחיד שהחזיק היה שניסיונות 'אוטופילוט', שבהם CATIE בטוח מאוד, הם המהירים ביותר. זה צפוי: החלטות קלות מהירות. אבל ניסיוני ההפתעה לא היו איטיים יותר מרגילים באופן מובהק — גודל האפקט 0.02 וה-p בערך 0.82.</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פסלנו את כיוון זמן-התגובה משתי סיבות. ראשית, חוסר יציבות: בסף 5% האפקט ענק, אבל בסף 10% הוא מתמוטט ואינו מובהק (d=0.02, p≈0.82). יתרה מכך, בסף 5% גם הניסיונות ה'בטוחים ביותר' איטיים — וזה הפוך מההיגיון, מה שמסגיר שמדובר בארטיפקט של קבוצות קטנות וקיצוניות, לא בהפתעה. תוצאה שמתהפכת לפי קו שרירותי אינה תוצאה. ושנית, גם אילו הייתה נקייה — CATIE לעולם לא רואה זמן-תגובה, והוא נמדד תוך-כדי הבחירה, אז הוא לא יכול לשמש לתיקון המודל. לכן עברנו לבחון את ההסתברות עצמה.</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כדי לאפיין נקודות הפתעה, הנדסתי 14 תכונות מההיסטוריה של כל ניסיון, ורק מההיסטוריה — אך ורק מה שהמשתתף יכול היה לדעת: הבחירות הקודמות שלו והתגמולים שראה. שלוש משפחות: היסטוריית בחירות, היסטוריית תגמולים, ומיקום בזמן. מדדתי את ההשפעה של כל תכונה בשלוש דרכים משלימות: ראשית, גודל אפקט חד-משתני — מבחן t עם תיקון בונפרוני ו-Cohen's d, שבודק כל תכונה לבדה. שנית, יער אקראי (Random Forest) — אוסף של 300 עצי החלטה שאומן לחזות הפתעה מכל 14 התכונות יחד; ממנו קראתי את חשיבות כל תכונה. היתרון: היער מדרג כל תכונה תוך התחשבות בכל השאר, ותופס אפקטים לא-ליניאריים ומשולבים שמבחן בודד מפספס. ושלישית, עץ החלטה רדוד לחילוץ חוקים קריאים. שלושתם הצביעו על אותו דבר — תכונות המעבר שולטות</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מצאתי קשר חזק במיוחד: מעבר-צד פיזי קשור לנקודות הפתעה. אבל כאן הדיוק קריטי, ובעקבות דיון עם המנחה הבנו: הבעיה היא דליפת מידע, לא המודל. מעבר-צד הוא עובדה על הבחירה הנוכחית, ולכן אי-אפשר להשתמש בו כדי לחזות את אותה בחירה. ובכל זאת הוא אינפורמטיבי מאוד: 100% מנקודות ההפתעה הן מעברי-צד. בדקתי במקור של CATIE — זה לא 'מעצם ההגדרה', אלא תוצאה של משקל האינרציה הגבוה (0.71), שמבטיח שחזרה על בחירה מקבלת הסתברות גבוהה, כך שרק מעבר יכול לקבל הסתברות נמוכה. וזה בדיוק היתרון: זה ממקד את הכשל בפרמטר אחד שאפשר לכוונן מחדש.</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הנקודה החשובה: לא זרקנו את ממצא המעבר — בנינו אותו מחדש נכון. במקום למדוד אם הבחירה הנוכחית היא מעבר, מדדתי את נטיית המעבר מההיסטוריה בלבד, עד הניסיון הקודם. וזה עדיין מנבא הפתעות בצורה מובהקת מאוד: שיעור המעברים האחרון (בגרסה מושהית) נותן גודל אפקט 0.41, וה-p קטן מ-10 בחזקת מינוס 137; מעבר קודם בודד נותן 0.29; ואורך רצף החזרות נותן מינוס 0.34. למה זה עובד בלי דליפה? כי מעבר הוא תכונה אוטו-קורלטיבית — מי שהחליף לאחרונה נוטה להמשיך להחליף. אז אפשר לחזות נטייה למעבר מבלי לגעת בבחירה הנוכחית. זו תכונה לגיטימית ולא-מעגלית — וקלט קונקרטי למודל הבא. אז התשובה לשאלה 'האם כל תכונות הבחירה הנוכחית חסרות תועלת' היא לא: החלק המעגלי לא שמיש, אבל הנטייה ההתנהגותית שמתחתיו אמיתית ושמישה.</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שינינו גישה: במקום לחפש עוד תכונות, בחנו את ה-p עצמו כאובייקט מתמטי. בנינו עקומת כיול — מחלקים את התחזיות ל'דליים' ובודקים אם ההסתברות האמפירית בכל דלי תואמת את ההצהרה. הממצא המרכזי: התחזיות של CATIE קיצוניות מדי, 'מפוזרות יתר על המידה'. כשהוא בטוח באופן בינוני, הבחירה המוטה קורית יותר ממה שהוא אומר; כשהוא בטוח מאוד, היא קורית פחות. ההתנהגות בפועל דחוסה לכיוון האמצע — ולכן כיווץ התחזיות לכיוון 0.5 אמור לשפר את הכיול. (אם תישאל: חוסר-הביטחון אינו סימטרי — CATIE בטוח-מדי כשהוא חוזה 'מוטה', אך מכויל היטב כשהוא חוזה 'לא-מוטה'.)</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שקופית 13 הראתה שהתחזיות קיצוניות מדי. כאן אני מתמקדת בקצה הבטוח ומכמתת: המודל מצהיר 0.88 עד 0.95, אבל הדיוק בפועל 0.70 עד 0.81. המסקנה אינה 'צריך מודל חדש', אלא טרנספורמציה מונוטונית אחת שמכווצת את הקצוות חזרה אל ההתנהגות — וזה בדיוק הניסוי הראשון של כיוון 1. שימו לב שזו אותה תרופה כמו הורדת משקל האינרציה: שתיהן מטפלות בביטחון-היתר הגלובלי.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לפני הסיכום, בואו נעצור ונראה מה כבר למדנו. שלושה דברים: ראשית, זמן תגובה נפסל — אפקט שנראה אמיתי בהתחלה התברר כארטיפקט של מדגם קטן ורצפת מדידה. שנית, הקשר ההתנהגותי החזק ביותר התגלה כדליפת מידע ולא כתובנה — אבל כשבנינו אותו מחדש מההיסטוריה בלבד הוא עדיין מנבא (0.41), והוא מצביע במדויק על פרמטר האינרציה שצריך לכוונן. מלכודת שהפכה לשני כיווני המשך. שלישית, הכיול אינו אחיד — יש אזורים ממוקדים של ביטחון-יתר וחוסר-ביטחון, וטרנספורמציית כיווץ פשוטה אולי תספיק לתקן את הגרוע מכול.</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שלושה כיוונים, והם משלימים. ראשית, גרדיאנט דיסנט על הפרמטרים של CATIE, בעיקר משקל האינרציה — מטפל בביטחון-היתר הגלובלי שעקומת הכיול חשפה. שנית, רשת נוירונים על התכונות הלא-מעגליות ששרדו — שיעור המעברים המושהה, הבחירה המוטה הקודמת, היסטוריית תגמולים ומיקום — כדי לתפוס מתי אנשים מחליפים, מה שכיוונון פרמטרים לבדו לא יכול. שלישית, מודל שפה שיציע תכונות בעצמו. לסיכום: דיוק ממוצע, כמו 64.3% הטיה, לא מספר את כל הסיפור — צריך לבדוק לא רק אם המודל מדויק, אלא מתי ולמה הוא לא.</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8.svg"/><Relationship Id="rId4" Type="http://schemas.openxmlformats.org/officeDocument/2006/relationships/image" Target="../media/image17.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1047683" y="2555564"/>
            <a:ext cx="9876839" cy="325848"/>
          </a:xfrm>
          <a:prstGeom prst="rect">
            <a:avLst/>
          </a:prstGeom>
          <a:noFill/>
          <a:ln/>
        </p:spPr>
        <p:txBody>
          <a:bodyPr wrap="square" lIns="25400" tIns="25400" rIns="25400" bIns="25400" rtlCol="0" anchor="t">
            <a:normAutofit/>
          </a:bodyPr>
          <a:lstStyle/>
          <a:p>
            <a:pPr marL="0" indent="0" algn="l">
              <a:buNone/>
            </a:pPr>
            <a:r>
              <a:rPr lang="en-US" sz="1875" b="1" kern="0" spc="375" dirty="0">
                <a:solidFill>
                  <a:srgbClr val="B3402F"/>
                </a:solidFill>
                <a:latin typeface="Fira Sans" pitchFamily="34" charset="0"/>
                <a:ea typeface="Fira Sans" pitchFamily="34" charset="-122"/>
                <a:cs typeface="Fira Sans" pitchFamily="34" charset="-120"/>
              </a:rPr>
              <a:t>CATIE · PROBABILITY CALIBRATION</a:t>
            </a:r>
            <a:endParaRPr lang="en-US" sz="1875" dirty="0"/>
          </a:p>
        </p:txBody>
      </p:sp>
      <p:sp>
        <p:nvSpPr>
          <p:cNvPr id="3" name="Text 1"/>
          <p:cNvSpPr/>
          <p:nvPr/>
        </p:nvSpPr>
        <p:spPr>
          <a:xfrm>
            <a:off x="1047683" y="3148046"/>
            <a:ext cx="7058903" cy="2498048"/>
          </a:xfrm>
          <a:prstGeom prst="rect">
            <a:avLst/>
          </a:prstGeom>
          <a:noFill/>
          <a:ln/>
        </p:spPr>
        <p:txBody>
          <a:bodyPr wrap="square" lIns="25400" tIns="25400" rIns="25400" bIns="25400" rtlCol="0" anchor="t">
            <a:normAutofit/>
          </a:bodyPr>
          <a:lstStyle/>
          <a:p>
            <a:pPr marL="0" indent="0" algn="l">
              <a:lnSpc>
                <a:spcPct val="105000"/>
              </a:lnSpc>
              <a:buNone/>
            </a:pPr>
            <a:r>
              <a:rPr lang="en-US" sz="6150" b="1" kern="0" spc="-135" dirty="0">
                <a:solidFill>
                  <a:srgbClr val="2A2520"/>
                </a:solidFill>
                <a:latin typeface="Fira Sans" pitchFamily="34" charset="0"/>
                <a:ea typeface="Fira Sans" pitchFamily="34" charset="-122"/>
                <a:cs typeface="Fira Sans" pitchFamily="34" charset="-120"/>
              </a:rPr>
              <a:t>Calibrating CATIE’s Prediction Probabilities</a:t>
            </a:r>
            <a:endParaRPr lang="en-US" sz="6150" dirty="0"/>
          </a:p>
        </p:txBody>
      </p:sp>
      <p:sp>
        <p:nvSpPr>
          <p:cNvPr id="4" name="Text 2"/>
          <p:cNvSpPr/>
          <p:nvPr/>
        </p:nvSpPr>
        <p:spPr>
          <a:xfrm>
            <a:off x="1047683" y="6228481"/>
            <a:ext cx="9876839" cy="447342"/>
          </a:xfrm>
          <a:prstGeom prst="rect">
            <a:avLst/>
          </a:prstGeom>
          <a:noFill/>
          <a:ln/>
        </p:spPr>
        <p:txBody>
          <a:bodyPr wrap="square" lIns="25400" tIns="25400" rIns="25400" bIns="25400" rtlCol="0" anchor="t">
            <a:normAutofit lnSpcReduction="10000"/>
          </a:bodyPr>
          <a:lstStyle/>
          <a:p>
            <a:pPr marL="0" indent="0" algn="l">
              <a:buNone/>
            </a:pPr>
            <a:r>
              <a:rPr lang="en-US" sz="2700" dirty="0">
                <a:solidFill>
                  <a:srgbClr val="7C7363"/>
                </a:solidFill>
                <a:latin typeface="Fira Sans" pitchFamily="34" charset="0"/>
                <a:ea typeface="Fira Sans" pitchFamily="34" charset="-122"/>
                <a:cs typeface="Fira Sans" pitchFamily="34" charset="-120"/>
              </a:rPr>
              <a:t>From Behavioral Analysis to Mathematical Correction</a:t>
            </a:r>
            <a:endParaRPr lang="en-US" sz="2700" dirty="0"/>
          </a:p>
        </p:txBody>
      </p:sp>
      <p:sp>
        <p:nvSpPr>
          <p:cNvPr id="5" name="Shape 3"/>
          <p:cNvSpPr/>
          <p:nvPr/>
        </p:nvSpPr>
        <p:spPr>
          <a:xfrm>
            <a:off x="1047683" y="6664869"/>
            <a:ext cx="8279197" cy="9144"/>
          </a:xfrm>
          <a:prstGeom prst="rect">
            <a:avLst/>
          </a:prstGeom>
          <a:solidFill>
            <a:srgbClr val="D8CDB8"/>
          </a:solidFill>
          <a:ln/>
        </p:spPr>
        <p:txBody>
          <a:bodyPr/>
          <a:lstStyle/>
          <a:p>
            <a:endParaRPr lang="he-IL"/>
          </a:p>
        </p:txBody>
      </p:sp>
      <p:sp>
        <p:nvSpPr>
          <p:cNvPr id="6" name="Text 4"/>
          <p:cNvSpPr/>
          <p:nvPr/>
        </p:nvSpPr>
        <p:spPr>
          <a:xfrm>
            <a:off x="1047683" y="6921944"/>
            <a:ext cx="9248313" cy="847592"/>
          </a:xfrm>
          <a:prstGeom prst="rect">
            <a:avLst/>
          </a:prstGeom>
          <a:noFill/>
          <a:ln/>
        </p:spPr>
        <p:txBody>
          <a:bodyPr wrap="square" lIns="25400" tIns="25400" rIns="25400" bIns="25400" rtlCol="0" anchor="t">
            <a:normAutofit/>
          </a:bodyPr>
          <a:lstStyle/>
          <a:p>
            <a:pPr marL="0" indent="0" algn="l">
              <a:lnSpc>
                <a:spcPct val="170000"/>
              </a:lnSpc>
              <a:buNone/>
            </a:pPr>
            <a:r>
              <a:rPr lang="en-US" sz="1875" dirty="0">
                <a:solidFill>
                  <a:srgbClr val="9A917F"/>
                </a:solidFill>
                <a:latin typeface="Fira Sans" pitchFamily="34" charset="0"/>
                <a:ea typeface="Fira Sans" pitchFamily="34" charset="-122"/>
                <a:cs typeface="Fira Sans" pitchFamily="34" charset="-120"/>
              </a:rPr>
              <a:t>Shir Holzman · Supervised research: Prof. Yonatan Loewenstein</a:t>
            </a:r>
            <a:endParaRPr lang="en-US" sz="1875" dirty="0"/>
          </a:p>
        </p:txBody>
      </p:sp>
      <p:sp>
        <p:nvSpPr>
          <p:cNvPr id="7" name="Shape 5"/>
          <p:cNvSpPr/>
          <p:nvPr/>
        </p:nvSpPr>
        <p:spPr>
          <a:xfrm>
            <a:off x="11918972" y="3857625"/>
            <a:ext cx="1181067" cy="1181067"/>
          </a:xfrm>
          <a:prstGeom prst="roundRect">
            <a:avLst>
              <a:gd name="adj" fmla="val 12904"/>
            </a:avLst>
          </a:prstGeom>
          <a:solidFill>
            <a:srgbClr val="FBF8F2"/>
          </a:solidFill>
          <a:ln w="19183">
            <a:solidFill>
              <a:srgbClr val="2F6B7A"/>
            </a:solidFill>
            <a:prstDash val="solid"/>
          </a:ln>
          <a:effectLst>
            <a:outerShdw blurRad="209550" dist="57150" dir="5400000" algn="bl" rotWithShape="0">
              <a:srgbClr val="463723">
                <a:alpha val="6000"/>
              </a:srgbClr>
            </a:outerShdw>
          </a:effectLst>
        </p:spPr>
        <p:txBody>
          <a:bodyPr/>
          <a:lstStyle/>
          <a:p>
            <a:endParaRPr lang="he-IL"/>
          </a:p>
        </p:txBody>
      </p:sp>
      <p:sp>
        <p:nvSpPr>
          <p:cNvPr id="8" name="Text 6"/>
          <p:cNvSpPr/>
          <p:nvPr/>
        </p:nvSpPr>
        <p:spPr>
          <a:xfrm>
            <a:off x="11900056" y="3876808"/>
            <a:ext cx="1218900" cy="1180800"/>
          </a:xfrm>
          <a:prstGeom prst="rect">
            <a:avLst/>
          </a:prstGeom>
          <a:noFill/>
          <a:ln/>
        </p:spPr>
        <p:txBody>
          <a:bodyPr wrap="square" lIns="25400" tIns="25400" rIns="25400" bIns="25400" rtlCol="0" anchor="ctr">
            <a:normAutofit/>
          </a:bodyPr>
          <a:lstStyle/>
          <a:p>
            <a:pPr marL="0" indent="0" algn="ctr">
              <a:buNone/>
            </a:pPr>
            <a:r>
              <a:rPr lang="en-US" sz="3600" b="1" dirty="0">
                <a:solidFill>
                  <a:srgbClr val="2F6B7A"/>
                </a:solidFill>
                <a:latin typeface="Fira Sans" pitchFamily="34" charset="0"/>
                <a:ea typeface="Fira Sans" pitchFamily="34" charset="-122"/>
                <a:cs typeface="Fira Sans" pitchFamily="34" charset="-120"/>
              </a:rPr>
              <a:t>L</a:t>
            </a:r>
            <a:endParaRPr lang="en-US" sz="3600" dirty="0"/>
          </a:p>
        </p:txBody>
      </p:sp>
      <p:sp>
        <p:nvSpPr>
          <p:cNvPr id="9" name="Shape 7"/>
          <p:cNvSpPr/>
          <p:nvPr/>
        </p:nvSpPr>
        <p:spPr>
          <a:xfrm>
            <a:off x="11918972" y="5248208"/>
            <a:ext cx="1181067" cy="1181067"/>
          </a:xfrm>
          <a:prstGeom prst="roundRect">
            <a:avLst>
              <a:gd name="adj" fmla="val 12904"/>
            </a:avLst>
          </a:prstGeom>
          <a:solidFill>
            <a:srgbClr val="FBF8F2"/>
          </a:solidFill>
          <a:ln w="19183">
            <a:solidFill>
              <a:srgbClr val="B3402F"/>
            </a:solidFill>
            <a:prstDash val="solid"/>
          </a:ln>
          <a:effectLst>
            <a:outerShdw blurRad="209550" dist="57150" dir="5400000" algn="bl" rotWithShape="0">
              <a:srgbClr val="463723">
                <a:alpha val="6000"/>
              </a:srgbClr>
            </a:outerShdw>
          </a:effectLst>
        </p:spPr>
        <p:txBody>
          <a:bodyPr/>
          <a:lstStyle/>
          <a:p>
            <a:endParaRPr lang="he-IL"/>
          </a:p>
        </p:txBody>
      </p:sp>
      <p:sp>
        <p:nvSpPr>
          <p:cNvPr id="10" name="Text 8"/>
          <p:cNvSpPr/>
          <p:nvPr/>
        </p:nvSpPr>
        <p:spPr>
          <a:xfrm>
            <a:off x="11900056" y="5267391"/>
            <a:ext cx="1218900" cy="1180800"/>
          </a:xfrm>
          <a:prstGeom prst="rect">
            <a:avLst/>
          </a:prstGeom>
          <a:noFill/>
          <a:ln/>
        </p:spPr>
        <p:txBody>
          <a:bodyPr wrap="square" lIns="25400" tIns="25400" rIns="25400" bIns="25400" rtlCol="0" anchor="ctr">
            <a:normAutofit/>
          </a:bodyPr>
          <a:lstStyle/>
          <a:p>
            <a:pPr marL="0" indent="0" algn="ctr">
              <a:buNone/>
            </a:pPr>
            <a:r>
              <a:rPr lang="en-US" sz="3600" b="1" dirty="0">
                <a:solidFill>
                  <a:srgbClr val="B3402F"/>
                </a:solidFill>
                <a:latin typeface="Fira Sans" pitchFamily="34" charset="0"/>
                <a:ea typeface="Fira Sans" pitchFamily="34" charset="-122"/>
                <a:cs typeface="Fira Sans" pitchFamily="34" charset="-120"/>
              </a:rPr>
              <a:t>R</a:t>
            </a:r>
            <a:endParaRPr lang="en-US" sz="3600" dirty="0"/>
          </a:p>
        </p:txBody>
      </p:sp>
      <p:sp>
        <p:nvSpPr>
          <p:cNvPr id="11" name="Text 9"/>
          <p:cNvSpPr/>
          <p:nvPr/>
        </p:nvSpPr>
        <p:spPr>
          <a:xfrm>
            <a:off x="13423855" y="4894018"/>
            <a:ext cx="495333" cy="536864"/>
          </a:xfrm>
          <a:prstGeom prst="rect">
            <a:avLst/>
          </a:prstGeom>
          <a:noFill/>
          <a:ln/>
        </p:spPr>
        <p:txBody>
          <a:bodyPr wrap="square" lIns="25400" tIns="25400" rIns="25400" bIns="25400" rtlCol="0" anchor="t">
            <a:normAutofit/>
          </a:bodyPr>
          <a:lstStyle/>
          <a:p>
            <a:pPr marL="0" indent="0" algn="l">
              <a:buNone/>
            </a:pPr>
            <a:r>
              <a:rPr lang="en-US" sz="3300" dirty="0">
                <a:solidFill>
                  <a:srgbClr val="BFA06E"/>
                </a:solidFill>
                <a:latin typeface="Fira Sans" pitchFamily="34" charset="0"/>
                <a:ea typeface="Fira Sans" pitchFamily="34" charset="-122"/>
                <a:cs typeface="Fira Sans" pitchFamily="34" charset="-120"/>
              </a:rPr>
              <a:t>→</a:t>
            </a:r>
            <a:endParaRPr lang="en-US" sz="3300" dirty="0"/>
          </a:p>
        </p:txBody>
      </p:sp>
      <p:sp>
        <p:nvSpPr>
          <p:cNvPr id="12" name="Shape 10"/>
          <p:cNvSpPr/>
          <p:nvPr/>
        </p:nvSpPr>
        <p:spPr>
          <a:xfrm>
            <a:off x="14166805" y="3932859"/>
            <a:ext cx="1981167" cy="1981167"/>
          </a:xfrm>
          <a:prstGeom prst="ellipse">
            <a:avLst/>
          </a:prstGeom>
          <a:solidFill>
            <a:srgbClr val="FBF8F2"/>
          </a:solidFill>
          <a:ln w="31972">
            <a:solidFill>
              <a:srgbClr val="B3402F"/>
            </a:solidFill>
            <a:prstDash val="solid"/>
          </a:ln>
          <a:effectLst>
            <a:outerShdw blurRad="323850" dist="95250" dir="5400000" algn="bl" rotWithShape="0">
              <a:srgbClr val="B3402F">
                <a:alpha val="12000"/>
              </a:srgbClr>
            </a:outerShdw>
          </a:effectLst>
        </p:spPr>
        <p:txBody>
          <a:bodyPr/>
          <a:lstStyle/>
          <a:p>
            <a:endParaRPr lang="he-IL"/>
          </a:p>
        </p:txBody>
      </p:sp>
      <p:sp>
        <p:nvSpPr>
          <p:cNvPr id="13" name="Text 11"/>
          <p:cNvSpPr/>
          <p:nvPr/>
        </p:nvSpPr>
        <p:spPr>
          <a:xfrm>
            <a:off x="14160677" y="3964831"/>
            <a:ext cx="1993423" cy="1955323"/>
          </a:xfrm>
          <a:prstGeom prst="rect">
            <a:avLst/>
          </a:prstGeom>
          <a:noFill/>
          <a:ln/>
        </p:spPr>
        <p:txBody>
          <a:bodyPr wrap="square" lIns="25400" tIns="25400" rIns="25400" bIns="25400" rtlCol="0" anchor="ctr">
            <a:normAutofit/>
          </a:bodyPr>
          <a:lstStyle/>
          <a:p>
            <a:pPr marL="0" indent="0" algn="ctr">
              <a:buNone/>
            </a:pPr>
            <a:r>
              <a:rPr lang="en-US" sz="7200" b="1" i="1" dirty="0">
                <a:solidFill>
                  <a:srgbClr val="B3402F"/>
                </a:solidFill>
                <a:latin typeface="Fira Sans" pitchFamily="34" charset="0"/>
                <a:ea typeface="Fira Sans" pitchFamily="34" charset="-122"/>
                <a:cs typeface="Fira Sans" pitchFamily="34" charset="-120"/>
              </a:rPr>
              <a:t>p</a:t>
            </a:r>
            <a:endParaRPr lang="en-US" sz="7200" dirty="0"/>
          </a:p>
        </p:txBody>
      </p:sp>
      <p:sp>
        <p:nvSpPr>
          <p:cNvPr id="14" name="Text 12"/>
          <p:cNvSpPr/>
          <p:nvPr/>
        </p:nvSpPr>
        <p:spPr>
          <a:xfrm>
            <a:off x="14491321" y="6085476"/>
            <a:ext cx="1465348" cy="306665"/>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9A917F"/>
                </a:solidFill>
                <a:latin typeface="Fira Sans" pitchFamily="34" charset="0"/>
                <a:ea typeface="Fira Sans" pitchFamily="34" charset="-122"/>
                <a:cs typeface="Fira Sans" pitchFamily="34" charset="-120"/>
              </a:rPr>
              <a:t>P(CHOICE)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17937626"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WHY THIS MATTERS</a:t>
            </a:r>
            <a:endParaRPr lang="en-US" sz="1875" dirty="0"/>
          </a:p>
        </p:txBody>
      </p:sp>
      <p:sp>
        <p:nvSpPr>
          <p:cNvPr id="3" name="Text 1"/>
          <p:cNvSpPr/>
          <p:nvPr/>
        </p:nvSpPr>
        <p:spPr>
          <a:xfrm>
            <a:off x="990533" y="1335432"/>
            <a:ext cx="17937626" cy="696424"/>
          </a:xfrm>
          <a:prstGeom prst="rect">
            <a:avLst/>
          </a:prstGeom>
          <a:noFill/>
          <a:ln/>
        </p:spPr>
        <p:txBody>
          <a:bodyPr wrap="square" lIns="25400" tIns="25400" rIns="25400" bIns="25400" rtlCol="0" anchor="t">
            <a:normAutofit/>
          </a:bodyPr>
          <a:lstStyle/>
          <a:p>
            <a:pPr marL="0" indent="0" algn="l">
              <a:lnSpc>
                <a:spcPct val="108000"/>
              </a:lnSpc>
              <a:buNone/>
            </a:pPr>
            <a:r>
              <a:rPr lang="en-US" sz="4800" b="1" kern="0" spc="-96" dirty="0">
                <a:solidFill>
                  <a:srgbClr val="2A2520"/>
                </a:solidFill>
                <a:latin typeface="Fira Sans" pitchFamily="34" charset="0"/>
                <a:ea typeface="Fira Sans" pitchFamily="34" charset="-122"/>
                <a:cs typeface="Fira Sans" pitchFamily="34" charset="-120"/>
              </a:rPr>
              <a:t>Accuracy on average isn’t enough</a:t>
            </a:r>
            <a:endParaRPr lang="en-US" sz="4800" dirty="0"/>
          </a:p>
        </p:txBody>
      </p:sp>
      <p:sp>
        <p:nvSpPr>
          <p:cNvPr id="4" name="Text 2"/>
          <p:cNvSpPr/>
          <p:nvPr/>
        </p:nvSpPr>
        <p:spPr>
          <a:xfrm>
            <a:off x="990533" y="4355689"/>
            <a:ext cx="12557692" cy="1094176"/>
          </a:xfrm>
          <a:prstGeom prst="rect">
            <a:avLst/>
          </a:prstGeom>
          <a:noFill/>
          <a:ln/>
        </p:spPr>
        <p:txBody>
          <a:bodyPr wrap="square" lIns="25400" tIns="25400" rIns="25400" bIns="25400" rtlCol="0" anchor="t">
            <a:normAutofit/>
          </a:bodyPr>
          <a:lstStyle/>
          <a:p>
            <a:pPr marL="0" indent="0" algn="l">
              <a:lnSpc>
                <a:spcPct val="132000"/>
              </a:lnSpc>
              <a:buNone/>
            </a:pPr>
            <a:r>
              <a:rPr lang="en-US" sz="3150" b="1" dirty="0">
                <a:solidFill>
                  <a:srgbClr val="2A2520"/>
                </a:solidFill>
                <a:latin typeface="Fira Sans" pitchFamily="34" charset="0"/>
                <a:ea typeface="Fira Sans" pitchFamily="34" charset="-122"/>
                <a:cs typeface="Fira Sans" pitchFamily="34" charset="-120"/>
              </a:rPr>
              <a:t>Decision-support systems act on a model’s </a:t>
            </a:r>
            <a:r>
              <a:rPr lang="en-US" sz="3150" b="1" dirty="0">
                <a:solidFill>
                  <a:srgbClr val="B3402F"/>
                </a:solidFill>
                <a:latin typeface="Fira Sans" pitchFamily="34" charset="0"/>
                <a:ea typeface="Fira Sans" pitchFamily="34" charset="-122"/>
                <a:cs typeface="Fira Sans" pitchFamily="34" charset="-120"/>
              </a:rPr>
              <a:t>stated confidence </a:t>
            </a:r>
            <a:r>
              <a:rPr lang="en-US" sz="3150" b="1" dirty="0">
                <a:solidFill>
                  <a:srgbClr val="2A2520"/>
                </a:solidFill>
                <a:latin typeface="Fira Sans" pitchFamily="34" charset="0"/>
                <a:ea typeface="Fira Sans" pitchFamily="34" charset="-122"/>
                <a:cs typeface="Fira Sans" pitchFamily="34" charset="-120"/>
              </a:rPr>
              <a:t>- not just its accuracy.</a:t>
            </a:r>
            <a:endParaRPr lang="en-US" sz="3150" dirty="0"/>
          </a:p>
        </p:txBody>
      </p:sp>
      <p:sp>
        <p:nvSpPr>
          <p:cNvPr id="5" name="Text 3"/>
          <p:cNvSpPr/>
          <p:nvPr/>
        </p:nvSpPr>
        <p:spPr>
          <a:xfrm>
            <a:off x="990533" y="5830799"/>
            <a:ext cx="12557692" cy="894151"/>
          </a:xfrm>
          <a:prstGeom prst="rect">
            <a:avLst/>
          </a:prstGeom>
          <a:noFill/>
          <a:ln/>
        </p:spPr>
        <p:txBody>
          <a:bodyPr wrap="square" lIns="25400" tIns="25400" rIns="25400" bIns="25400" rtlCol="0" anchor="t">
            <a:normAutofit/>
          </a:bodyPr>
          <a:lstStyle/>
          <a:p>
            <a:pPr marL="0" indent="0" algn="l">
              <a:lnSpc>
                <a:spcPct val="145000"/>
              </a:lnSpc>
              <a:buNone/>
            </a:pPr>
            <a:r>
              <a:rPr lang="en-US" sz="2325" dirty="0">
                <a:solidFill>
                  <a:srgbClr val="5A5347"/>
                </a:solidFill>
                <a:latin typeface="Fira Sans" pitchFamily="34" charset="0"/>
                <a:ea typeface="Fira Sans" pitchFamily="34" charset="-122"/>
                <a:cs typeface="Fira Sans" pitchFamily="34" charset="-120"/>
              </a:rPr>
              <a:t>Confident-but-wrong predictions are a known failure mode across modern ML - not unique to CATIE.</a:t>
            </a:r>
            <a:endParaRPr lang="en-US" sz="2325" dirty="0"/>
          </a:p>
        </p:txBody>
      </p:sp>
      <p:sp>
        <p:nvSpPr>
          <p:cNvPr id="6" name="Shape 4"/>
          <p:cNvSpPr/>
          <p:nvPr/>
        </p:nvSpPr>
        <p:spPr>
          <a:xfrm>
            <a:off x="990533" y="7105883"/>
            <a:ext cx="25578" cy="857250"/>
          </a:xfrm>
          <a:prstGeom prst="rect">
            <a:avLst/>
          </a:prstGeom>
          <a:solidFill>
            <a:srgbClr val="2F6B7A"/>
          </a:solidFill>
          <a:ln/>
        </p:spPr>
        <p:txBody>
          <a:bodyPr/>
          <a:lstStyle/>
          <a:p>
            <a:endParaRPr lang="he-IL"/>
          </a:p>
        </p:txBody>
      </p:sp>
      <p:sp>
        <p:nvSpPr>
          <p:cNvPr id="7" name="Text 5"/>
          <p:cNvSpPr/>
          <p:nvPr/>
        </p:nvSpPr>
        <p:spPr>
          <a:xfrm>
            <a:off x="1244711" y="7105883"/>
            <a:ext cx="12303514" cy="895350"/>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2A2520"/>
                </a:solidFill>
                <a:latin typeface="Fira Sans" pitchFamily="34" charset="0"/>
                <a:ea typeface="Fira Sans" pitchFamily="34" charset="-122"/>
                <a:cs typeface="Fira Sans" pitchFamily="34" charset="-120"/>
              </a:rPr>
              <a:t>CATIE already won its competition. The harder question is whether its confidence can be </a:t>
            </a:r>
            <a:r>
              <a:rPr lang="en-US" sz="2250" b="1" dirty="0">
                <a:solidFill>
                  <a:srgbClr val="2A2520"/>
                </a:solidFill>
                <a:latin typeface="Fira Sans" pitchFamily="34" charset="0"/>
                <a:ea typeface="Fira Sans" pitchFamily="34" charset="-122"/>
                <a:cs typeface="Fira Sans" pitchFamily="34" charset="-120"/>
              </a:rPr>
              <a:t>trusted trial-by-trial</a:t>
            </a:r>
            <a:r>
              <a:rPr lang="en-US" sz="2250" dirty="0">
                <a:solidFill>
                  <a:srgbClr val="2A2520"/>
                </a:solidFill>
                <a:latin typeface="Fira Sans" pitchFamily="34" charset="0"/>
                <a:ea typeface="Fira Sans" pitchFamily="34" charset="-122"/>
                <a:cs typeface="Fira Sans" pitchFamily="34" charset="-120"/>
              </a:rPr>
              <a:t>.</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8243997"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THE PARADIGM</a:t>
            </a:r>
            <a:endParaRPr lang="en-US" sz="1875" dirty="0"/>
          </a:p>
        </p:txBody>
      </p:sp>
      <p:sp>
        <p:nvSpPr>
          <p:cNvPr id="3" name="Text 1"/>
          <p:cNvSpPr/>
          <p:nvPr/>
        </p:nvSpPr>
        <p:spPr>
          <a:xfrm>
            <a:off x="990533" y="1335432"/>
            <a:ext cx="8243997"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How the choice engineering works</a:t>
            </a:r>
            <a:endParaRPr lang="en-US" sz="3900" dirty="0"/>
          </a:p>
        </p:txBody>
      </p:sp>
      <p:sp>
        <p:nvSpPr>
          <p:cNvPr id="4" name="Shape 2"/>
          <p:cNvSpPr/>
          <p:nvPr/>
        </p:nvSpPr>
        <p:spPr>
          <a:xfrm>
            <a:off x="990533" y="3635619"/>
            <a:ext cx="2773873" cy="4762433"/>
          </a:xfrm>
          <a:prstGeom prst="roundRect">
            <a:avLst>
              <a:gd name="adj" fmla="val 5494"/>
            </a:avLst>
          </a:prstGeom>
          <a:solidFill>
            <a:srgbClr val="FBF8F2"/>
          </a:solidFill>
          <a:ln w="6394">
            <a:solidFill>
              <a:srgbClr val="E4DBC9"/>
            </a:solidFill>
            <a:prstDash val="solid"/>
          </a:ln>
          <a:effectLst>
            <a:outerShdw blurRad="228600" dist="57150" dir="5400000" algn="bl" rotWithShape="0">
              <a:srgbClr val="463723">
                <a:alpha val="5000"/>
              </a:srgbClr>
            </a:outerShdw>
          </a:effectLst>
        </p:spPr>
        <p:txBody>
          <a:bodyPr/>
          <a:lstStyle/>
          <a:p>
            <a:endParaRPr lang="he-IL"/>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77370" y="5094543"/>
            <a:ext cx="800100" cy="800100"/>
          </a:xfrm>
          <a:prstGeom prst="rect">
            <a:avLst/>
          </a:prstGeom>
        </p:spPr>
      </p:pic>
      <p:sp>
        <p:nvSpPr>
          <p:cNvPr id="6" name="Text 3"/>
          <p:cNvSpPr/>
          <p:nvPr/>
        </p:nvSpPr>
        <p:spPr>
          <a:xfrm>
            <a:off x="1088248" y="5989859"/>
            <a:ext cx="2578344" cy="332243"/>
          </a:xfrm>
          <a:prstGeom prst="rect">
            <a:avLst/>
          </a:prstGeom>
          <a:noFill/>
          <a:ln/>
        </p:spPr>
        <p:txBody>
          <a:bodyPr wrap="square" lIns="25400" tIns="25400" rIns="25400" bIns="25400" rtlCol="0" anchor="t">
            <a:normAutofit/>
          </a:bodyPr>
          <a:lstStyle/>
          <a:p>
            <a:pPr marL="0" indent="0" algn="ctr">
              <a:buNone/>
            </a:pPr>
            <a:r>
              <a:rPr lang="en-US" sz="1950" b="1" dirty="0">
                <a:solidFill>
                  <a:srgbClr val="2A2520"/>
                </a:solidFill>
                <a:latin typeface="Fira Sans" pitchFamily="34" charset="0"/>
                <a:ea typeface="Fira Sans" pitchFamily="34" charset="-122"/>
                <a:cs typeface="Fira Sans" pitchFamily="34" charset="-120"/>
              </a:rPr>
              <a:t>Engineered schedule</a:t>
            </a:r>
            <a:endParaRPr lang="en-US" sz="1950" dirty="0"/>
          </a:p>
        </p:txBody>
      </p:sp>
      <p:sp>
        <p:nvSpPr>
          <p:cNvPr id="7" name="Text 4"/>
          <p:cNvSpPr/>
          <p:nvPr/>
        </p:nvSpPr>
        <p:spPr>
          <a:xfrm>
            <a:off x="1130278" y="6379219"/>
            <a:ext cx="2494384" cy="655160"/>
          </a:xfrm>
          <a:prstGeom prst="rect">
            <a:avLst/>
          </a:prstGeom>
          <a:noFill/>
          <a:ln/>
        </p:spPr>
        <p:txBody>
          <a:bodyPr wrap="square" lIns="25400" tIns="25400" rIns="25400" bIns="25400" rtlCol="0" anchor="t">
            <a:normAutofit/>
          </a:bodyPr>
          <a:lstStyle/>
          <a:p>
            <a:pPr marL="0" indent="0" algn="ctr">
              <a:lnSpc>
                <a:spcPct val="135000"/>
              </a:lnSpc>
              <a:buNone/>
            </a:pPr>
            <a:r>
              <a:rPr lang="en-US" sz="1800" dirty="0">
                <a:solidFill>
                  <a:srgbClr val="897F6E"/>
                </a:solidFill>
                <a:latin typeface="Fira Sans" pitchFamily="34" charset="0"/>
                <a:ea typeface="Fira Sans" pitchFamily="34" charset="-122"/>
                <a:cs typeface="Fira Sans" pitchFamily="34" charset="-120"/>
              </a:rPr>
              <a:t>rewards are tuned in advance</a:t>
            </a:r>
            <a:endParaRPr lang="en-US" sz="1800" dirty="0"/>
          </a:p>
        </p:txBody>
      </p:sp>
      <p:sp>
        <p:nvSpPr>
          <p:cNvPr id="8" name="Text 5"/>
          <p:cNvSpPr/>
          <p:nvPr/>
        </p:nvSpPr>
        <p:spPr>
          <a:xfrm>
            <a:off x="3916740" y="5831398"/>
            <a:ext cx="350410" cy="408976"/>
          </a:xfrm>
          <a:prstGeom prst="rect">
            <a:avLst/>
          </a:prstGeom>
          <a:noFill/>
          <a:ln/>
        </p:spPr>
        <p:txBody>
          <a:bodyPr wrap="square" lIns="25400" tIns="25400" rIns="25400" bIns="25400" rtlCol="0" anchor="t">
            <a:normAutofit/>
          </a:bodyPr>
          <a:lstStyle/>
          <a:p>
            <a:pPr marL="0" indent="0" algn="l">
              <a:buNone/>
            </a:pPr>
            <a:r>
              <a:rPr lang="en-US" sz="2400" dirty="0">
                <a:solidFill>
                  <a:srgbClr val="BFA06E"/>
                </a:solidFill>
                <a:latin typeface="Fira Sans" pitchFamily="34" charset="0"/>
                <a:ea typeface="Fira Sans" pitchFamily="34" charset="-122"/>
                <a:cs typeface="Fira Sans" pitchFamily="34" charset="-120"/>
              </a:rPr>
              <a:t>→</a:t>
            </a:r>
            <a:endParaRPr lang="en-US" sz="2400" dirty="0"/>
          </a:p>
        </p:txBody>
      </p:sp>
      <p:sp>
        <p:nvSpPr>
          <p:cNvPr id="9" name="Shape 6"/>
          <p:cNvSpPr/>
          <p:nvPr/>
        </p:nvSpPr>
        <p:spPr>
          <a:xfrm>
            <a:off x="4373773" y="3635619"/>
            <a:ext cx="2773973" cy="4762433"/>
          </a:xfrm>
          <a:prstGeom prst="roundRect">
            <a:avLst>
              <a:gd name="adj" fmla="val 5494"/>
            </a:avLst>
          </a:prstGeom>
          <a:solidFill>
            <a:srgbClr val="FBF8F2"/>
          </a:solidFill>
          <a:ln w="6394">
            <a:solidFill>
              <a:srgbClr val="E4DBC9"/>
            </a:solidFill>
            <a:prstDash val="solid"/>
          </a:ln>
          <a:effectLst>
            <a:outerShdw blurRad="228600" dist="57150" dir="5400000" algn="bl" rotWithShape="0">
              <a:srgbClr val="463723">
                <a:alpha val="5000"/>
              </a:srgbClr>
            </a:outerShdw>
          </a:effectLst>
        </p:spPr>
        <p:txBody>
          <a:bodyPr/>
          <a:lstStyle/>
          <a:p>
            <a:endParaRPr lang="he-IL"/>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2643" y="5065968"/>
            <a:ext cx="876233" cy="800100"/>
          </a:xfrm>
          <a:prstGeom prst="rect">
            <a:avLst/>
          </a:prstGeom>
        </p:spPr>
      </p:pic>
      <p:sp>
        <p:nvSpPr>
          <p:cNvPr id="11" name="Text 7"/>
          <p:cNvSpPr/>
          <p:nvPr/>
        </p:nvSpPr>
        <p:spPr>
          <a:xfrm>
            <a:off x="5003967" y="5989859"/>
            <a:ext cx="1513486" cy="332243"/>
          </a:xfrm>
          <a:prstGeom prst="rect">
            <a:avLst/>
          </a:prstGeom>
          <a:noFill/>
          <a:ln/>
        </p:spPr>
        <p:txBody>
          <a:bodyPr wrap="square" lIns="25400" tIns="25400" rIns="25400" bIns="25400" rtlCol="0" anchor="t">
            <a:normAutofit/>
          </a:bodyPr>
          <a:lstStyle/>
          <a:p>
            <a:pPr marL="0" indent="0" algn="ctr">
              <a:buNone/>
            </a:pPr>
            <a:r>
              <a:rPr lang="en-US" sz="1950" b="1" dirty="0">
                <a:solidFill>
                  <a:srgbClr val="2A2520"/>
                </a:solidFill>
                <a:latin typeface="Fira Sans" pitchFamily="34" charset="0"/>
                <a:ea typeface="Fira Sans" pitchFamily="34" charset="-122"/>
                <a:cs typeface="Fira Sans" pitchFamily="34" charset="-120"/>
              </a:rPr>
              <a:t>Two options</a:t>
            </a:r>
            <a:endParaRPr lang="en-US" sz="1950" dirty="0"/>
          </a:p>
        </p:txBody>
      </p:sp>
      <p:sp>
        <p:nvSpPr>
          <p:cNvPr id="12" name="Text 8"/>
          <p:cNvSpPr/>
          <p:nvPr/>
        </p:nvSpPr>
        <p:spPr>
          <a:xfrm>
            <a:off x="4513518" y="6379219"/>
            <a:ext cx="2494484" cy="655160"/>
          </a:xfrm>
          <a:prstGeom prst="rect">
            <a:avLst/>
          </a:prstGeom>
          <a:noFill/>
          <a:ln/>
        </p:spPr>
        <p:txBody>
          <a:bodyPr wrap="square" lIns="25400" tIns="25400" rIns="25400" bIns="25400" rtlCol="0" anchor="t">
            <a:normAutofit/>
          </a:bodyPr>
          <a:lstStyle/>
          <a:p>
            <a:pPr marL="0" indent="0" algn="ctr">
              <a:lnSpc>
                <a:spcPct val="135000"/>
              </a:lnSpc>
              <a:buNone/>
            </a:pPr>
            <a:r>
              <a:rPr lang="en-US" sz="1800" dirty="0">
                <a:solidFill>
                  <a:srgbClr val="897F6E"/>
                </a:solidFill>
                <a:latin typeface="Fira Sans" pitchFamily="34" charset="0"/>
                <a:ea typeface="Fira Sans" pitchFamily="34" charset="-122"/>
                <a:cs typeface="Fira Sans" pitchFamily="34" charset="-120"/>
              </a:rPr>
              <a:t>a biased vs. unbiased arm</a:t>
            </a:r>
            <a:endParaRPr lang="en-US" sz="1800" dirty="0"/>
          </a:p>
        </p:txBody>
      </p:sp>
      <p:sp>
        <p:nvSpPr>
          <p:cNvPr id="13" name="Text 9"/>
          <p:cNvSpPr/>
          <p:nvPr/>
        </p:nvSpPr>
        <p:spPr>
          <a:xfrm>
            <a:off x="7300080" y="5831398"/>
            <a:ext cx="350410" cy="408976"/>
          </a:xfrm>
          <a:prstGeom prst="rect">
            <a:avLst/>
          </a:prstGeom>
          <a:noFill/>
          <a:ln/>
        </p:spPr>
        <p:txBody>
          <a:bodyPr wrap="square" lIns="25400" tIns="25400" rIns="25400" bIns="25400" rtlCol="0" anchor="t">
            <a:normAutofit/>
          </a:bodyPr>
          <a:lstStyle/>
          <a:p>
            <a:pPr marL="0" indent="0" algn="l">
              <a:buNone/>
            </a:pPr>
            <a:r>
              <a:rPr lang="en-US" sz="2400" dirty="0">
                <a:solidFill>
                  <a:srgbClr val="BFA06E"/>
                </a:solidFill>
                <a:latin typeface="Fira Sans" pitchFamily="34" charset="0"/>
                <a:ea typeface="Fira Sans" pitchFamily="34" charset="-122"/>
                <a:cs typeface="Fira Sans" pitchFamily="34" charset="-120"/>
              </a:rPr>
              <a:t>→</a:t>
            </a:r>
            <a:endParaRPr lang="en-US" sz="2400" dirty="0"/>
          </a:p>
        </p:txBody>
      </p:sp>
      <p:sp>
        <p:nvSpPr>
          <p:cNvPr id="14" name="Shape 10"/>
          <p:cNvSpPr/>
          <p:nvPr/>
        </p:nvSpPr>
        <p:spPr>
          <a:xfrm>
            <a:off x="7757113" y="3635619"/>
            <a:ext cx="2773873" cy="4762433"/>
          </a:xfrm>
          <a:prstGeom prst="roundRect">
            <a:avLst>
              <a:gd name="adj" fmla="val 5494"/>
            </a:avLst>
          </a:prstGeom>
          <a:solidFill>
            <a:srgbClr val="FBF8F2"/>
          </a:solidFill>
          <a:ln w="6394">
            <a:solidFill>
              <a:srgbClr val="E4DBC9"/>
            </a:solidFill>
            <a:prstDash val="solid"/>
          </a:ln>
          <a:effectLst>
            <a:outerShdw blurRad="228600" dist="57150" dir="5400000" algn="bl" rotWithShape="0">
              <a:srgbClr val="463723">
                <a:alpha val="5000"/>
              </a:srgbClr>
            </a:outerShdw>
          </a:effectLst>
        </p:spPr>
        <p:txBody>
          <a:bodyPr/>
          <a:lstStyle/>
          <a:p>
            <a:endParaRPr lang="he-IL"/>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05883" y="4854553"/>
            <a:ext cx="876233" cy="800100"/>
          </a:xfrm>
          <a:prstGeom prst="rect">
            <a:avLst/>
          </a:prstGeom>
        </p:spPr>
      </p:pic>
      <p:sp>
        <p:nvSpPr>
          <p:cNvPr id="16" name="Text 11"/>
          <p:cNvSpPr/>
          <p:nvPr/>
        </p:nvSpPr>
        <p:spPr>
          <a:xfrm>
            <a:off x="8426543" y="5835594"/>
            <a:ext cx="1435014" cy="332243"/>
          </a:xfrm>
          <a:prstGeom prst="rect">
            <a:avLst/>
          </a:prstGeom>
          <a:noFill/>
          <a:ln/>
        </p:spPr>
        <p:txBody>
          <a:bodyPr wrap="square" lIns="25400" tIns="25400" rIns="25400" bIns="25400" rtlCol="0" anchor="t">
            <a:normAutofit/>
          </a:bodyPr>
          <a:lstStyle/>
          <a:p>
            <a:pPr marL="0" indent="0" algn="ctr">
              <a:buNone/>
            </a:pPr>
            <a:r>
              <a:rPr lang="en-US" sz="1950" b="1" dirty="0">
                <a:solidFill>
                  <a:srgbClr val="2A2520"/>
                </a:solidFill>
                <a:latin typeface="Fira Sans" pitchFamily="34" charset="0"/>
                <a:ea typeface="Fira Sans" pitchFamily="34" charset="-122"/>
                <a:cs typeface="Fira Sans" pitchFamily="34" charset="-120"/>
              </a:rPr>
              <a:t>100 choices</a:t>
            </a:r>
            <a:endParaRPr lang="en-US" sz="1950" dirty="0"/>
          </a:p>
        </p:txBody>
      </p:sp>
      <p:sp>
        <p:nvSpPr>
          <p:cNvPr id="17" name="Text 12"/>
          <p:cNvSpPr/>
          <p:nvPr/>
        </p:nvSpPr>
        <p:spPr>
          <a:xfrm>
            <a:off x="7896858" y="6282104"/>
            <a:ext cx="2494384" cy="963690"/>
          </a:xfrm>
          <a:prstGeom prst="rect">
            <a:avLst/>
          </a:prstGeom>
          <a:noFill/>
          <a:ln/>
        </p:spPr>
        <p:txBody>
          <a:bodyPr wrap="square" lIns="25400" tIns="25400" rIns="25400" bIns="25400" rtlCol="0" anchor="t">
            <a:normAutofit/>
          </a:bodyPr>
          <a:lstStyle/>
          <a:p>
            <a:pPr marL="0" indent="0" algn="ctr">
              <a:lnSpc>
                <a:spcPct val="135000"/>
              </a:lnSpc>
              <a:buNone/>
            </a:pPr>
            <a:r>
              <a:rPr lang="en-US" sz="1800" dirty="0">
                <a:solidFill>
                  <a:srgbClr val="897F6E"/>
                </a:solidFill>
                <a:latin typeface="Fira Sans" pitchFamily="34" charset="0"/>
                <a:ea typeface="Fira Sans" pitchFamily="34" charset="-122"/>
                <a:cs typeface="Fira Sans" pitchFamily="34" charset="-120"/>
              </a:rPr>
              <a:t>partial feedback: only the chosen reward is shown</a:t>
            </a:r>
            <a:endParaRPr lang="en-US" sz="1800" dirty="0"/>
          </a:p>
        </p:txBody>
      </p:sp>
      <p:sp>
        <p:nvSpPr>
          <p:cNvPr id="18" name="Text 13"/>
          <p:cNvSpPr/>
          <p:nvPr/>
        </p:nvSpPr>
        <p:spPr>
          <a:xfrm>
            <a:off x="10683320" y="5831398"/>
            <a:ext cx="350410" cy="408976"/>
          </a:xfrm>
          <a:prstGeom prst="rect">
            <a:avLst/>
          </a:prstGeom>
          <a:noFill/>
          <a:ln/>
        </p:spPr>
        <p:txBody>
          <a:bodyPr wrap="square" lIns="25400" tIns="25400" rIns="25400" bIns="25400" rtlCol="0" anchor="t">
            <a:normAutofit/>
          </a:bodyPr>
          <a:lstStyle/>
          <a:p>
            <a:pPr marL="0" indent="0" algn="l">
              <a:buNone/>
            </a:pPr>
            <a:r>
              <a:rPr lang="en-US" sz="2400" dirty="0">
                <a:solidFill>
                  <a:srgbClr val="BFA06E"/>
                </a:solidFill>
                <a:latin typeface="Fira Sans" pitchFamily="34" charset="0"/>
                <a:ea typeface="Fira Sans" pitchFamily="34" charset="-122"/>
                <a:cs typeface="Fira Sans" pitchFamily="34" charset="-120"/>
              </a:rPr>
              <a:t>→</a:t>
            </a:r>
            <a:endParaRPr lang="en-US" sz="2400" dirty="0"/>
          </a:p>
        </p:txBody>
      </p:sp>
      <p:sp>
        <p:nvSpPr>
          <p:cNvPr id="19" name="Shape 14"/>
          <p:cNvSpPr/>
          <p:nvPr/>
        </p:nvSpPr>
        <p:spPr>
          <a:xfrm>
            <a:off x="11140354" y="3635619"/>
            <a:ext cx="2773873" cy="4762433"/>
          </a:xfrm>
          <a:prstGeom prst="roundRect">
            <a:avLst>
              <a:gd name="adj" fmla="val 5494"/>
            </a:avLst>
          </a:prstGeom>
          <a:solidFill>
            <a:srgbClr val="FBF8F2"/>
          </a:solidFill>
          <a:ln w="6394">
            <a:solidFill>
              <a:srgbClr val="E4DBC9"/>
            </a:solidFill>
            <a:prstDash val="solid"/>
          </a:ln>
          <a:effectLst>
            <a:outerShdw blurRad="228600" dist="57150" dir="5400000" algn="bl" rotWithShape="0">
              <a:srgbClr val="463723">
                <a:alpha val="5000"/>
              </a:srgbClr>
            </a:outerShdw>
          </a:effectLst>
        </p:spPr>
        <p:txBody>
          <a:bodyPr/>
          <a:lstStyle/>
          <a:p>
            <a:endParaRPr lang="he-IL"/>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051056" y="5008818"/>
            <a:ext cx="952467" cy="800100"/>
          </a:xfrm>
          <a:prstGeom prst="rect">
            <a:avLst/>
          </a:prstGeom>
        </p:spPr>
      </p:pic>
      <p:sp>
        <p:nvSpPr>
          <p:cNvPr id="21" name="Text 15"/>
          <p:cNvSpPr/>
          <p:nvPr/>
        </p:nvSpPr>
        <p:spPr>
          <a:xfrm>
            <a:off x="11578105" y="5989859"/>
            <a:ext cx="1898369" cy="332243"/>
          </a:xfrm>
          <a:prstGeom prst="rect">
            <a:avLst/>
          </a:prstGeom>
          <a:noFill/>
          <a:ln/>
        </p:spPr>
        <p:txBody>
          <a:bodyPr wrap="square" lIns="25400" tIns="25400" rIns="25400" bIns="25400" rtlCol="0" anchor="t">
            <a:normAutofit/>
          </a:bodyPr>
          <a:lstStyle/>
          <a:p>
            <a:pPr marL="0" indent="0" algn="ctr">
              <a:buNone/>
            </a:pPr>
            <a:r>
              <a:rPr lang="en-US" sz="1950" b="1" dirty="0">
                <a:solidFill>
                  <a:srgbClr val="2A2520"/>
                </a:solidFill>
                <a:latin typeface="Fira Sans" pitchFamily="34" charset="0"/>
                <a:ea typeface="Fira Sans" pitchFamily="34" charset="-122"/>
                <a:cs typeface="Fira Sans" pitchFamily="34" charset="-120"/>
              </a:rPr>
              <a:t>CATIE models it</a:t>
            </a:r>
            <a:endParaRPr lang="en-US" sz="1950" dirty="0"/>
          </a:p>
        </p:txBody>
      </p:sp>
      <p:sp>
        <p:nvSpPr>
          <p:cNvPr id="22" name="Text 16"/>
          <p:cNvSpPr/>
          <p:nvPr/>
        </p:nvSpPr>
        <p:spPr>
          <a:xfrm>
            <a:off x="11280098" y="6436369"/>
            <a:ext cx="2494384" cy="655160"/>
          </a:xfrm>
          <a:prstGeom prst="rect">
            <a:avLst/>
          </a:prstGeom>
          <a:noFill/>
          <a:ln/>
        </p:spPr>
        <p:txBody>
          <a:bodyPr wrap="square" lIns="25400" tIns="25400" rIns="25400" bIns="25400" rtlCol="0" anchor="t">
            <a:normAutofit/>
          </a:bodyPr>
          <a:lstStyle/>
          <a:p>
            <a:pPr marL="0" indent="0" algn="ctr">
              <a:lnSpc>
                <a:spcPct val="135000"/>
              </a:lnSpc>
              <a:buNone/>
            </a:pPr>
            <a:r>
              <a:rPr lang="en-US" sz="1800" dirty="0">
                <a:solidFill>
                  <a:srgbClr val="897F6E"/>
                </a:solidFill>
                <a:latin typeface="Fira Sans" pitchFamily="34" charset="0"/>
                <a:ea typeface="Fira Sans" pitchFamily="34" charset="-122"/>
                <a:cs typeface="Fira Sans" pitchFamily="34" charset="-120"/>
              </a:rPr>
              <a:t>reads the whole sequence</a:t>
            </a:r>
            <a:endParaRPr lang="en-US" sz="1800" dirty="0"/>
          </a:p>
        </p:txBody>
      </p:sp>
      <p:sp>
        <p:nvSpPr>
          <p:cNvPr id="23" name="Text 17"/>
          <p:cNvSpPr/>
          <p:nvPr/>
        </p:nvSpPr>
        <p:spPr>
          <a:xfrm>
            <a:off x="14066560" y="5831398"/>
            <a:ext cx="350410" cy="408976"/>
          </a:xfrm>
          <a:prstGeom prst="rect">
            <a:avLst/>
          </a:prstGeom>
          <a:noFill/>
          <a:ln/>
        </p:spPr>
        <p:txBody>
          <a:bodyPr wrap="square" lIns="25400" tIns="25400" rIns="25400" bIns="25400" rtlCol="0" anchor="t">
            <a:normAutofit/>
          </a:bodyPr>
          <a:lstStyle/>
          <a:p>
            <a:pPr marL="0" indent="0" algn="l">
              <a:buNone/>
            </a:pPr>
            <a:r>
              <a:rPr lang="en-US" sz="2400" dirty="0">
                <a:solidFill>
                  <a:srgbClr val="BFA06E"/>
                </a:solidFill>
                <a:latin typeface="Fira Sans" pitchFamily="34" charset="0"/>
                <a:ea typeface="Fira Sans" pitchFamily="34" charset="-122"/>
                <a:cs typeface="Fira Sans" pitchFamily="34" charset="-120"/>
              </a:rPr>
              <a:t>→</a:t>
            </a:r>
            <a:endParaRPr lang="en-US" sz="2400" dirty="0"/>
          </a:p>
        </p:txBody>
      </p:sp>
      <p:sp>
        <p:nvSpPr>
          <p:cNvPr id="24" name="Shape 18"/>
          <p:cNvSpPr/>
          <p:nvPr/>
        </p:nvSpPr>
        <p:spPr>
          <a:xfrm>
            <a:off x="14523594" y="3635619"/>
            <a:ext cx="2773873" cy="4762433"/>
          </a:xfrm>
          <a:prstGeom prst="roundRect">
            <a:avLst>
              <a:gd name="adj" fmla="val 5494"/>
            </a:avLst>
          </a:prstGeom>
          <a:solidFill>
            <a:srgbClr val="FBF8F2"/>
          </a:solidFill>
          <a:ln w="6394">
            <a:solidFill>
              <a:srgbClr val="E9CABF"/>
            </a:solidFill>
            <a:prstDash val="solid"/>
          </a:ln>
          <a:effectLst>
            <a:outerShdw blurRad="228600" dist="57150" dir="5400000" algn="bl" rotWithShape="0">
              <a:srgbClr val="B3402F">
                <a:alpha val="7000"/>
              </a:srgbClr>
            </a:outerShdw>
          </a:effectLst>
        </p:spPr>
        <p:txBody>
          <a:bodyPr/>
          <a:lstStyle/>
          <a:p>
            <a:endParaRPr lang="he-IL"/>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510430" y="5163083"/>
            <a:ext cx="800100" cy="800100"/>
          </a:xfrm>
          <a:prstGeom prst="rect">
            <a:avLst/>
          </a:prstGeom>
        </p:spPr>
      </p:pic>
      <p:sp>
        <p:nvSpPr>
          <p:cNvPr id="26" name="Text 19"/>
          <p:cNvSpPr/>
          <p:nvPr/>
        </p:nvSpPr>
        <p:spPr>
          <a:xfrm>
            <a:off x="15114991" y="6144124"/>
            <a:ext cx="1591078" cy="332243"/>
          </a:xfrm>
          <a:prstGeom prst="rect">
            <a:avLst/>
          </a:prstGeom>
          <a:noFill/>
          <a:ln/>
        </p:spPr>
        <p:txBody>
          <a:bodyPr wrap="square" lIns="25400" tIns="25400" rIns="25400" bIns="25400" rtlCol="0" anchor="t">
            <a:normAutofit/>
          </a:bodyPr>
          <a:lstStyle/>
          <a:p>
            <a:pPr marL="0" indent="0" algn="ctr">
              <a:buNone/>
            </a:pPr>
            <a:r>
              <a:rPr lang="en-US" sz="1950" b="1" dirty="0">
                <a:solidFill>
                  <a:srgbClr val="2A2520"/>
                </a:solidFill>
                <a:latin typeface="Fira Sans" pitchFamily="34" charset="0"/>
                <a:ea typeface="Fira Sans" pitchFamily="34" charset="-122"/>
                <a:cs typeface="Fira Sans" pitchFamily="34" charset="-120"/>
              </a:rPr>
              <a:t>Probability p</a:t>
            </a:r>
            <a:endParaRPr lang="en-US" sz="1950" dirty="0"/>
          </a:p>
        </p:txBody>
      </p:sp>
      <p:sp>
        <p:nvSpPr>
          <p:cNvPr id="27" name="Text 20"/>
          <p:cNvSpPr/>
          <p:nvPr/>
        </p:nvSpPr>
        <p:spPr>
          <a:xfrm>
            <a:off x="14852210" y="6590634"/>
            <a:ext cx="2116638" cy="346630"/>
          </a:xfrm>
          <a:prstGeom prst="rect">
            <a:avLst/>
          </a:prstGeom>
          <a:noFill/>
          <a:ln/>
        </p:spPr>
        <p:txBody>
          <a:bodyPr wrap="square" lIns="25400" tIns="25400" rIns="25400" bIns="25400" rtlCol="0" anchor="t">
            <a:normAutofit/>
          </a:bodyPr>
          <a:lstStyle/>
          <a:p>
            <a:pPr marL="0" indent="0" algn="ctr">
              <a:lnSpc>
                <a:spcPct val="135000"/>
              </a:lnSpc>
              <a:buNone/>
            </a:pPr>
            <a:r>
              <a:rPr lang="en-US" sz="1800" dirty="0">
                <a:solidFill>
                  <a:srgbClr val="897F6E"/>
                </a:solidFill>
                <a:latin typeface="Fira Sans" pitchFamily="34" charset="0"/>
                <a:ea typeface="Fira Sans" pitchFamily="34" charset="-122"/>
                <a:cs typeface="Fira Sans" pitchFamily="34" charset="-120"/>
              </a:rPr>
              <a:t>P (the next choice)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7648539"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THE MODEL</a:t>
            </a:r>
            <a:endParaRPr lang="en-US" sz="1875" dirty="0"/>
          </a:p>
        </p:txBody>
      </p:sp>
      <p:sp>
        <p:nvSpPr>
          <p:cNvPr id="3" name="Text 1"/>
          <p:cNvSpPr/>
          <p:nvPr/>
        </p:nvSpPr>
        <p:spPr>
          <a:xfrm>
            <a:off x="990533" y="1335432"/>
            <a:ext cx="7161813" cy="1127547"/>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CATIE won the Choice Engineering Competition</a:t>
            </a:r>
            <a:endParaRPr lang="en-US" sz="3900" dirty="0"/>
          </a:p>
        </p:txBody>
      </p:sp>
      <p:sp>
        <p:nvSpPr>
          <p:cNvPr id="4" name="Text 2"/>
          <p:cNvSpPr/>
          <p:nvPr/>
        </p:nvSpPr>
        <p:spPr>
          <a:xfrm>
            <a:off x="990533" y="4384963"/>
            <a:ext cx="8198937" cy="1074393"/>
          </a:xfrm>
          <a:prstGeom prst="rect">
            <a:avLst/>
          </a:prstGeom>
          <a:noFill/>
          <a:ln/>
        </p:spPr>
        <p:txBody>
          <a:bodyPr wrap="square" lIns="25400" tIns="25400" rIns="25400" bIns="25400" rtlCol="0" anchor="t">
            <a:normAutofit/>
          </a:bodyPr>
          <a:lstStyle/>
          <a:p>
            <a:pPr marL="0" indent="0" algn="l">
              <a:lnSpc>
                <a:spcPct val="85000"/>
              </a:lnSpc>
              <a:buNone/>
            </a:pPr>
            <a:r>
              <a:rPr lang="en-US" sz="9600" b="1" kern="0" spc="-192" dirty="0">
                <a:solidFill>
                  <a:srgbClr val="B3402F"/>
                </a:solidFill>
                <a:latin typeface="Fira Sans" pitchFamily="34" charset="0"/>
                <a:ea typeface="Fira Sans" pitchFamily="34" charset="-122"/>
                <a:cs typeface="Fira Sans" pitchFamily="34" charset="-120"/>
              </a:rPr>
              <a:t>64.3%</a:t>
            </a:r>
            <a:endParaRPr lang="en-US" sz="9600" dirty="0"/>
          </a:p>
        </p:txBody>
      </p:sp>
      <p:sp>
        <p:nvSpPr>
          <p:cNvPr id="5" name="Text 3"/>
          <p:cNvSpPr/>
          <p:nvPr/>
        </p:nvSpPr>
        <p:spPr>
          <a:xfrm>
            <a:off x="990533" y="5573624"/>
            <a:ext cx="3147398" cy="997261"/>
          </a:xfrm>
          <a:prstGeom prst="rect">
            <a:avLst/>
          </a:prstGeom>
          <a:noFill/>
          <a:ln/>
        </p:spPr>
        <p:txBody>
          <a:bodyPr wrap="square" lIns="25400" tIns="25400" rIns="25400" bIns="25400" rtlCol="0" anchor="t">
            <a:normAutofit/>
          </a:bodyPr>
          <a:lstStyle/>
          <a:p>
            <a:pPr marL="0" indent="0" algn="l">
              <a:buNone/>
            </a:pPr>
            <a:r>
              <a:rPr lang="en-US" sz="2100" dirty="0">
                <a:solidFill>
                  <a:srgbClr val="7C7363"/>
                </a:solidFill>
                <a:latin typeface="Fira Sans" pitchFamily="34" charset="0"/>
                <a:ea typeface="Fira Sans" pitchFamily="34" charset="-122"/>
                <a:cs typeface="Fira Sans" pitchFamily="34" charset="-120"/>
              </a:rPr>
              <a:t>choice bias: top of the leaderboard, well above Q-Learning rivals</a:t>
            </a:r>
            <a:endParaRPr lang="en-US" sz="2100" dirty="0"/>
          </a:p>
        </p:txBody>
      </p:sp>
      <p:sp>
        <p:nvSpPr>
          <p:cNvPr id="6" name="Text 4"/>
          <p:cNvSpPr/>
          <p:nvPr/>
        </p:nvSpPr>
        <p:spPr>
          <a:xfrm>
            <a:off x="990533" y="6818534"/>
            <a:ext cx="639307" cy="306665"/>
          </a:xfrm>
          <a:prstGeom prst="rect">
            <a:avLst/>
          </a:prstGeom>
          <a:noFill/>
          <a:ln/>
        </p:spPr>
        <p:txBody>
          <a:bodyPr wrap="square" lIns="25400" tIns="25400" rIns="25400" bIns="25400" rtlCol="0" anchor="t">
            <a:normAutofit/>
          </a:bodyPr>
          <a:lstStyle/>
          <a:p>
            <a:pPr marL="0" indent="0" algn="l">
              <a:buNone/>
            </a:pPr>
            <a:r>
              <a:rPr lang="en-US" sz="1800" b="1" dirty="0">
                <a:solidFill>
                  <a:srgbClr val="B3402F"/>
                </a:solidFill>
                <a:latin typeface="Fira Sans" pitchFamily="34" charset="0"/>
                <a:ea typeface="Fira Sans" pitchFamily="34" charset="-122"/>
                <a:cs typeface="Fira Sans" pitchFamily="34" charset="-120"/>
              </a:rPr>
              <a:t>CATIE</a:t>
            </a:r>
            <a:endParaRPr lang="en-US" sz="1800" dirty="0"/>
          </a:p>
        </p:txBody>
      </p:sp>
      <p:sp>
        <p:nvSpPr>
          <p:cNvPr id="7" name="Text 5"/>
          <p:cNvSpPr/>
          <p:nvPr/>
        </p:nvSpPr>
        <p:spPr>
          <a:xfrm>
            <a:off x="4556613" y="6818534"/>
            <a:ext cx="701053" cy="306665"/>
          </a:xfrm>
          <a:prstGeom prst="rect">
            <a:avLst/>
          </a:prstGeom>
          <a:noFill/>
          <a:ln/>
        </p:spPr>
        <p:txBody>
          <a:bodyPr wrap="square" lIns="25400" tIns="25400" rIns="25400" bIns="25400" rtlCol="0" anchor="t">
            <a:normAutofit/>
          </a:bodyPr>
          <a:lstStyle/>
          <a:p>
            <a:pPr marL="0" indent="0" algn="l">
              <a:buNone/>
            </a:pPr>
            <a:r>
              <a:rPr lang="en-US" sz="1800" b="1" dirty="0">
                <a:solidFill>
                  <a:srgbClr val="B3402F"/>
                </a:solidFill>
                <a:latin typeface="Fira Sans" pitchFamily="34" charset="0"/>
                <a:ea typeface="Fira Sans" pitchFamily="34" charset="-122"/>
                <a:cs typeface="Fira Sans" pitchFamily="34" charset="-120"/>
              </a:rPr>
              <a:t>64.3%</a:t>
            </a:r>
            <a:endParaRPr lang="en-US" sz="1800" dirty="0"/>
          </a:p>
        </p:txBody>
      </p:sp>
      <p:sp>
        <p:nvSpPr>
          <p:cNvPr id="8" name="Shape 6"/>
          <p:cNvSpPr/>
          <p:nvPr/>
        </p:nvSpPr>
        <p:spPr>
          <a:xfrm>
            <a:off x="990533" y="7163233"/>
            <a:ext cx="4190933" cy="247583"/>
          </a:xfrm>
          <a:prstGeom prst="roundRect">
            <a:avLst>
              <a:gd name="adj" fmla="val 23083"/>
            </a:avLst>
          </a:prstGeom>
          <a:solidFill>
            <a:srgbClr val="E7DECD"/>
          </a:solidFill>
          <a:ln/>
        </p:spPr>
        <p:txBody>
          <a:bodyPr/>
          <a:lstStyle/>
          <a:p>
            <a:endParaRPr lang="he-IL"/>
          </a:p>
        </p:txBody>
      </p:sp>
      <p:sp>
        <p:nvSpPr>
          <p:cNvPr id="9" name="Shape 7"/>
          <p:cNvSpPr/>
          <p:nvPr/>
        </p:nvSpPr>
        <p:spPr>
          <a:xfrm>
            <a:off x="990533" y="7163233"/>
            <a:ext cx="3855627" cy="247583"/>
          </a:xfrm>
          <a:prstGeom prst="roundRect">
            <a:avLst>
              <a:gd name="adj" fmla="val 23083"/>
            </a:avLst>
          </a:prstGeom>
          <a:solidFill>
            <a:srgbClr val="B3402F"/>
          </a:solidFill>
          <a:ln/>
        </p:spPr>
        <p:txBody>
          <a:bodyPr/>
          <a:lstStyle/>
          <a:p>
            <a:endParaRPr lang="he-IL"/>
          </a:p>
        </p:txBody>
      </p:sp>
      <p:sp>
        <p:nvSpPr>
          <p:cNvPr id="10" name="Text 8"/>
          <p:cNvSpPr/>
          <p:nvPr/>
        </p:nvSpPr>
        <p:spPr>
          <a:xfrm>
            <a:off x="990533" y="7563183"/>
            <a:ext cx="2256106" cy="306665"/>
          </a:xfrm>
          <a:prstGeom prst="rect">
            <a:avLst/>
          </a:prstGeom>
          <a:noFill/>
          <a:ln/>
        </p:spPr>
        <p:txBody>
          <a:bodyPr wrap="square" lIns="25400" tIns="25400" rIns="25400" bIns="25400" rtlCol="0" anchor="t">
            <a:normAutofit/>
          </a:bodyPr>
          <a:lstStyle/>
          <a:p>
            <a:pPr marL="0" indent="0" algn="l">
              <a:buNone/>
            </a:pPr>
            <a:r>
              <a:rPr lang="en-US" sz="1800" dirty="0">
                <a:solidFill>
                  <a:srgbClr val="897F6E"/>
                </a:solidFill>
                <a:latin typeface="Fira Sans" pitchFamily="34" charset="0"/>
                <a:ea typeface="Fira Sans" pitchFamily="34" charset="-122"/>
                <a:cs typeface="Fira Sans" pitchFamily="34" charset="-120"/>
              </a:rPr>
              <a:t>Q-Learning variants</a:t>
            </a:r>
            <a:endParaRPr lang="en-US" sz="1800" dirty="0"/>
          </a:p>
        </p:txBody>
      </p:sp>
      <p:sp>
        <p:nvSpPr>
          <p:cNvPr id="11" name="Text 9"/>
          <p:cNvSpPr/>
          <p:nvPr/>
        </p:nvSpPr>
        <p:spPr>
          <a:xfrm>
            <a:off x="4335407" y="7563183"/>
            <a:ext cx="922260" cy="306665"/>
          </a:xfrm>
          <a:prstGeom prst="rect">
            <a:avLst/>
          </a:prstGeom>
          <a:noFill/>
          <a:ln/>
        </p:spPr>
        <p:txBody>
          <a:bodyPr wrap="square" lIns="25400" tIns="25400" rIns="25400" bIns="25400" rtlCol="0" anchor="t">
            <a:normAutofit/>
          </a:bodyPr>
          <a:lstStyle/>
          <a:p>
            <a:pPr marL="0" indent="0" algn="l">
              <a:buNone/>
            </a:pPr>
            <a:r>
              <a:rPr lang="en-US" sz="1800" dirty="0">
                <a:solidFill>
                  <a:srgbClr val="A99E89"/>
                </a:solidFill>
                <a:latin typeface="Fira Sans" pitchFamily="34" charset="0"/>
                <a:ea typeface="Fira Sans" pitchFamily="34" charset="-122"/>
                <a:cs typeface="Fira Sans" pitchFamily="34" charset="-120"/>
              </a:rPr>
              <a:t>↓ lower</a:t>
            </a:r>
            <a:endParaRPr lang="en-US" sz="1800" dirty="0"/>
          </a:p>
        </p:txBody>
      </p:sp>
      <p:sp>
        <p:nvSpPr>
          <p:cNvPr id="12" name="Shape 10"/>
          <p:cNvSpPr/>
          <p:nvPr/>
        </p:nvSpPr>
        <p:spPr>
          <a:xfrm>
            <a:off x="990533" y="7907881"/>
            <a:ext cx="4190933" cy="247583"/>
          </a:xfrm>
          <a:prstGeom prst="roundRect">
            <a:avLst>
              <a:gd name="adj" fmla="val 23083"/>
            </a:avLst>
          </a:prstGeom>
          <a:solidFill>
            <a:srgbClr val="E7DECD"/>
          </a:solidFill>
          <a:ln/>
        </p:spPr>
        <p:txBody>
          <a:bodyPr/>
          <a:lstStyle/>
          <a:p>
            <a:endParaRPr lang="he-IL"/>
          </a:p>
        </p:txBody>
      </p:sp>
      <p:sp>
        <p:nvSpPr>
          <p:cNvPr id="13" name="Shape 11"/>
          <p:cNvSpPr/>
          <p:nvPr/>
        </p:nvSpPr>
        <p:spPr>
          <a:xfrm>
            <a:off x="990533" y="7907881"/>
            <a:ext cx="2304983" cy="247583"/>
          </a:xfrm>
          <a:prstGeom prst="roundRect">
            <a:avLst>
              <a:gd name="adj" fmla="val 23083"/>
            </a:avLst>
          </a:prstGeom>
          <a:solidFill>
            <a:srgbClr val="C3B9A6"/>
          </a:solidFill>
          <a:ln/>
        </p:spPr>
        <p:txBody>
          <a:bodyPr/>
          <a:lstStyle/>
          <a:p>
            <a:endParaRPr lang="he-IL"/>
          </a:p>
        </p:txBody>
      </p:sp>
      <p:sp>
        <p:nvSpPr>
          <p:cNvPr id="14" name="Text 12"/>
          <p:cNvSpPr/>
          <p:nvPr/>
        </p:nvSpPr>
        <p:spPr>
          <a:xfrm>
            <a:off x="9015612" y="4974548"/>
            <a:ext cx="9110040" cy="351426"/>
          </a:xfrm>
          <a:prstGeom prst="rect">
            <a:avLst/>
          </a:prstGeom>
          <a:noFill/>
          <a:ln/>
        </p:spPr>
        <p:txBody>
          <a:bodyPr wrap="square" lIns="25400" tIns="25400" rIns="25400" bIns="25400" rtlCol="0" anchor="t">
            <a:normAutofit/>
          </a:bodyPr>
          <a:lstStyle/>
          <a:p>
            <a:pPr marL="0" indent="0" algn="l">
              <a:buNone/>
            </a:pPr>
            <a:r>
              <a:rPr lang="en-US" sz="2025" b="1" dirty="0">
                <a:solidFill>
                  <a:srgbClr val="2A2520"/>
                </a:solidFill>
                <a:latin typeface="Fira Sans" pitchFamily="34" charset="0"/>
                <a:ea typeface="Fira Sans" pitchFamily="34" charset="-122"/>
                <a:cs typeface="Fira Sans" pitchFamily="34" charset="-120"/>
              </a:rPr>
              <a:t>Four mechanisms, working together</a:t>
            </a:r>
            <a:endParaRPr lang="en-US" sz="2025" dirty="0"/>
          </a:p>
        </p:txBody>
      </p:sp>
      <p:sp>
        <p:nvSpPr>
          <p:cNvPr id="15" name="Shape 13"/>
          <p:cNvSpPr/>
          <p:nvPr/>
        </p:nvSpPr>
        <p:spPr>
          <a:xfrm>
            <a:off x="9015612" y="5459324"/>
            <a:ext cx="4074235" cy="643437"/>
          </a:xfrm>
          <a:prstGeom prst="roundRect">
            <a:avLst>
              <a:gd name="adj" fmla="val 17764"/>
            </a:avLst>
          </a:prstGeom>
          <a:solidFill>
            <a:srgbClr val="FBF8F2"/>
          </a:solidFill>
          <a:ln w="6394">
            <a:solidFill>
              <a:srgbClr val="E4DBC9"/>
            </a:solidFill>
            <a:prstDash val="solid"/>
          </a:ln>
        </p:spPr>
        <p:txBody>
          <a:bodyPr/>
          <a:lstStyle/>
          <a:p>
            <a:endParaRPr lang="he-IL"/>
          </a:p>
        </p:txBody>
      </p:sp>
      <p:sp>
        <p:nvSpPr>
          <p:cNvPr id="16" name="Text 14"/>
          <p:cNvSpPr/>
          <p:nvPr/>
        </p:nvSpPr>
        <p:spPr>
          <a:xfrm>
            <a:off x="9231557" y="5637168"/>
            <a:ext cx="3764574" cy="325848"/>
          </a:xfrm>
          <a:prstGeom prst="rect">
            <a:avLst/>
          </a:prstGeom>
          <a:noFill/>
          <a:ln/>
        </p:spPr>
        <p:txBody>
          <a:bodyPr wrap="square" lIns="25400" tIns="25400" rIns="25400" bIns="25400" rtlCol="0" anchor="t">
            <a:normAutofit/>
          </a:bodyPr>
          <a:lstStyle/>
          <a:p>
            <a:pPr marL="0" indent="0" algn="l">
              <a:buNone/>
            </a:pPr>
            <a:r>
              <a:rPr lang="en-US" sz="1875" dirty="0">
                <a:solidFill>
                  <a:srgbClr val="3F3A32"/>
                </a:solidFill>
                <a:latin typeface="Fira Sans" pitchFamily="34" charset="0"/>
                <a:ea typeface="Fira Sans" pitchFamily="34" charset="-122"/>
                <a:cs typeface="Fira Sans" pitchFamily="34" charset="-120"/>
              </a:rPr>
              <a:t>Cumulative average</a:t>
            </a:r>
            <a:endParaRPr lang="en-US" sz="1875" dirty="0"/>
          </a:p>
        </p:txBody>
      </p:sp>
      <p:sp>
        <p:nvSpPr>
          <p:cNvPr id="17" name="Shape 15"/>
          <p:cNvSpPr/>
          <p:nvPr/>
        </p:nvSpPr>
        <p:spPr>
          <a:xfrm>
            <a:off x="13223131" y="5459324"/>
            <a:ext cx="4074335" cy="643437"/>
          </a:xfrm>
          <a:prstGeom prst="roundRect">
            <a:avLst>
              <a:gd name="adj" fmla="val 17764"/>
            </a:avLst>
          </a:prstGeom>
          <a:solidFill>
            <a:srgbClr val="FBF8F2"/>
          </a:solidFill>
          <a:ln w="6394">
            <a:solidFill>
              <a:srgbClr val="E4DBC9"/>
            </a:solidFill>
            <a:prstDash val="solid"/>
          </a:ln>
        </p:spPr>
        <p:txBody>
          <a:bodyPr/>
          <a:lstStyle/>
          <a:p>
            <a:endParaRPr lang="he-IL"/>
          </a:p>
        </p:txBody>
      </p:sp>
      <p:sp>
        <p:nvSpPr>
          <p:cNvPr id="18" name="Text 16"/>
          <p:cNvSpPr/>
          <p:nvPr/>
        </p:nvSpPr>
        <p:spPr>
          <a:xfrm>
            <a:off x="13439076" y="5637168"/>
            <a:ext cx="3764677" cy="325848"/>
          </a:xfrm>
          <a:prstGeom prst="rect">
            <a:avLst/>
          </a:prstGeom>
          <a:noFill/>
          <a:ln/>
        </p:spPr>
        <p:txBody>
          <a:bodyPr wrap="square" lIns="25400" tIns="25400" rIns="25400" bIns="25400" rtlCol="0" anchor="t">
            <a:normAutofit/>
          </a:bodyPr>
          <a:lstStyle/>
          <a:p>
            <a:pPr marL="0" indent="0" algn="l">
              <a:buNone/>
            </a:pPr>
            <a:r>
              <a:rPr lang="en-US" sz="1875" dirty="0">
                <a:solidFill>
                  <a:srgbClr val="3F3A32"/>
                </a:solidFill>
                <a:latin typeface="Fira Sans" pitchFamily="34" charset="0"/>
                <a:ea typeface="Fira Sans" pitchFamily="34" charset="-122"/>
                <a:cs typeface="Fira Sans" pitchFamily="34" charset="-120"/>
              </a:rPr>
              <a:t>Trend</a:t>
            </a:r>
            <a:endParaRPr lang="en-US" sz="1875" dirty="0"/>
          </a:p>
        </p:txBody>
      </p:sp>
      <p:sp>
        <p:nvSpPr>
          <p:cNvPr id="19" name="Shape 17"/>
          <p:cNvSpPr/>
          <p:nvPr/>
        </p:nvSpPr>
        <p:spPr>
          <a:xfrm>
            <a:off x="9015612" y="6236044"/>
            <a:ext cx="4074235" cy="643437"/>
          </a:xfrm>
          <a:prstGeom prst="roundRect">
            <a:avLst>
              <a:gd name="adj" fmla="val 17764"/>
            </a:avLst>
          </a:prstGeom>
          <a:solidFill>
            <a:srgbClr val="FBF8F2"/>
          </a:solidFill>
          <a:ln w="6394">
            <a:solidFill>
              <a:srgbClr val="E4DBC9"/>
            </a:solidFill>
            <a:prstDash val="solid"/>
          </a:ln>
        </p:spPr>
        <p:txBody>
          <a:bodyPr/>
          <a:lstStyle/>
          <a:p>
            <a:endParaRPr lang="he-IL"/>
          </a:p>
        </p:txBody>
      </p:sp>
      <p:sp>
        <p:nvSpPr>
          <p:cNvPr id="20" name="Text 18"/>
          <p:cNvSpPr/>
          <p:nvPr/>
        </p:nvSpPr>
        <p:spPr>
          <a:xfrm>
            <a:off x="9231557" y="6413889"/>
            <a:ext cx="3764574" cy="325848"/>
          </a:xfrm>
          <a:prstGeom prst="rect">
            <a:avLst/>
          </a:prstGeom>
          <a:noFill/>
          <a:ln/>
        </p:spPr>
        <p:txBody>
          <a:bodyPr wrap="square" lIns="25400" tIns="25400" rIns="25400" bIns="25400" rtlCol="0" anchor="t">
            <a:normAutofit/>
          </a:bodyPr>
          <a:lstStyle/>
          <a:p>
            <a:pPr marL="0" indent="0" algn="l">
              <a:buNone/>
            </a:pPr>
            <a:r>
              <a:rPr lang="en-US" sz="1875" dirty="0">
                <a:solidFill>
                  <a:srgbClr val="3F3A32"/>
                </a:solidFill>
                <a:latin typeface="Fira Sans" pitchFamily="34" charset="0"/>
                <a:ea typeface="Fira Sans" pitchFamily="34" charset="-122"/>
                <a:cs typeface="Fira Sans" pitchFamily="34" charset="-120"/>
              </a:rPr>
              <a:t>Inertia</a:t>
            </a:r>
            <a:endParaRPr lang="en-US" sz="1875" dirty="0"/>
          </a:p>
        </p:txBody>
      </p:sp>
      <p:sp>
        <p:nvSpPr>
          <p:cNvPr id="21" name="Shape 19"/>
          <p:cNvSpPr/>
          <p:nvPr/>
        </p:nvSpPr>
        <p:spPr>
          <a:xfrm>
            <a:off x="13223131" y="6236044"/>
            <a:ext cx="4074335" cy="643437"/>
          </a:xfrm>
          <a:prstGeom prst="roundRect">
            <a:avLst>
              <a:gd name="adj" fmla="val 17764"/>
            </a:avLst>
          </a:prstGeom>
          <a:solidFill>
            <a:srgbClr val="FBF8F2"/>
          </a:solidFill>
          <a:ln w="6394">
            <a:solidFill>
              <a:srgbClr val="E4DBC9"/>
            </a:solidFill>
            <a:prstDash val="solid"/>
          </a:ln>
        </p:spPr>
        <p:txBody>
          <a:bodyPr/>
          <a:lstStyle/>
          <a:p>
            <a:endParaRPr lang="he-IL"/>
          </a:p>
        </p:txBody>
      </p:sp>
      <p:sp>
        <p:nvSpPr>
          <p:cNvPr id="22" name="Text 20"/>
          <p:cNvSpPr/>
          <p:nvPr/>
        </p:nvSpPr>
        <p:spPr>
          <a:xfrm>
            <a:off x="13439076" y="6413889"/>
            <a:ext cx="3764677" cy="325848"/>
          </a:xfrm>
          <a:prstGeom prst="rect">
            <a:avLst/>
          </a:prstGeom>
          <a:noFill/>
          <a:ln/>
        </p:spPr>
        <p:txBody>
          <a:bodyPr wrap="square" lIns="25400" tIns="25400" rIns="25400" bIns="25400" rtlCol="0" anchor="t">
            <a:normAutofit/>
          </a:bodyPr>
          <a:lstStyle/>
          <a:p>
            <a:pPr marL="0" indent="0" algn="l">
              <a:buNone/>
            </a:pPr>
            <a:r>
              <a:rPr lang="en-US" sz="1875" dirty="0">
                <a:solidFill>
                  <a:srgbClr val="3F3A32"/>
                </a:solidFill>
                <a:latin typeface="Fira Sans" pitchFamily="34" charset="0"/>
                <a:ea typeface="Fira Sans" pitchFamily="34" charset="-122"/>
                <a:cs typeface="Fira Sans" pitchFamily="34" charset="-120"/>
              </a:rPr>
              <a:t>Exploration</a:t>
            </a:r>
            <a:endParaRPr lang="en-US" sz="1875" dirty="0"/>
          </a:p>
        </p:txBody>
      </p:sp>
      <p:sp>
        <p:nvSpPr>
          <p:cNvPr id="23" name="Shape 21"/>
          <p:cNvSpPr/>
          <p:nvPr/>
        </p:nvSpPr>
        <p:spPr>
          <a:xfrm>
            <a:off x="9015612" y="7165231"/>
            <a:ext cx="25578" cy="400550"/>
          </a:xfrm>
          <a:prstGeom prst="rect">
            <a:avLst/>
          </a:prstGeom>
          <a:solidFill>
            <a:srgbClr val="2F6B7A"/>
          </a:solidFill>
          <a:ln/>
        </p:spPr>
        <p:txBody>
          <a:bodyPr/>
          <a:lstStyle/>
          <a:p>
            <a:endParaRPr lang="he-IL"/>
          </a:p>
        </p:txBody>
      </p:sp>
      <p:sp>
        <p:nvSpPr>
          <p:cNvPr id="24" name="Text 22"/>
          <p:cNvSpPr/>
          <p:nvPr/>
        </p:nvSpPr>
        <p:spPr>
          <a:xfrm>
            <a:off x="9250740" y="7165231"/>
            <a:ext cx="8874912" cy="438650"/>
          </a:xfrm>
          <a:prstGeom prst="rect">
            <a:avLst/>
          </a:prstGeom>
          <a:noFill/>
          <a:ln/>
        </p:spPr>
        <p:txBody>
          <a:bodyPr wrap="square" lIns="25400" tIns="25400" rIns="25400" bIns="25400" rtlCol="0" anchor="t">
            <a:normAutofit/>
          </a:bodyPr>
          <a:lstStyle/>
          <a:p>
            <a:pPr marL="0" indent="0" algn="l">
              <a:lnSpc>
                <a:spcPct val="145000"/>
              </a:lnSpc>
              <a:buNone/>
            </a:pPr>
            <a:r>
              <a:rPr lang="en-US" sz="2175" dirty="0">
                <a:solidFill>
                  <a:srgbClr val="2A2520"/>
                </a:solidFill>
                <a:latin typeface="Fira Sans" pitchFamily="34" charset="0"/>
                <a:ea typeface="Fira Sans" pitchFamily="34" charset="-122"/>
                <a:cs typeface="Fira Sans" pitchFamily="34" charset="-120"/>
              </a:rPr>
              <a:t>CATIE doesn’t emit a </a:t>
            </a:r>
            <a:r>
              <a:rPr lang="en-US" sz="2175" i="1" dirty="0">
                <a:solidFill>
                  <a:srgbClr val="2A2520"/>
                </a:solidFill>
                <a:latin typeface="Fira Sans" pitchFamily="34" charset="0"/>
                <a:ea typeface="Fira Sans" pitchFamily="34" charset="-122"/>
                <a:cs typeface="Fira Sans" pitchFamily="34" charset="-120"/>
              </a:rPr>
              <a:t>choice </a:t>
            </a:r>
            <a:r>
              <a:rPr lang="en-US" sz="2175" dirty="0">
                <a:solidFill>
                  <a:srgbClr val="2A2520"/>
                </a:solidFill>
                <a:latin typeface="Fira Sans" pitchFamily="34" charset="0"/>
                <a:ea typeface="Fira Sans" pitchFamily="34" charset="-122"/>
                <a:cs typeface="Fira Sans" pitchFamily="34" charset="-120"/>
              </a:rPr>
              <a:t>it emits a </a:t>
            </a:r>
            <a:r>
              <a:rPr lang="en-US" sz="2175" b="1" dirty="0">
                <a:solidFill>
                  <a:srgbClr val="2A2520"/>
                </a:solidFill>
                <a:latin typeface="Fira Sans" pitchFamily="34" charset="0"/>
                <a:ea typeface="Fira Sans" pitchFamily="34" charset="-122"/>
                <a:cs typeface="Fira Sans" pitchFamily="34" charset="-120"/>
              </a:rPr>
              <a:t>probability p</a:t>
            </a:r>
            <a:endParaRPr lang="en-US" sz="21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17937626"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THE MODEL</a:t>
            </a:r>
            <a:endParaRPr lang="en-US" sz="1875" dirty="0"/>
          </a:p>
        </p:txBody>
      </p:sp>
      <p:sp>
        <p:nvSpPr>
          <p:cNvPr id="3" name="Text 1"/>
          <p:cNvSpPr/>
          <p:nvPr/>
        </p:nvSpPr>
        <p:spPr>
          <a:xfrm>
            <a:off x="990533" y="1335432"/>
            <a:ext cx="17937626"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The four mechanisms of CATIE</a:t>
            </a:r>
            <a:endParaRPr lang="en-US" sz="3900" dirty="0"/>
          </a:p>
        </p:txBody>
      </p:sp>
      <p:sp>
        <p:nvSpPr>
          <p:cNvPr id="4" name="Shape 2"/>
          <p:cNvSpPr/>
          <p:nvPr/>
        </p:nvSpPr>
        <p:spPr>
          <a:xfrm>
            <a:off x="990533" y="2261122"/>
            <a:ext cx="2590034" cy="529137"/>
          </a:xfrm>
          <a:prstGeom prst="roundRect">
            <a:avLst>
              <a:gd name="adj" fmla="val 50000"/>
            </a:avLst>
          </a:prstGeom>
          <a:solidFill>
            <a:srgbClr val="B3402F"/>
          </a:solidFill>
          <a:ln w="6394">
            <a:solidFill>
              <a:srgbClr val="B3402F"/>
            </a:solidFill>
            <a:prstDash val="solid"/>
          </a:ln>
        </p:spPr>
        <p:txBody>
          <a:bodyPr/>
          <a:lstStyle/>
          <a:p>
            <a:endParaRPr lang="he-IL"/>
          </a:p>
        </p:txBody>
      </p:sp>
      <p:sp>
        <p:nvSpPr>
          <p:cNvPr id="5" name="Text 3"/>
          <p:cNvSpPr/>
          <p:nvPr/>
        </p:nvSpPr>
        <p:spPr>
          <a:xfrm>
            <a:off x="1225528" y="2381816"/>
            <a:ext cx="2197746"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FFFFFF"/>
                </a:solidFill>
                <a:latin typeface="Fira Sans" pitchFamily="34" charset="0"/>
                <a:ea typeface="Fira Sans" pitchFamily="34" charset="-122"/>
                <a:cs typeface="Fira Sans" pitchFamily="34" charset="-120"/>
              </a:rPr>
              <a:t>Cumulative average</a:t>
            </a:r>
            <a:endParaRPr lang="en-US" sz="1875" dirty="0"/>
          </a:p>
        </p:txBody>
      </p:sp>
      <p:sp>
        <p:nvSpPr>
          <p:cNvPr id="6" name="Shape 4"/>
          <p:cNvSpPr/>
          <p:nvPr/>
        </p:nvSpPr>
        <p:spPr>
          <a:xfrm>
            <a:off x="3713851" y="2261122"/>
            <a:ext cx="1089047"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7" name="Text 5"/>
          <p:cNvSpPr/>
          <p:nvPr/>
        </p:nvSpPr>
        <p:spPr>
          <a:xfrm>
            <a:off x="3948845" y="2381816"/>
            <a:ext cx="695258"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Trend</a:t>
            </a:r>
            <a:endParaRPr lang="en-US" sz="1875" dirty="0"/>
          </a:p>
        </p:txBody>
      </p:sp>
      <p:sp>
        <p:nvSpPr>
          <p:cNvPr id="8" name="Shape 6"/>
          <p:cNvSpPr/>
          <p:nvPr/>
        </p:nvSpPr>
        <p:spPr>
          <a:xfrm>
            <a:off x="4936181" y="2261122"/>
            <a:ext cx="1191358"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9" name="Text 7"/>
          <p:cNvSpPr/>
          <p:nvPr/>
        </p:nvSpPr>
        <p:spPr>
          <a:xfrm>
            <a:off x="5171176" y="2381816"/>
            <a:ext cx="797569"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Inertia</a:t>
            </a:r>
            <a:endParaRPr lang="en-US" sz="1875" dirty="0"/>
          </a:p>
        </p:txBody>
      </p:sp>
      <p:sp>
        <p:nvSpPr>
          <p:cNvPr id="10" name="Shape 8"/>
          <p:cNvSpPr/>
          <p:nvPr/>
        </p:nvSpPr>
        <p:spPr>
          <a:xfrm>
            <a:off x="6260822" y="2261122"/>
            <a:ext cx="1716998"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11" name="Text 9"/>
          <p:cNvSpPr/>
          <p:nvPr/>
        </p:nvSpPr>
        <p:spPr>
          <a:xfrm>
            <a:off x="6495817" y="2381816"/>
            <a:ext cx="1323209"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Exploration</a:t>
            </a:r>
            <a:endParaRPr lang="en-US" sz="1875" dirty="0"/>
          </a:p>
        </p:txBody>
      </p:sp>
      <p:sp>
        <p:nvSpPr>
          <p:cNvPr id="12" name="Shape 10"/>
          <p:cNvSpPr/>
          <p:nvPr/>
        </p:nvSpPr>
        <p:spPr>
          <a:xfrm>
            <a:off x="990533" y="5062171"/>
            <a:ext cx="2857500" cy="2857500"/>
          </a:xfrm>
          <a:prstGeom prst="roundRect">
            <a:avLst>
              <a:gd name="adj" fmla="val 9333"/>
            </a:avLst>
          </a:prstGeom>
          <a:solidFill>
            <a:srgbClr val="E6EEF0"/>
          </a:solidFill>
          <a:ln w="6394">
            <a:solidFill>
              <a:srgbClr val="CFE0E3"/>
            </a:solidFill>
            <a:prstDash val="solid"/>
          </a:ln>
          <a:effectLst>
            <a:outerShdw blurRad="266700" dist="57150" dir="5400000" algn="bl" rotWithShape="0">
              <a:srgbClr val="463723">
                <a:alpha val="5000"/>
              </a:srgbClr>
            </a:outerShdw>
          </a:effectLst>
        </p:spPr>
        <p:txBody>
          <a:bodyPr/>
          <a:lstStyle/>
          <a:p>
            <a:endParaRPr lang="he-IL"/>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09692" y="5776546"/>
            <a:ext cx="1619183" cy="1428750"/>
          </a:xfrm>
          <a:prstGeom prst="rect">
            <a:avLst/>
          </a:prstGeom>
        </p:spPr>
      </p:pic>
      <p:sp>
        <p:nvSpPr>
          <p:cNvPr id="14" name="Text 11"/>
          <p:cNvSpPr/>
          <p:nvPr/>
        </p:nvSpPr>
        <p:spPr>
          <a:xfrm>
            <a:off x="4533833" y="5096841"/>
            <a:ext cx="14039996" cy="325848"/>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BFA06E"/>
                </a:solidFill>
                <a:latin typeface="Fira Sans" pitchFamily="34" charset="0"/>
                <a:ea typeface="Fira Sans" pitchFamily="34" charset="-122"/>
                <a:cs typeface="Fira Sans" pitchFamily="34" charset="-120"/>
              </a:rPr>
              <a:t>MECHANISM 01 / 04</a:t>
            </a:r>
            <a:endParaRPr lang="en-US" sz="1875" dirty="0"/>
          </a:p>
        </p:txBody>
      </p:sp>
      <p:sp>
        <p:nvSpPr>
          <p:cNvPr id="15" name="Text 12"/>
          <p:cNvSpPr/>
          <p:nvPr/>
        </p:nvSpPr>
        <p:spPr>
          <a:xfrm>
            <a:off x="4533833" y="5536956"/>
            <a:ext cx="14039996" cy="767062"/>
          </a:xfrm>
          <a:prstGeom prst="rect">
            <a:avLst/>
          </a:prstGeom>
          <a:noFill/>
          <a:ln/>
        </p:spPr>
        <p:txBody>
          <a:bodyPr wrap="square" lIns="25400" tIns="25400" rIns="25400" bIns="25400" rtlCol="0" anchor="t">
            <a:normAutofit/>
          </a:bodyPr>
          <a:lstStyle/>
          <a:p>
            <a:pPr marL="0" indent="0" algn="l">
              <a:buNone/>
            </a:pPr>
            <a:r>
              <a:rPr lang="en-US" sz="4800" b="1" kern="0" spc="-96" dirty="0">
                <a:solidFill>
                  <a:srgbClr val="2A2520"/>
                </a:solidFill>
                <a:latin typeface="Fira Sans" pitchFamily="34" charset="0"/>
                <a:ea typeface="Fira Sans" pitchFamily="34" charset="-122"/>
                <a:cs typeface="Fira Sans" pitchFamily="34" charset="-120"/>
              </a:rPr>
              <a:t>Cumulative average</a:t>
            </a:r>
            <a:endParaRPr lang="en-US" sz="4800" dirty="0"/>
          </a:p>
        </p:txBody>
      </p:sp>
      <p:sp>
        <p:nvSpPr>
          <p:cNvPr id="16" name="Shape 13"/>
          <p:cNvSpPr/>
          <p:nvPr/>
        </p:nvSpPr>
        <p:spPr>
          <a:xfrm>
            <a:off x="4533833" y="6513501"/>
            <a:ext cx="25578" cy="1371600"/>
          </a:xfrm>
          <a:prstGeom prst="rect">
            <a:avLst/>
          </a:prstGeom>
          <a:solidFill>
            <a:srgbClr val="2F6B7A"/>
          </a:solidFill>
          <a:ln/>
        </p:spPr>
        <p:txBody>
          <a:bodyPr/>
          <a:lstStyle/>
          <a:p>
            <a:endParaRPr lang="he-IL"/>
          </a:p>
        </p:txBody>
      </p:sp>
      <p:sp>
        <p:nvSpPr>
          <p:cNvPr id="17" name="Text 14"/>
          <p:cNvSpPr/>
          <p:nvPr/>
        </p:nvSpPr>
        <p:spPr>
          <a:xfrm>
            <a:off x="4788011" y="6513501"/>
            <a:ext cx="6024668" cy="1409700"/>
          </a:xfrm>
          <a:prstGeom prst="rect">
            <a:avLst/>
          </a:prstGeom>
          <a:noFill/>
          <a:ln/>
        </p:spPr>
        <p:txBody>
          <a:bodyPr wrap="square" lIns="25400" tIns="25400" rIns="25400" bIns="25400" rtlCol="0" anchor="t">
            <a:normAutofit/>
          </a:bodyPr>
          <a:lstStyle/>
          <a:p>
            <a:pPr marL="0" indent="0" algn="l">
              <a:lnSpc>
                <a:spcPct val="150000"/>
              </a:lnSpc>
              <a:buNone/>
            </a:pPr>
            <a:r>
              <a:rPr lang="en-US" sz="2400" dirty="0">
                <a:solidFill>
                  <a:srgbClr val="5A5347"/>
                </a:solidFill>
                <a:latin typeface="Fira Sans" pitchFamily="34" charset="0"/>
                <a:ea typeface="Fira Sans" pitchFamily="34" charset="-122"/>
                <a:cs typeface="Fira Sans" pitchFamily="34" charset="-120"/>
              </a:rPr>
              <a:t>Tracks each option’s mean reward across every past trial - the long-run estimate of which side pays better.</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17937626"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THE MODEL</a:t>
            </a:r>
            <a:endParaRPr lang="en-US" sz="1875" dirty="0"/>
          </a:p>
        </p:txBody>
      </p:sp>
      <p:sp>
        <p:nvSpPr>
          <p:cNvPr id="3" name="Text 1"/>
          <p:cNvSpPr/>
          <p:nvPr/>
        </p:nvSpPr>
        <p:spPr>
          <a:xfrm>
            <a:off x="990533" y="1335432"/>
            <a:ext cx="17937626"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The four mechanisms of CATIE</a:t>
            </a:r>
            <a:endParaRPr lang="en-US" sz="3900" dirty="0"/>
          </a:p>
        </p:txBody>
      </p:sp>
      <p:sp>
        <p:nvSpPr>
          <p:cNvPr id="4" name="Shape 2"/>
          <p:cNvSpPr/>
          <p:nvPr/>
        </p:nvSpPr>
        <p:spPr>
          <a:xfrm>
            <a:off x="990533" y="2261122"/>
            <a:ext cx="2590034"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5" name="Text 3"/>
          <p:cNvSpPr/>
          <p:nvPr/>
        </p:nvSpPr>
        <p:spPr>
          <a:xfrm>
            <a:off x="1225528" y="2381816"/>
            <a:ext cx="2197746"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Cumulative average</a:t>
            </a:r>
            <a:endParaRPr lang="en-US" sz="1875" dirty="0"/>
          </a:p>
        </p:txBody>
      </p:sp>
      <p:sp>
        <p:nvSpPr>
          <p:cNvPr id="6" name="Shape 4"/>
          <p:cNvSpPr/>
          <p:nvPr/>
        </p:nvSpPr>
        <p:spPr>
          <a:xfrm>
            <a:off x="3713851" y="2261122"/>
            <a:ext cx="1089047" cy="529137"/>
          </a:xfrm>
          <a:prstGeom prst="roundRect">
            <a:avLst>
              <a:gd name="adj" fmla="val 50000"/>
            </a:avLst>
          </a:prstGeom>
          <a:solidFill>
            <a:srgbClr val="B3402F"/>
          </a:solidFill>
          <a:ln w="6394">
            <a:solidFill>
              <a:srgbClr val="B3402F"/>
            </a:solidFill>
            <a:prstDash val="solid"/>
          </a:ln>
        </p:spPr>
        <p:txBody>
          <a:bodyPr/>
          <a:lstStyle/>
          <a:p>
            <a:endParaRPr lang="he-IL"/>
          </a:p>
        </p:txBody>
      </p:sp>
      <p:sp>
        <p:nvSpPr>
          <p:cNvPr id="7" name="Text 5"/>
          <p:cNvSpPr/>
          <p:nvPr/>
        </p:nvSpPr>
        <p:spPr>
          <a:xfrm>
            <a:off x="3948845" y="2381816"/>
            <a:ext cx="695258"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FFFFFF"/>
                </a:solidFill>
                <a:latin typeface="Fira Sans" pitchFamily="34" charset="0"/>
                <a:ea typeface="Fira Sans" pitchFamily="34" charset="-122"/>
                <a:cs typeface="Fira Sans" pitchFamily="34" charset="-120"/>
              </a:rPr>
              <a:t>Trend</a:t>
            </a:r>
            <a:endParaRPr lang="en-US" sz="1875" dirty="0"/>
          </a:p>
        </p:txBody>
      </p:sp>
      <p:sp>
        <p:nvSpPr>
          <p:cNvPr id="8" name="Shape 6"/>
          <p:cNvSpPr/>
          <p:nvPr/>
        </p:nvSpPr>
        <p:spPr>
          <a:xfrm>
            <a:off x="4936181" y="2261122"/>
            <a:ext cx="1191358"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9" name="Text 7"/>
          <p:cNvSpPr/>
          <p:nvPr/>
        </p:nvSpPr>
        <p:spPr>
          <a:xfrm>
            <a:off x="5171176" y="2381816"/>
            <a:ext cx="797569"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Inertia</a:t>
            </a:r>
            <a:endParaRPr lang="en-US" sz="1875" dirty="0"/>
          </a:p>
        </p:txBody>
      </p:sp>
      <p:sp>
        <p:nvSpPr>
          <p:cNvPr id="10" name="Shape 8"/>
          <p:cNvSpPr/>
          <p:nvPr/>
        </p:nvSpPr>
        <p:spPr>
          <a:xfrm>
            <a:off x="6260822" y="2261122"/>
            <a:ext cx="1716998"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11" name="Text 9"/>
          <p:cNvSpPr/>
          <p:nvPr/>
        </p:nvSpPr>
        <p:spPr>
          <a:xfrm>
            <a:off x="6495817" y="2381816"/>
            <a:ext cx="1323209"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Exploration</a:t>
            </a:r>
            <a:endParaRPr lang="en-US" sz="1875" dirty="0"/>
          </a:p>
        </p:txBody>
      </p:sp>
      <p:sp>
        <p:nvSpPr>
          <p:cNvPr id="12" name="Shape 10"/>
          <p:cNvSpPr/>
          <p:nvPr/>
        </p:nvSpPr>
        <p:spPr>
          <a:xfrm>
            <a:off x="990533" y="5062171"/>
            <a:ext cx="2857500" cy="2857500"/>
          </a:xfrm>
          <a:prstGeom prst="roundRect">
            <a:avLst>
              <a:gd name="adj" fmla="val 9333"/>
            </a:avLst>
          </a:prstGeom>
          <a:solidFill>
            <a:srgbClr val="E6EEF0"/>
          </a:solidFill>
          <a:ln w="6394">
            <a:solidFill>
              <a:srgbClr val="CFE0E3"/>
            </a:solidFill>
            <a:prstDash val="solid"/>
          </a:ln>
          <a:effectLst>
            <a:outerShdw blurRad="266700" dist="57150" dir="5400000" algn="bl" rotWithShape="0">
              <a:srgbClr val="463723">
                <a:alpha val="5000"/>
              </a:srgbClr>
            </a:outerShdw>
          </a:effectLst>
        </p:spPr>
        <p:txBody>
          <a:bodyPr/>
          <a:lstStyle/>
          <a:p>
            <a:endParaRPr lang="he-IL"/>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09692" y="5776546"/>
            <a:ext cx="1619183" cy="1428750"/>
          </a:xfrm>
          <a:prstGeom prst="rect">
            <a:avLst/>
          </a:prstGeom>
        </p:spPr>
      </p:pic>
      <p:sp>
        <p:nvSpPr>
          <p:cNvPr id="14" name="Text 11"/>
          <p:cNvSpPr/>
          <p:nvPr/>
        </p:nvSpPr>
        <p:spPr>
          <a:xfrm>
            <a:off x="4533833" y="5096841"/>
            <a:ext cx="14039996" cy="325848"/>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BFA06E"/>
                </a:solidFill>
                <a:latin typeface="Fira Sans" pitchFamily="34" charset="0"/>
                <a:ea typeface="Fira Sans" pitchFamily="34" charset="-122"/>
                <a:cs typeface="Fira Sans" pitchFamily="34" charset="-120"/>
              </a:rPr>
              <a:t>MECHANISM 02 / 04</a:t>
            </a:r>
            <a:endParaRPr lang="en-US" sz="1875" dirty="0"/>
          </a:p>
        </p:txBody>
      </p:sp>
      <p:sp>
        <p:nvSpPr>
          <p:cNvPr id="15" name="Text 12"/>
          <p:cNvSpPr/>
          <p:nvPr/>
        </p:nvSpPr>
        <p:spPr>
          <a:xfrm>
            <a:off x="4533833" y="5536956"/>
            <a:ext cx="14039996" cy="767062"/>
          </a:xfrm>
          <a:prstGeom prst="rect">
            <a:avLst/>
          </a:prstGeom>
          <a:noFill/>
          <a:ln/>
        </p:spPr>
        <p:txBody>
          <a:bodyPr wrap="square" lIns="25400" tIns="25400" rIns="25400" bIns="25400" rtlCol="0" anchor="t">
            <a:normAutofit/>
          </a:bodyPr>
          <a:lstStyle/>
          <a:p>
            <a:pPr marL="0" indent="0" algn="l">
              <a:buNone/>
            </a:pPr>
            <a:r>
              <a:rPr lang="en-US" sz="4800" b="1" kern="0" spc="-96" dirty="0">
                <a:solidFill>
                  <a:srgbClr val="2A2520"/>
                </a:solidFill>
                <a:latin typeface="Fira Sans" pitchFamily="34" charset="0"/>
                <a:ea typeface="Fira Sans" pitchFamily="34" charset="-122"/>
                <a:cs typeface="Fira Sans" pitchFamily="34" charset="-120"/>
              </a:rPr>
              <a:t>Trend</a:t>
            </a:r>
            <a:endParaRPr lang="en-US" sz="4800" dirty="0"/>
          </a:p>
        </p:txBody>
      </p:sp>
      <p:sp>
        <p:nvSpPr>
          <p:cNvPr id="16" name="Shape 13"/>
          <p:cNvSpPr/>
          <p:nvPr/>
        </p:nvSpPr>
        <p:spPr>
          <a:xfrm>
            <a:off x="4533833" y="6513501"/>
            <a:ext cx="25578" cy="1371600"/>
          </a:xfrm>
          <a:prstGeom prst="rect">
            <a:avLst/>
          </a:prstGeom>
          <a:solidFill>
            <a:srgbClr val="2F6B7A"/>
          </a:solidFill>
          <a:ln/>
        </p:spPr>
        <p:txBody>
          <a:bodyPr/>
          <a:lstStyle/>
          <a:p>
            <a:endParaRPr lang="he-IL"/>
          </a:p>
        </p:txBody>
      </p:sp>
      <p:sp>
        <p:nvSpPr>
          <p:cNvPr id="17" name="Text 14"/>
          <p:cNvSpPr/>
          <p:nvPr/>
        </p:nvSpPr>
        <p:spPr>
          <a:xfrm>
            <a:off x="4788011" y="6513501"/>
            <a:ext cx="6024668" cy="1409700"/>
          </a:xfrm>
          <a:prstGeom prst="rect">
            <a:avLst/>
          </a:prstGeom>
          <a:noFill/>
          <a:ln/>
        </p:spPr>
        <p:txBody>
          <a:bodyPr wrap="square" lIns="25400" tIns="25400" rIns="25400" bIns="25400" rtlCol="0" anchor="t">
            <a:normAutofit/>
          </a:bodyPr>
          <a:lstStyle/>
          <a:p>
            <a:pPr marL="0" indent="0" algn="l">
              <a:lnSpc>
                <a:spcPct val="150000"/>
              </a:lnSpc>
              <a:buNone/>
            </a:pPr>
            <a:r>
              <a:rPr lang="en-US" sz="2400" dirty="0">
                <a:solidFill>
                  <a:srgbClr val="5A5347"/>
                </a:solidFill>
                <a:latin typeface="Fira Sans" pitchFamily="34" charset="0"/>
                <a:ea typeface="Fira Sans" pitchFamily="34" charset="-122"/>
                <a:cs typeface="Fira Sans" pitchFamily="34" charset="-120"/>
              </a:rPr>
              <a:t>Weights recent outcomes more heavily, sensing whether an option is climbing or fading right now.</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17937626"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THE MODEL</a:t>
            </a:r>
            <a:endParaRPr lang="en-US" sz="1875" dirty="0"/>
          </a:p>
        </p:txBody>
      </p:sp>
      <p:sp>
        <p:nvSpPr>
          <p:cNvPr id="3" name="Text 1"/>
          <p:cNvSpPr/>
          <p:nvPr/>
        </p:nvSpPr>
        <p:spPr>
          <a:xfrm>
            <a:off x="990533" y="1335432"/>
            <a:ext cx="17937626"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The four mechanisms of CATIE</a:t>
            </a:r>
            <a:endParaRPr lang="en-US" sz="3900" dirty="0"/>
          </a:p>
        </p:txBody>
      </p:sp>
      <p:sp>
        <p:nvSpPr>
          <p:cNvPr id="4" name="Shape 2"/>
          <p:cNvSpPr/>
          <p:nvPr/>
        </p:nvSpPr>
        <p:spPr>
          <a:xfrm>
            <a:off x="990533" y="2261122"/>
            <a:ext cx="2590034"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5" name="Text 3"/>
          <p:cNvSpPr/>
          <p:nvPr/>
        </p:nvSpPr>
        <p:spPr>
          <a:xfrm>
            <a:off x="1225528" y="2381816"/>
            <a:ext cx="2197746"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Cumulative average</a:t>
            </a:r>
            <a:endParaRPr lang="en-US" sz="1875" dirty="0"/>
          </a:p>
        </p:txBody>
      </p:sp>
      <p:sp>
        <p:nvSpPr>
          <p:cNvPr id="6" name="Shape 4"/>
          <p:cNvSpPr/>
          <p:nvPr/>
        </p:nvSpPr>
        <p:spPr>
          <a:xfrm>
            <a:off x="3713851" y="2261122"/>
            <a:ext cx="1089047"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7" name="Text 5"/>
          <p:cNvSpPr/>
          <p:nvPr/>
        </p:nvSpPr>
        <p:spPr>
          <a:xfrm>
            <a:off x="3948845" y="2381816"/>
            <a:ext cx="695258"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Trend</a:t>
            </a:r>
            <a:endParaRPr lang="en-US" sz="1875" dirty="0"/>
          </a:p>
        </p:txBody>
      </p:sp>
      <p:sp>
        <p:nvSpPr>
          <p:cNvPr id="8" name="Shape 6"/>
          <p:cNvSpPr/>
          <p:nvPr/>
        </p:nvSpPr>
        <p:spPr>
          <a:xfrm>
            <a:off x="4936181" y="2261122"/>
            <a:ext cx="1191358" cy="529137"/>
          </a:xfrm>
          <a:prstGeom prst="roundRect">
            <a:avLst>
              <a:gd name="adj" fmla="val 50000"/>
            </a:avLst>
          </a:prstGeom>
          <a:solidFill>
            <a:srgbClr val="B3402F"/>
          </a:solidFill>
          <a:ln w="6394">
            <a:solidFill>
              <a:srgbClr val="B3402F"/>
            </a:solidFill>
            <a:prstDash val="solid"/>
          </a:ln>
        </p:spPr>
        <p:txBody>
          <a:bodyPr/>
          <a:lstStyle/>
          <a:p>
            <a:endParaRPr lang="he-IL"/>
          </a:p>
        </p:txBody>
      </p:sp>
      <p:sp>
        <p:nvSpPr>
          <p:cNvPr id="9" name="Text 7"/>
          <p:cNvSpPr/>
          <p:nvPr/>
        </p:nvSpPr>
        <p:spPr>
          <a:xfrm>
            <a:off x="5171176" y="2381816"/>
            <a:ext cx="797569"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FFFFFF"/>
                </a:solidFill>
                <a:latin typeface="Fira Sans" pitchFamily="34" charset="0"/>
                <a:ea typeface="Fira Sans" pitchFamily="34" charset="-122"/>
                <a:cs typeface="Fira Sans" pitchFamily="34" charset="-120"/>
              </a:rPr>
              <a:t>Inertia</a:t>
            </a:r>
            <a:endParaRPr lang="en-US" sz="1875" dirty="0"/>
          </a:p>
        </p:txBody>
      </p:sp>
      <p:sp>
        <p:nvSpPr>
          <p:cNvPr id="10" name="Shape 8"/>
          <p:cNvSpPr/>
          <p:nvPr/>
        </p:nvSpPr>
        <p:spPr>
          <a:xfrm>
            <a:off x="6260822" y="2261122"/>
            <a:ext cx="1716998"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11" name="Text 9"/>
          <p:cNvSpPr/>
          <p:nvPr/>
        </p:nvSpPr>
        <p:spPr>
          <a:xfrm>
            <a:off x="6495817" y="2381816"/>
            <a:ext cx="1323209"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Exploration</a:t>
            </a:r>
            <a:endParaRPr lang="en-US" sz="1875" dirty="0"/>
          </a:p>
        </p:txBody>
      </p:sp>
      <p:sp>
        <p:nvSpPr>
          <p:cNvPr id="12" name="Shape 10"/>
          <p:cNvSpPr/>
          <p:nvPr/>
        </p:nvSpPr>
        <p:spPr>
          <a:xfrm>
            <a:off x="990533" y="5062171"/>
            <a:ext cx="2857500" cy="2857500"/>
          </a:xfrm>
          <a:prstGeom prst="roundRect">
            <a:avLst>
              <a:gd name="adj" fmla="val 9333"/>
            </a:avLst>
          </a:prstGeom>
          <a:solidFill>
            <a:srgbClr val="E6EEF0"/>
          </a:solidFill>
          <a:ln w="6394">
            <a:solidFill>
              <a:srgbClr val="CFE0E3"/>
            </a:solidFill>
            <a:prstDash val="solid"/>
          </a:ln>
          <a:effectLst>
            <a:outerShdw blurRad="266700" dist="57150" dir="5400000" algn="bl" rotWithShape="0">
              <a:srgbClr val="463723">
                <a:alpha val="5000"/>
              </a:srgbClr>
            </a:outerShdw>
          </a:effectLst>
        </p:spPr>
        <p:txBody>
          <a:bodyPr/>
          <a:lstStyle/>
          <a:p>
            <a:endParaRPr lang="he-IL"/>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09692" y="5776546"/>
            <a:ext cx="1619183" cy="1428750"/>
          </a:xfrm>
          <a:prstGeom prst="rect">
            <a:avLst/>
          </a:prstGeom>
        </p:spPr>
      </p:pic>
      <p:sp>
        <p:nvSpPr>
          <p:cNvPr id="14" name="Text 11"/>
          <p:cNvSpPr/>
          <p:nvPr/>
        </p:nvSpPr>
        <p:spPr>
          <a:xfrm>
            <a:off x="4533833" y="5096841"/>
            <a:ext cx="14039996" cy="325848"/>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BFA06E"/>
                </a:solidFill>
                <a:latin typeface="Fira Sans" pitchFamily="34" charset="0"/>
                <a:ea typeface="Fira Sans" pitchFamily="34" charset="-122"/>
                <a:cs typeface="Fira Sans" pitchFamily="34" charset="-120"/>
              </a:rPr>
              <a:t>MECHANISM 03 / 04</a:t>
            </a:r>
            <a:endParaRPr lang="en-US" sz="1875" dirty="0"/>
          </a:p>
        </p:txBody>
      </p:sp>
      <p:sp>
        <p:nvSpPr>
          <p:cNvPr id="15" name="Text 12"/>
          <p:cNvSpPr/>
          <p:nvPr/>
        </p:nvSpPr>
        <p:spPr>
          <a:xfrm>
            <a:off x="4533833" y="5536956"/>
            <a:ext cx="14039996" cy="767062"/>
          </a:xfrm>
          <a:prstGeom prst="rect">
            <a:avLst/>
          </a:prstGeom>
          <a:noFill/>
          <a:ln/>
        </p:spPr>
        <p:txBody>
          <a:bodyPr wrap="square" lIns="25400" tIns="25400" rIns="25400" bIns="25400" rtlCol="0" anchor="t">
            <a:normAutofit/>
          </a:bodyPr>
          <a:lstStyle/>
          <a:p>
            <a:pPr marL="0" indent="0" algn="l">
              <a:buNone/>
            </a:pPr>
            <a:r>
              <a:rPr lang="en-US" sz="4800" b="1" kern="0" spc="-96" dirty="0">
                <a:solidFill>
                  <a:srgbClr val="2A2520"/>
                </a:solidFill>
                <a:latin typeface="Fira Sans" pitchFamily="34" charset="0"/>
                <a:ea typeface="Fira Sans" pitchFamily="34" charset="-122"/>
                <a:cs typeface="Fira Sans" pitchFamily="34" charset="-120"/>
              </a:rPr>
              <a:t>Inertia</a:t>
            </a:r>
            <a:endParaRPr lang="en-US" sz="4800" dirty="0"/>
          </a:p>
        </p:txBody>
      </p:sp>
      <p:sp>
        <p:nvSpPr>
          <p:cNvPr id="16" name="Shape 13"/>
          <p:cNvSpPr/>
          <p:nvPr/>
        </p:nvSpPr>
        <p:spPr>
          <a:xfrm>
            <a:off x="4533833" y="6513501"/>
            <a:ext cx="25578" cy="1371600"/>
          </a:xfrm>
          <a:prstGeom prst="rect">
            <a:avLst/>
          </a:prstGeom>
          <a:solidFill>
            <a:srgbClr val="2F6B7A"/>
          </a:solidFill>
          <a:ln/>
        </p:spPr>
        <p:txBody>
          <a:bodyPr/>
          <a:lstStyle/>
          <a:p>
            <a:endParaRPr lang="he-IL"/>
          </a:p>
        </p:txBody>
      </p:sp>
      <p:sp>
        <p:nvSpPr>
          <p:cNvPr id="17" name="Text 14"/>
          <p:cNvSpPr/>
          <p:nvPr/>
        </p:nvSpPr>
        <p:spPr>
          <a:xfrm>
            <a:off x="4788011" y="6513501"/>
            <a:ext cx="6024668" cy="1409700"/>
          </a:xfrm>
          <a:prstGeom prst="rect">
            <a:avLst/>
          </a:prstGeom>
          <a:noFill/>
          <a:ln/>
        </p:spPr>
        <p:txBody>
          <a:bodyPr wrap="square" lIns="25400" tIns="25400" rIns="25400" bIns="25400" rtlCol="0" anchor="t">
            <a:normAutofit/>
          </a:bodyPr>
          <a:lstStyle/>
          <a:p>
            <a:pPr marL="0" indent="0" algn="l">
              <a:lnSpc>
                <a:spcPct val="150000"/>
              </a:lnSpc>
              <a:buNone/>
            </a:pPr>
            <a:r>
              <a:rPr lang="en-US" sz="2400" dirty="0">
                <a:solidFill>
                  <a:srgbClr val="5A5347"/>
                </a:solidFill>
                <a:latin typeface="Fira Sans" pitchFamily="34" charset="0"/>
                <a:ea typeface="Fira Sans" pitchFamily="34" charset="-122"/>
                <a:cs typeface="Fira Sans" pitchFamily="34" charset="-120"/>
              </a:rPr>
              <a:t>A pull toward repeating the previous choice - the tendency to stay put rather than switch sides.</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17937626"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THE MODEL</a:t>
            </a:r>
            <a:endParaRPr lang="en-US" sz="1875" dirty="0"/>
          </a:p>
        </p:txBody>
      </p:sp>
      <p:sp>
        <p:nvSpPr>
          <p:cNvPr id="3" name="Text 1"/>
          <p:cNvSpPr/>
          <p:nvPr/>
        </p:nvSpPr>
        <p:spPr>
          <a:xfrm>
            <a:off x="990533" y="1335432"/>
            <a:ext cx="17937626"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The four mechanisms of CATIE</a:t>
            </a:r>
            <a:endParaRPr lang="en-US" sz="3900" dirty="0"/>
          </a:p>
        </p:txBody>
      </p:sp>
      <p:sp>
        <p:nvSpPr>
          <p:cNvPr id="4" name="Shape 2"/>
          <p:cNvSpPr/>
          <p:nvPr/>
        </p:nvSpPr>
        <p:spPr>
          <a:xfrm>
            <a:off x="990533" y="2261122"/>
            <a:ext cx="2590034"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5" name="Text 3"/>
          <p:cNvSpPr/>
          <p:nvPr/>
        </p:nvSpPr>
        <p:spPr>
          <a:xfrm>
            <a:off x="1225528" y="2381816"/>
            <a:ext cx="2197746"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Cumulative average</a:t>
            </a:r>
            <a:endParaRPr lang="en-US" sz="1875" dirty="0"/>
          </a:p>
        </p:txBody>
      </p:sp>
      <p:sp>
        <p:nvSpPr>
          <p:cNvPr id="6" name="Shape 4"/>
          <p:cNvSpPr/>
          <p:nvPr/>
        </p:nvSpPr>
        <p:spPr>
          <a:xfrm>
            <a:off x="3713851" y="2261122"/>
            <a:ext cx="1089047"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7" name="Text 5"/>
          <p:cNvSpPr/>
          <p:nvPr/>
        </p:nvSpPr>
        <p:spPr>
          <a:xfrm>
            <a:off x="3948845" y="2381816"/>
            <a:ext cx="695258"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Trend</a:t>
            </a:r>
            <a:endParaRPr lang="en-US" sz="1875" dirty="0"/>
          </a:p>
        </p:txBody>
      </p:sp>
      <p:sp>
        <p:nvSpPr>
          <p:cNvPr id="8" name="Shape 6"/>
          <p:cNvSpPr/>
          <p:nvPr/>
        </p:nvSpPr>
        <p:spPr>
          <a:xfrm>
            <a:off x="4936181" y="2261122"/>
            <a:ext cx="1191358"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9" name="Text 7"/>
          <p:cNvSpPr/>
          <p:nvPr/>
        </p:nvSpPr>
        <p:spPr>
          <a:xfrm>
            <a:off x="5171176" y="2381816"/>
            <a:ext cx="797569"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Inertia</a:t>
            </a:r>
            <a:endParaRPr lang="en-US" sz="1875" dirty="0"/>
          </a:p>
        </p:txBody>
      </p:sp>
      <p:sp>
        <p:nvSpPr>
          <p:cNvPr id="10" name="Shape 8"/>
          <p:cNvSpPr/>
          <p:nvPr/>
        </p:nvSpPr>
        <p:spPr>
          <a:xfrm>
            <a:off x="6260822" y="2261122"/>
            <a:ext cx="1716998" cy="529137"/>
          </a:xfrm>
          <a:prstGeom prst="roundRect">
            <a:avLst>
              <a:gd name="adj" fmla="val 50000"/>
            </a:avLst>
          </a:prstGeom>
          <a:solidFill>
            <a:srgbClr val="B3402F"/>
          </a:solidFill>
          <a:ln w="6394">
            <a:solidFill>
              <a:srgbClr val="B3402F"/>
            </a:solidFill>
            <a:prstDash val="solid"/>
          </a:ln>
        </p:spPr>
        <p:txBody>
          <a:bodyPr/>
          <a:lstStyle/>
          <a:p>
            <a:endParaRPr lang="he-IL"/>
          </a:p>
        </p:txBody>
      </p:sp>
      <p:sp>
        <p:nvSpPr>
          <p:cNvPr id="11" name="Text 9"/>
          <p:cNvSpPr/>
          <p:nvPr/>
        </p:nvSpPr>
        <p:spPr>
          <a:xfrm>
            <a:off x="6495817" y="2381816"/>
            <a:ext cx="1323209"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FFFFFF"/>
                </a:solidFill>
                <a:latin typeface="Fira Sans" pitchFamily="34" charset="0"/>
                <a:ea typeface="Fira Sans" pitchFamily="34" charset="-122"/>
                <a:cs typeface="Fira Sans" pitchFamily="34" charset="-120"/>
              </a:rPr>
              <a:t>Exploration</a:t>
            </a:r>
            <a:endParaRPr lang="en-US" sz="1875" dirty="0"/>
          </a:p>
        </p:txBody>
      </p:sp>
      <p:sp>
        <p:nvSpPr>
          <p:cNvPr id="12" name="Shape 10"/>
          <p:cNvSpPr/>
          <p:nvPr/>
        </p:nvSpPr>
        <p:spPr>
          <a:xfrm>
            <a:off x="990533" y="5062171"/>
            <a:ext cx="2857500" cy="2857500"/>
          </a:xfrm>
          <a:prstGeom prst="roundRect">
            <a:avLst>
              <a:gd name="adj" fmla="val 9333"/>
            </a:avLst>
          </a:prstGeom>
          <a:solidFill>
            <a:srgbClr val="E6EEF0"/>
          </a:solidFill>
          <a:ln w="6394">
            <a:solidFill>
              <a:srgbClr val="CFE0E3"/>
            </a:solidFill>
            <a:prstDash val="solid"/>
          </a:ln>
          <a:effectLst>
            <a:outerShdw blurRad="266700" dist="57150" dir="5400000" algn="bl" rotWithShape="0">
              <a:srgbClr val="463723">
                <a:alpha val="5000"/>
              </a:srgbClr>
            </a:outerShdw>
          </a:effectLst>
        </p:spPr>
        <p:txBody>
          <a:bodyPr/>
          <a:lstStyle/>
          <a:p>
            <a:endParaRPr lang="he-IL"/>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09692" y="5776546"/>
            <a:ext cx="1619183" cy="1428750"/>
          </a:xfrm>
          <a:prstGeom prst="rect">
            <a:avLst/>
          </a:prstGeom>
        </p:spPr>
      </p:pic>
      <p:sp>
        <p:nvSpPr>
          <p:cNvPr id="14" name="Text 11"/>
          <p:cNvSpPr/>
          <p:nvPr/>
        </p:nvSpPr>
        <p:spPr>
          <a:xfrm>
            <a:off x="4533833" y="5096841"/>
            <a:ext cx="14039996" cy="325848"/>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BFA06E"/>
                </a:solidFill>
                <a:latin typeface="Fira Sans" pitchFamily="34" charset="0"/>
                <a:ea typeface="Fira Sans" pitchFamily="34" charset="-122"/>
                <a:cs typeface="Fira Sans" pitchFamily="34" charset="-120"/>
              </a:rPr>
              <a:t>MECHANISM 04 / 04</a:t>
            </a:r>
            <a:endParaRPr lang="en-US" sz="1875" dirty="0"/>
          </a:p>
        </p:txBody>
      </p:sp>
      <p:sp>
        <p:nvSpPr>
          <p:cNvPr id="15" name="Text 12"/>
          <p:cNvSpPr/>
          <p:nvPr/>
        </p:nvSpPr>
        <p:spPr>
          <a:xfrm>
            <a:off x="4533833" y="5536956"/>
            <a:ext cx="14039996" cy="767062"/>
          </a:xfrm>
          <a:prstGeom prst="rect">
            <a:avLst/>
          </a:prstGeom>
          <a:noFill/>
          <a:ln/>
        </p:spPr>
        <p:txBody>
          <a:bodyPr wrap="square" lIns="25400" tIns="25400" rIns="25400" bIns="25400" rtlCol="0" anchor="t">
            <a:normAutofit/>
          </a:bodyPr>
          <a:lstStyle/>
          <a:p>
            <a:pPr marL="0" indent="0" algn="l">
              <a:buNone/>
            </a:pPr>
            <a:r>
              <a:rPr lang="en-US" sz="4800" b="1" kern="0" spc="-96" dirty="0">
                <a:solidFill>
                  <a:srgbClr val="2A2520"/>
                </a:solidFill>
                <a:latin typeface="Fira Sans" pitchFamily="34" charset="0"/>
                <a:ea typeface="Fira Sans" pitchFamily="34" charset="-122"/>
                <a:cs typeface="Fira Sans" pitchFamily="34" charset="-120"/>
              </a:rPr>
              <a:t>Exploration</a:t>
            </a:r>
            <a:endParaRPr lang="en-US" sz="4800" dirty="0"/>
          </a:p>
        </p:txBody>
      </p:sp>
      <p:sp>
        <p:nvSpPr>
          <p:cNvPr id="16" name="Shape 13"/>
          <p:cNvSpPr/>
          <p:nvPr/>
        </p:nvSpPr>
        <p:spPr>
          <a:xfrm>
            <a:off x="4533833" y="6513501"/>
            <a:ext cx="25578" cy="1371600"/>
          </a:xfrm>
          <a:prstGeom prst="rect">
            <a:avLst/>
          </a:prstGeom>
          <a:solidFill>
            <a:srgbClr val="2F6B7A"/>
          </a:solidFill>
          <a:ln/>
        </p:spPr>
        <p:txBody>
          <a:bodyPr/>
          <a:lstStyle/>
          <a:p>
            <a:endParaRPr lang="he-IL"/>
          </a:p>
        </p:txBody>
      </p:sp>
      <p:sp>
        <p:nvSpPr>
          <p:cNvPr id="17" name="Text 14"/>
          <p:cNvSpPr/>
          <p:nvPr/>
        </p:nvSpPr>
        <p:spPr>
          <a:xfrm>
            <a:off x="4788011" y="6513501"/>
            <a:ext cx="6024668" cy="1409700"/>
          </a:xfrm>
          <a:prstGeom prst="rect">
            <a:avLst/>
          </a:prstGeom>
          <a:noFill/>
          <a:ln/>
        </p:spPr>
        <p:txBody>
          <a:bodyPr wrap="square" lIns="25400" tIns="25400" rIns="25400" bIns="25400" rtlCol="0" anchor="t">
            <a:normAutofit/>
          </a:bodyPr>
          <a:lstStyle/>
          <a:p>
            <a:pPr marL="0" indent="0" algn="l">
              <a:lnSpc>
                <a:spcPct val="150000"/>
              </a:lnSpc>
              <a:buNone/>
            </a:pPr>
            <a:r>
              <a:rPr lang="en-US" sz="2400" dirty="0">
                <a:solidFill>
                  <a:srgbClr val="5A5347"/>
                </a:solidFill>
                <a:latin typeface="Fira Sans" pitchFamily="34" charset="0"/>
                <a:ea typeface="Fira Sans" pitchFamily="34" charset="-122"/>
                <a:cs typeface="Fira Sans" pitchFamily="34" charset="-120"/>
              </a:rPr>
              <a:t>Occasional, deliberate deviation from the favored option - sampling the alternative to keep learning.</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3694088"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DEFINING THE METRIC</a:t>
            </a:r>
            <a:endParaRPr lang="en-US" sz="1875" dirty="0"/>
          </a:p>
        </p:txBody>
      </p:sp>
      <p:sp>
        <p:nvSpPr>
          <p:cNvPr id="3" name="Text 1"/>
          <p:cNvSpPr/>
          <p:nvPr/>
        </p:nvSpPr>
        <p:spPr>
          <a:xfrm>
            <a:off x="990533" y="1335432"/>
            <a:ext cx="3694088"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Surprise points</a:t>
            </a:r>
            <a:endParaRPr lang="en-US" sz="3900" dirty="0"/>
          </a:p>
        </p:txBody>
      </p:sp>
      <p:sp>
        <p:nvSpPr>
          <p:cNvPr id="4" name="Text 2"/>
          <p:cNvSpPr/>
          <p:nvPr/>
        </p:nvSpPr>
        <p:spPr>
          <a:xfrm>
            <a:off x="990533" y="3357463"/>
            <a:ext cx="6109147" cy="1323975"/>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5A5347"/>
                </a:solidFill>
                <a:latin typeface="Fira Sans" pitchFamily="34" charset="0"/>
                <a:ea typeface="Fira Sans" pitchFamily="34" charset="-122"/>
                <a:cs typeface="Fira Sans" pitchFamily="34" charset="-120"/>
              </a:rPr>
              <a:t>A </a:t>
            </a:r>
            <a:r>
              <a:rPr lang="en-US" sz="2250" b="1" dirty="0">
                <a:solidFill>
                  <a:srgbClr val="2A2520"/>
                </a:solidFill>
                <a:latin typeface="Fira Sans" pitchFamily="34" charset="0"/>
                <a:ea typeface="Fira Sans" pitchFamily="34" charset="-122"/>
                <a:cs typeface="Fira Sans" pitchFamily="34" charset="-120"/>
              </a:rPr>
              <a:t>surprise point: </a:t>
            </a:r>
            <a:r>
              <a:rPr lang="en-US" sz="2250" dirty="0">
                <a:solidFill>
                  <a:srgbClr val="5A5347"/>
                </a:solidFill>
                <a:latin typeface="Fira Sans" pitchFamily="34" charset="0"/>
                <a:ea typeface="Fira Sans" pitchFamily="34" charset="-122"/>
                <a:cs typeface="Fira Sans" pitchFamily="34" charset="-120"/>
              </a:rPr>
              <a:t>a trial where CATIE assigned </a:t>
            </a:r>
            <a:r>
              <a:rPr lang="en-US" sz="2250" b="1" dirty="0">
                <a:solidFill>
                  <a:srgbClr val="B3402F"/>
                </a:solidFill>
                <a:latin typeface="Fira Sans" pitchFamily="34" charset="0"/>
                <a:ea typeface="Fira Sans" pitchFamily="34" charset="-122"/>
                <a:cs typeface="Fira Sans" pitchFamily="34" charset="-120"/>
              </a:rPr>
              <a:t>p &lt; 0.15 </a:t>
            </a:r>
            <a:r>
              <a:rPr lang="en-US" sz="2250" dirty="0">
                <a:solidFill>
                  <a:srgbClr val="5A5347"/>
                </a:solidFill>
                <a:latin typeface="Fira Sans" pitchFamily="34" charset="0"/>
                <a:ea typeface="Fira Sans" pitchFamily="34" charset="-122"/>
                <a:cs typeface="Fira Sans" pitchFamily="34" charset="-120"/>
              </a:rPr>
              <a:t>to the choice the participant actually made</a:t>
            </a:r>
            <a:endParaRPr lang="en-US" sz="2250" dirty="0"/>
          </a:p>
        </p:txBody>
      </p:sp>
      <p:sp>
        <p:nvSpPr>
          <p:cNvPr id="5" name="Text 3"/>
          <p:cNvSpPr/>
          <p:nvPr/>
        </p:nvSpPr>
        <p:spPr>
          <a:xfrm>
            <a:off x="990533" y="4948071"/>
            <a:ext cx="2483607" cy="990966"/>
          </a:xfrm>
          <a:prstGeom prst="rect">
            <a:avLst/>
          </a:prstGeom>
          <a:noFill/>
          <a:ln/>
        </p:spPr>
        <p:txBody>
          <a:bodyPr wrap="square" lIns="25400" tIns="25400" rIns="25400" bIns="25400" rtlCol="0" anchor="t">
            <a:normAutofit/>
          </a:bodyPr>
          <a:lstStyle/>
          <a:p>
            <a:pPr marL="0" indent="0" algn="l">
              <a:lnSpc>
                <a:spcPct val="82000"/>
              </a:lnSpc>
              <a:buNone/>
            </a:pPr>
            <a:r>
              <a:rPr lang="en-US" sz="9150" b="1" kern="0" spc="-183" dirty="0">
                <a:solidFill>
                  <a:srgbClr val="B3402F"/>
                </a:solidFill>
                <a:latin typeface="Fira Sans" pitchFamily="34" charset="0"/>
                <a:ea typeface="Fira Sans" pitchFamily="34" charset="-122"/>
                <a:cs typeface="Fira Sans" pitchFamily="34" charset="-120"/>
              </a:rPr>
              <a:t>9.1%</a:t>
            </a:r>
            <a:endParaRPr lang="en-US" sz="9150" dirty="0"/>
          </a:p>
        </p:txBody>
      </p:sp>
      <p:sp>
        <p:nvSpPr>
          <p:cNvPr id="6" name="Text 4"/>
          <p:cNvSpPr/>
          <p:nvPr/>
        </p:nvSpPr>
        <p:spPr>
          <a:xfrm>
            <a:off x="3419808" y="5568328"/>
            <a:ext cx="1390174" cy="351426"/>
          </a:xfrm>
          <a:prstGeom prst="rect">
            <a:avLst/>
          </a:prstGeom>
          <a:noFill/>
          <a:ln/>
        </p:spPr>
        <p:txBody>
          <a:bodyPr wrap="square" lIns="25400" tIns="25400" rIns="25400" bIns="25400" rtlCol="0" anchor="t">
            <a:normAutofit/>
          </a:bodyPr>
          <a:lstStyle/>
          <a:p>
            <a:pPr marL="0" indent="0" algn="l">
              <a:buNone/>
            </a:pPr>
            <a:r>
              <a:rPr lang="en-US" sz="2025" dirty="0">
                <a:solidFill>
                  <a:srgbClr val="897F6E"/>
                </a:solidFill>
                <a:latin typeface="Fira Sans" pitchFamily="34" charset="0"/>
                <a:ea typeface="Fira Sans" pitchFamily="34" charset="-122"/>
                <a:cs typeface="Fira Sans" pitchFamily="34" charset="-120"/>
              </a:rPr>
              <a:t>of all trials</a:t>
            </a:r>
            <a:endParaRPr lang="en-US" sz="2025" dirty="0"/>
          </a:p>
        </p:txBody>
      </p:sp>
      <p:sp>
        <p:nvSpPr>
          <p:cNvPr id="7" name="Text 5"/>
          <p:cNvSpPr/>
          <p:nvPr/>
        </p:nvSpPr>
        <p:spPr>
          <a:xfrm>
            <a:off x="990533" y="6053304"/>
            <a:ext cx="6524332" cy="332243"/>
          </a:xfrm>
          <a:prstGeom prst="rect">
            <a:avLst/>
          </a:prstGeom>
          <a:noFill/>
          <a:ln/>
        </p:spPr>
        <p:txBody>
          <a:bodyPr wrap="square" lIns="25400" tIns="25400" rIns="25400" bIns="25400" rtlCol="0" anchor="t">
            <a:normAutofit/>
          </a:bodyPr>
          <a:lstStyle/>
          <a:p>
            <a:pPr marL="0" indent="0" algn="l">
              <a:buNone/>
            </a:pPr>
            <a:r>
              <a:rPr lang="en-US" sz="1950" dirty="0">
                <a:solidFill>
                  <a:srgbClr val="897F6E"/>
                </a:solidFill>
                <a:latin typeface="Fira Sans" pitchFamily="34" charset="0"/>
                <a:ea typeface="Fira Sans" pitchFamily="34" charset="-122"/>
                <a:cs typeface="Fira Sans" pitchFamily="34" charset="-120"/>
              </a:rPr>
              <a:t>4,454 surprise points out of 49,200 (in the EDA set)</a:t>
            </a:r>
            <a:endParaRPr lang="en-US" sz="1950" dirty="0"/>
          </a:p>
        </p:txBody>
      </p:sp>
      <p:sp>
        <p:nvSpPr>
          <p:cNvPr id="8" name="Shape 6"/>
          <p:cNvSpPr/>
          <p:nvPr/>
        </p:nvSpPr>
        <p:spPr>
          <a:xfrm>
            <a:off x="990533" y="6671263"/>
            <a:ext cx="25578" cy="1928813"/>
          </a:xfrm>
          <a:prstGeom prst="rect">
            <a:avLst/>
          </a:prstGeom>
          <a:solidFill>
            <a:srgbClr val="B3402F"/>
          </a:solidFill>
          <a:ln/>
        </p:spPr>
        <p:txBody>
          <a:bodyPr/>
          <a:lstStyle/>
          <a:p>
            <a:endParaRPr lang="he-IL"/>
          </a:p>
        </p:txBody>
      </p:sp>
      <p:sp>
        <p:nvSpPr>
          <p:cNvPr id="9" name="Text 7"/>
          <p:cNvSpPr/>
          <p:nvPr/>
        </p:nvSpPr>
        <p:spPr>
          <a:xfrm>
            <a:off x="1225661" y="6671263"/>
            <a:ext cx="5874019" cy="1966912"/>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2A2520"/>
                </a:solidFill>
                <a:latin typeface="Fira Sans" pitchFamily="34" charset="0"/>
                <a:ea typeface="Fira Sans" pitchFamily="34" charset="-122"/>
                <a:cs typeface="Fira Sans" pitchFamily="34" charset="-120"/>
              </a:rPr>
              <a:t>CATIE won on </a:t>
            </a:r>
            <a:r>
              <a:rPr lang="en-US" sz="2025" b="1" dirty="0">
                <a:solidFill>
                  <a:srgbClr val="2A2520"/>
                </a:solidFill>
                <a:latin typeface="Fira Sans" pitchFamily="34" charset="0"/>
                <a:ea typeface="Fira Sans" pitchFamily="34" charset="-122"/>
                <a:cs typeface="Fira Sans" pitchFamily="34" charset="-120"/>
              </a:rPr>
              <a:t>E(P) </a:t>
            </a:r>
            <a:r>
              <a:rPr lang="en-US" sz="2025" dirty="0">
                <a:solidFill>
                  <a:srgbClr val="2A2520"/>
                </a:solidFill>
                <a:latin typeface="Fira Sans" pitchFamily="34" charset="0"/>
                <a:ea typeface="Fira Sans" pitchFamily="34" charset="-122"/>
                <a:cs typeface="Fira Sans" pitchFamily="34" charset="-120"/>
              </a:rPr>
              <a:t>but lost to Q-Learning on </a:t>
            </a:r>
            <a:r>
              <a:rPr lang="en-US" sz="2025" b="1" dirty="0">
                <a:solidFill>
                  <a:srgbClr val="2A2520"/>
                </a:solidFill>
                <a:latin typeface="Fira Sans" pitchFamily="34" charset="0"/>
                <a:ea typeface="Fira Sans" pitchFamily="34" charset="-122"/>
                <a:cs typeface="Fira Sans" pitchFamily="34" charset="-120"/>
              </a:rPr>
              <a:t>E(log P)</a:t>
            </a:r>
            <a:r>
              <a:rPr lang="en-US" sz="2025" dirty="0">
                <a:solidFill>
                  <a:srgbClr val="2A2520"/>
                </a:solidFill>
                <a:latin typeface="Fira Sans" pitchFamily="34" charset="0"/>
                <a:ea typeface="Fira Sans" pitchFamily="34" charset="-122"/>
                <a:cs typeface="Fira Sans" pitchFamily="34" charset="-120"/>
              </a:rPr>
              <a:t>, penalized by “ </a:t>
            </a:r>
            <a:r>
              <a:rPr lang="en-US" sz="2025" i="1" dirty="0">
                <a:solidFill>
                  <a:srgbClr val="2A2520"/>
                </a:solidFill>
                <a:latin typeface="Fira Sans" pitchFamily="34" charset="0"/>
                <a:ea typeface="Fira Sans" pitchFamily="34" charset="-122"/>
                <a:cs typeface="Fira Sans" pitchFamily="34" charset="-120"/>
              </a:rPr>
              <a:t>a relatively large fraction of actions to which the model assigned a relatively small probability </a:t>
            </a:r>
            <a:r>
              <a:rPr lang="en-US" sz="2025" dirty="0">
                <a:solidFill>
                  <a:srgbClr val="2A2520"/>
                </a:solidFill>
                <a:latin typeface="Fira Sans" pitchFamily="34" charset="0"/>
                <a:ea typeface="Fira Sans" pitchFamily="34" charset="-122"/>
                <a:cs typeface="Fira Sans" pitchFamily="34" charset="-120"/>
              </a:rPr>
              <a:t>.” Those are the surprise points we investigate.</a:t>
            </a:r>
            <a:endParaRPr lang="en-US" sz="2025" dirty="0"/>
          </a:p>
        </p:txBody>
      </p:sp>
      <p:sp>
        <p:nvSpPr>
          <p:cNvPr id="10" name="Shape 8"/>
          <p:cNvSpPr/>
          <p:nvPr/>
        </p:nvSpPr>
        <p:spPr>
          <a:xfrm>
            <a:off x="7436094" y="2359236"/>
            <a:ext cx="9861372" cy="7238967"/>
          </a:xfrm>
          <a:prstGeom prst="roundRect">
            <a:avLst>
              <a:gd name="adj" fmla="val 2368"/>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pic>
        <p:nvPicPr>
          <p:cNvPr id="11" name="Image 0" descr="preencoded.png"/>
          <p:cNvPicPr>
            <a:picLocks noChangeAspect="1"/>
          </p:cNvPicPr>
          <p:nvPr/>
        </p:nvPicPr>
        <p:blipFill>
          <a:blip r:embed="rId3"/>
          <a:srcRect t="-14515" b="-14515"/>
          <a:stretch/>
        </p:blipFill>
        <p:spPr>
          <a:xfrm>
            <a:off x="7728239" y="2651380"/>
            <a:ext cx="9277084" cy="665467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7648539"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HYPOTHESIS 1 · REACTION TIME</a:t>
            </a:r>
            <a:endParaRPr lang="en-US" sz="1875" dirty="0"/>
          </a:p>
        </p:txBody>
      </p:sp>
      <p:sp>
        <p:nvSpPr>
          <p:cNvPr id="3" name="Text 1"/>
          <p:cNvSpPr/>
          <p:nvPr/>
        </p:nvSpPr>
        <p:spPr>
          <a:xfrm>
            <a:off x="990533" y="1335432"/>
            <a:ext cx="7161813" cy="1127547"/>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Does surprise slow people down?</a:t>
            </a:r>
            <a:endParaRPr lang="en-US" sz="3900" dirty="0"/>
          </a:p>
        </p:txBody>
      </p:sp>
      <p:sp>
        <p:nvSpPr>
          <p:cNvPr id="4" name="Text 2"/>
          <p:cNvSpPr/>
          <p:nvPr/>
        </p:nvSpPr>
        <p:spPr>
          <a:xfrm>
            <a:off x="990533" y="4465393"/>
            <a:ext cx="5639260" cy="1323975"/>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5A5347"/>
                </a:solidFill>
                <a:latin typeface="Fira Sans" pitchFamily="34" charset="0"/>
                <a:ea typeface="Fira Sans" pitchFamily="34" charset="-122"/>
                <a:cs typeface="Fira Sans" pitchFamily="34" charset="-120"/>
              </a:rPr>
              <a:t>The intuition: when the model is surprised, the participant should </a:t>
            </a:r>
            <a:r>
              <a:rPr lang="en-US" sz="2250" b="1" dirty="0">
                <a:solidFill>
                  <a:srgbClr val="2A2520"/>
                </a:solidFill>
                <a:latin typeface="Fira Sans" pitchFamily="34" charset="0"/>
                <a:ea typeface="Fira Sans" pitchFamily="34" charset="-122"/>
                <a:cs typeface="Fira Sans" pitchFamily="34" charset="-120"/>
              </a:rPr>
              <a:t>hesitate </a:t>
            </a:r>
            <a:r>
              <a:rPr lang="en-US" sz="2250" dirty="0">
                <a:solidFill>
                  <a:srgbClr val="5A5347"/>
                </a:solidFill>
                <a:latin typeface="Fira Sans" pitchFamily="34" charset="0"/>
                <a:ea typeface="Fira Sans" pitchFamily="34" charset="-122"/>
                <a:cs typeface="Fira Sans" pitchFamily="34" charset="-120"/>
              </a:rPr>
              <a:t>so reaction time should rise</a:t>
            </a:r>
            <a:endParaRPr lang="en-US" sz="2250" dirty="0"/>
          </a:p>
        </p:txBody>
      </p:sp>
      <p:sp>
        <p:nvSpPr>
          <p:cNvPr id="5" name="Shape 3"/>
          <p:cNvSpPr/>
          <p:nvPr/>
        </p:nvSpPr>
        <p:spPr>
          <a:xfrm>
            <a:off x="990533" y="6037018"/>
            <a:ext cx="25578" cy="1999750"/>
          </a:xfrm>
          <a:prstGeom prst="rect">
            <a:avLst/>
          </a:prstGeom>
          <a:solidFill>
            <a:srgbClr val="2F6B7A"/>
          </a:solidFill>
          <a:ln/>
        </p:spPr>
        <p:txBody>
          <a:bodyPr/>
          <a:lstStyle/>
          <a:p>
            <a:endParaRPr lang="he-IL"/>
          </a:p>
        </p:txBody>
      </p:sp>
      <p:sp>
        <p:nvSpPr>
          <p:cNvPr id="6" name="Text 4"/>
          <p:cNvSpPr/>
          <p:nvPr/>
        </p:nvSpPr>
        <p:spPr>
          <a:xfrm>
            <a:off x="1225661" y="6037018"/>
            <a:ext cx="5404133" cy="203785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2A2520"/>
                </a:solidFill>
                <a:latin typeface="Fira Sans" pitchFamily="34" charset="0"/>
                <a:ea typeface="Fira Sans" pitchFamily="34" charset="-122"/>
                <a:cs typeface="Fira Sans" pitchFamily="34" charset="-120"/>
              </a:rPr>
              <a:t>At a robust threshold </a:t>
            </a:r>
            <a:r>
              <a:rPr lang="en-US" sz="2100" b="1" dirty="0">
                <a:solidFill>
                  <a:srgbClr val="2A2520"/>
                </a:solidFill>
                <a:latin typeface="Fira Sans" pitchFamily="34" charset="0"/>
                <a:ea typeface="Fira Sans" pitchFamily="34" charset="-122"/>
                <a:cs typeface="Fira Sans" pitchFamily="34" charset="-120"/>
              </a:rPr>
              <a:t>(X = 10%) </a:t>
            </a:r>
            <a:r>
              <a:rPr lang="en-US" sz="2100" dirty="0">
                <a:solidFill>
                  <a:srgbClr val="2A2520"/>
                </a:solidFill>
                <a:latin typeface="Fira Sans" pitchFamily="34" charset="0"/>
                <a:ea typeface="Fira Sans" pitchFamily="34" charset="-122"/>
                <a:cs typeface="Fira Sans" pitchFamily="34" charset="-120"/>
              </a:rPr>
              <a:t>, the only reliable effect is that </a:t>
            </a:r>
            <a:r>
              <a:rPr lang="en-US" sz="2100" b="1" dirty="0">
                <a:solidFill>
                  <a:srgbClr val="2A2520"/>
                </a:solidFill>
                <a:latin typeface="Fira Sans" pitchFamily="34" charset="0"/>
                <a:ea typeface="Fira Sans" pitchFamily="34" charset="-122"/>
                <a:cs typeface="Fira Sans" pitchFamily="34" charset="-120"/>
              </a:rPr>
              <a:t>high-confidence trials are fast </a:t>
            </a:r>
            <a:r>
              <a:rPr lang="en-US" sz="2100" dirty="0">
                <a:solidFill>
                  <a:srgbClr val="2A2520"/>
                </a:solidFill>
                <a:latin typeface="Fira Sans" pitchFamily="34" charset="0"/>
                <a:ea typeface="Fira Sans" pitchFamily="34" charset="-122"/>
                <a:cs typeface="Fira Sans" pitchFamily="34" charset="-120"/>
              </a:rPr>
              <a:t>. Surprise trials are </a:t>
            </a:r>
            <a:r>
              <a:rPr lang="en-US" sz="2100" b="1" dirty="0">
                <a:solidFill>
                  <a:srgbClr val="2A2520"/>
                </a:solidFill>
                <a:latin typeface="Fira Sans" pitchFamily="34" charset="0"/>
                <a:ea typeface="Fira Sans" pitchFamily="34" charset="-122"/>
                <a:cs typeface="Fira Sans" pitchFamily="34" charset="-120"/>
              </a:rPr>
              <a:t>not </a:t>
            </a:r>
            <a:r>
              <a:rPr lang="en-US" sz="2100" dirty="0">
                <a:solidFill>
                  <a:srgbClr val="2A2520"/>
                </a:solidFill>
                <a:latin typeface="Fira Sans" pitchFamily="34" charset="0"/>
                <a:ea typeface="Fira Sans" pitchFamily="34" charset="-122"/>
                <a:cs typeface="Fira Sans" pitchFamily="34" charset="-120"/>
              </a:rPr>
              <a:t>reliably slower than routine ones — </a:t>
            </a:r>
            <a:r>
              <a:rPr lang="en-US" sz="2100" b="1" dirty="0">
                <a:solidFill>
                  <a:srgbClr val="B3402F"/>
                </a:solidFill>
                <a:latin typeface="Fira Sans" pitchFamily="34" charset="0"/>
                <a:ea typeface="Fira Sans" pitchFamily="34" charset="-122"/>
                <a:cs typeface="Fira Sans" pitchFamily="34" charset="-120"/>
              </a:rPr>
              <a:t>d = 0.02, p ≈ 0.82 </a:t>
            </a:r>
            <a:r>
              <a:rPr lang="en-US" sz="2100" dirty="0">
                <a:solidFill>
                  <a:srgbClr val="2A2520"/>
                </a:solidFill>
                <a:latin typeface="Fira Sans" pitchFamily="34" charset="0"/>
                <a:ea typeface="Fira Sans" pitchFamily="34" charset="-122"/>
                <a:cs typeface="Fira Sans" pitchFamily="34" charset="-120"/>
              </a:rPr>
              <a:t>(not significant).</a:t>
            </a:r>
            <a:endParaRPr lang="en-US" sz="2100" dirty="0"/>
          </a:p>
        </p:txBody>
      </p:sp>
      <p:sp>
        <p:nvSpPr>
          <p:cNvPr id="7" name="Shape 5"/>
          <p:cNvSpPr/>
          <p:nvPr/>
        </p:nvSpPr>
        <p:spPr>
          <a:xfrm>
            <a:off x="6979893" y="2786762"/>
            <a:ext cx="10317574" cy="6928738"/>
          </a:xfrm>
          <a:prstGeom prst="roundRect">
            <a:avLst>
              <a:gd name="adj" fmla="val 2474"/>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pic>
        <p:nvPicPr>
          <p:cNvPr id="8" name="Image 0" descr="preencoded.png"/>
          <p:cNvPicPr>
            <a:picLocks noChangeAspect="1"/>
          </p:cNvPicPr>
          <p:nvPr/>
        </p:nvPicPr>
        <p:blipFill>
          <a:blip r:embed="rId3"/>
          <a:srcRect l="-4067" r="-4067"/>
          <a:stretch/>
        </p:blipFill>
        <p:spPr>
          <a:xfrm>
            <a:off x="7272038" y="3078906"/>
            <a:ext cx="9733284" cy="63444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7648539"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HYPOTHESIS 1 · REJECTED</a:t>
            </a:r>
            <a:endParaRPr lang="en-US" sz="1875" dirty="0"/>
          </a:p>
        </p:txBody>
      </p:sp>
      <p:sp>
        <p:nvSpPr>
          <p:cNvPr id="3" name="Text 1"/>
          <p:cNvSpPr/>
          <p:nvPr/>
        </p:nvSpPr>
        <p:spPr>
          <a:xfrm>
            <a:off x="990533" y="1335432"/>
            <a:ext cx="7161813" cy="1127547"/>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A dramatic U-shape - that turned out to be an artifact</a:t>
            </a:r>
            <a:endParaRPr lang="en-US" sz="3900" dirty="0"/>
          </a:p>
        </p:txBody>
      </p:sp>
      <p:sp>
        <p:nvSpPr>
          <p:cNvPr id="4" name="Shape 2"/>
          <p:cNvSpPr/>
          <p:nvPr/>
        </p:nvSpPr>
        <p:spPr>
          <a:xfrm>
            <a:off x="990533" y="2786762"/>
            <a:ext cx="10317574" cy="6928738"/>
          </a:xfrm>
          <a:prstGeom prst="roundRect">
            <a:avLst>
              <a:gd name="adj" fmla="val 2474"/>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pic>
        <p:nvPicPr>
          <p:cNvPr id="5" name="Image 0" descr="preencoded.png"/>
          <p:cNvPicPr>
            <a:picLocks noChangeAspect="1"/>
          </p:cNvPicPr>
          <p:nvPr/>
        </p:nvPicPr>
        <p:blipFill>
          <a:blip r:embed="rId3"/>
          <a:srcRect l="-4067" r="-4067"/>
          <a:stretch/>
        </p:blipFill>
        <p:spPr>
          <a:xfrm>
            <a:off x="1282678" y="3078906"/>
            <a:ext cx="9733284" cy="6344449"/>
          </a:xfrm>
          <a:prstGeom prst="rect">
            <a:avLst/>
          </a:prstGeom>
        </p:spPr>
      </p:pic>
      <p:sp>
        <p:nvSpPr>
          <p:cNvPr id="6" name="Text 3"/>
          <p:cNvSpPr/>
          <p:nvPr/>
        </p:nvSpPr>
        <p:spPr>
          <a:xfrm>
            <a:off x="11822456" y="4519646"/>
            <a:ext cx="5639260" cy="895350"/>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5A5347"/>
                </a:solidFill>
                <a:latin typeface="Fira Sans" pitchFamily="34" charset="0"/>
                <a:ea typeface="Fira Sans" pitchFamily="34" charset="-122"/>
                <a:cs typeface="Fira Sans" pitchFamily="34" charset="-120"/>
              </a:rPr>
              <a:t>At </a:t>
            </a:r>
            <a:r>
              <a:rPr lang="en-US" sz="2250" b="1" dirty="0">
                <a:solidFill>
                  <a:srgbClr val="5A5347"/>
                </a:solidFill>
                <a:latin typeface="Fira Sans" pitchFamily="34" charset="0"/>
                <a:ea typeface="Fira Sans" pitchFamily="34" charset="-122"/>
                <a:cs typeface="Fira Sans" pitchFamily="34" charset="-120"/>
              </a:rPr>
              <a:t>X = 5% </a:t>
            </a:r>
            <a:r>
              <a:rPr lang="en-US" sz="2250" dirty="0">
                <a:solidFill>
                  <a:srgbClr val="5A5347"/>
                </a:solidFill>
                <a:latin typeface="Fira Sans" pitchFamily="34" charset="0"/>
                <a:ea typeface="Fira Sans" pitchFamily="34" charset="-122"/>
                <a:cs typeface="Fira Sans" pitchFamily="34" charset="-120"/>
              </a:rPr>
              <a:t>the effect looked huge until we checked the counts: </a:t>
            </a:r>
            <a:r>
              <a:rPr lang="en-US" sz="2250" b="1" dirty="0">
                <a:solidFill>
                  <a:srgbClr val="2A2520"/>
                </a:solidFill>
                <a:latin typeface="Fira Sans" pitchFamily="34" charset="0"/>
                <a:ea typeface="Fira Sans" pitchFamily="34" charset="-122"/>
                <a:cs typeface="Fira Sans" pitchFamily="34" charset="-120"/>
              </a:rPr>
              <a:t>n = 195 </a:t>
            </a:r>
            <a:r>
              <a:rPr lang="en-US" sz="2250" dirty="0">
                <a:solidFill>
                  <a:srgbClr val="5A5347"/>
                </a:solidFill>
                <a:latin typeface="Fira Sans" pitchFamily="34" charset="0"/>
                <a:ea typeface="Fira Sans" pitchFamily="34" charset="-122"/>
                <a:cs typeface="Fira Sans" pitchFamily="34" charset="-120"/>
              </a:rPr>
              <a:t>and </a:t>
            </a:r>
            <a:r>
              <a:rPr lang="en-US" sz="2250" b="1" dirty="0">
                <a:solidFill>
                  <a:srgbClr val="2A2520"/>
                </a:solidFill>
                <a:latin typeface="Fira Sans" pitchFamily="34" charset="0"/>
                <a:ea typeface="Fira Sans" pitchFamily="34" charset="-122"/>
                <a:cs typeface="Fira Sans" pitchFamily="34" charset="-120"/>
              </a:rPr>
              <a:t>509</a:t>
            </a:r>
            <a:r>
              <a:rPr lang="en-US" sz="2250" dirty="0">
                <a:solidFill>
                  <a:srgbClr val="5A5347"/>
                </a:solidFill>
                <a:latin typeface="Fira Sans" pitchFamily="34" charset="0"/>
                <a:ea typeface="Fira Sans" pitchFamily="34" charset="-122"/>
                <a:cs typeface="Fira Sans" pitchFamily="34" charset="-120"/>
              </a:rPr>
              <a:t>.</a:t>
            </a:r>
            <a:endParaRPr lang="en-US" sz="2250" dirty="0"/>
          </a:p>
        </p:txBody>
      </p:sp>
      <p:sp>
        <p:nvSpPr>
          <p:cNvPr id="7" name="Shape 4"/>
          <p:cNvSpPr/>
          <p:nvPr/>
        </p:nvSpPr>
        <p:spPr>
          <a:xfrm>
            <a:off x="11822456" y="5662646"/>
            <a:ext cx="25578" cy="2319870"/>
          </a:xfrm>
          <a:prstGeom prst="rect">
            <a:avLst/>
          </a:prstGeom>
          <a:solidFill>
            <a:srgbClr val="B3402F"/>
          </a:solidFill>
          <a:ln/>
        </p:spPr>
        <p:txBody>
          <a:bodyPr/>
          <a:lstStyle/>
          <a:p>
            <a:endParaRPr lang="he-IL"/>
          </a:p>
        </p:txBody>
      </p:sp>
      <p:sp>
        <p:nvSpPr>
          <p:cNvPr id="8" name="Text 5"/>
          <p:cNvSpPr/>
          <p:nvPr/>
        </p:nvSpPr>
        <p:spPr>
          <a:xfrm>
            <a:off x="12057584" y="5662646"/>
            <a:ext cx="5404133" cy="2357970"/>
          </a:xfrm>
          <a:prstGeom prst="rect">
            <a:avLst/>
          </a:prstGeom>
          <a:noFill/>
          <a:ln/>
        </p:spPr>
        <p:txBody>
          <a:bodyPr wrap="square" lIns="25400" tIns="25400" rIns="25400" bIns="25400" rtlCol="0" anchor="t">
            <a:normAutofit/>
          </a:bodyPr>
          <a:lstStyle/>
          <a:p>
            <a:pPr marL="0" indent="0" algn="l">
              <a:lnSpc>
                <a:spcPct val="145000"/>
              </a:lnSpc>
              <a:buNone/>
            </a:pPr>
            <a:r>
              <a:rPr lang="en-US" sz="1800" b="1" dirty="0">
                <a:solidFill>
                  <a:srgbClr val="B3402F"/>
                </a:solidFill>
                <a:latin typeface="Fira Sans" pitchFamily="34" charset="0"/>
                <a:ea typeface="Fira Sans" pitchFamily="34" charset="-122"/>
                <a:cs typeface="Fira Sans" pitchFamily="34" charset="-120"/>
              </a:rPr>
              <a:t>Rejected </a:t>
            </a:r>
            <a:r>
              <a:rPr lang="en-US" sz="1800" dirty="0">
                <a:solidFill>
                  <a:srgbClr val="2A2520"/>
                </a:solidFill>
                <a:latin typeface="Fira Sans" pitchFamily="34" charset="0"/>
                <a:ea typeface="Fira Sans" pitchFamily="34" charset="-122"/>
                <a:cs typeface="Fira Sans" pitchFamily="34" charset="-120"/>
              </a:rPr>
              <a:t>— and not as a small-sample fluke alone. The effect is large at X=5% but collapses to non-significant at X=10% </a:t>
            </a:r>
            <a:r>
              <a:rPr lang="en-US" sz="1800" b="1" dirty="0">
                <a:solidFill>
                  <a:srgbClr val="2A2520"/>
                </a:solidFill>
                <a:latin typeface="Fira Sans" pitchFamily="34" charset="0"/>
                <a:ea typeface="Fira Sans" pitchFamily="34" charset="-122"/>
                <a:cs typeface="Fira Sans" pitchFamily="34" charset="-120"/>
              </a:rPr>
              <a:t>(d=0.02) </a:t>
            </a:r>
            <a:r>
              <a:rPr lang="en-US" sz="1800" dirty="0">
                <a:solidFill>
                  <a:srgbClr val="2A2520"/>
                </a:solidFill>
                <a:latin typeface="Fira Sans" pitchFamily="34" charset="0"/>
                <a:ea typeface="Fira Sans" pitchFamily="34" charset="-122"/>
                <a:cs typeface="Fira Sans" pitchFamily="34" charset="-120"/>
              </a:rPr>
              <a:t>, and at 5% even the “most certain” trials are slow — backwards. A finding that flips with an arbitrary cutoff isn't a finding. And RT can't recalibrate a model that never sees it.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17937626"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HYPOTHESIS 2 · METHOD</a:t>
            </a:r>
            <a:endParaRPr lang="en-US" sz="1875" dirty="0"/>
          </a:p>
        </p:txBody>
      </p:sp>
      <p:sp>
        <p:nvSpPr>
          <p:cNvPr id="3" name="Text 1"/>
          <p:cNvSpPr/>
          <p:nvPr/>
        </p:nvSpPr>
        <p:spPr>
          <a:xfrm>
            <a:off x="990533" y="1335432"/>
            <a:ext cx="17937626"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Engineering features from history alone</a:t>
            </a:r>
            <a:endParaRPr lang="en-US" sz="3900" dirty="0"/>
          </a:p>
        </p:txBody>
      </p:sp>
      <p:sp>
        <p:nvSpPr>
          <p:cNvPr id="4" name="Text 2"/>
          <p:cNvSpPr/>
          <p:nvPr/>
        </p:nvSpPr>
        <p:spPr>
          <a:xfrm>
            <a:off x="990533" y="2184888"/>
            <a:ext cx="15304770" cy="839199"/>
          </a:xfrm>
          <a:prstGeom prst="rect">
            <a:avLst/>
          </a:prstGeom>
          <a:noFill/>
          <a:ln/>
        </p:spPr>
        <p:txBody>
          <a:bodyPr wrap="square" lIns="25400" tIns="25400" rIns="25400" bIns="25400" rtlCol="0" anchor="t">
            <a:normAutofit/>
          </a:bodyPr>
          <a:lstStyle/>
          <a:p>
            <a:pPr marL="0" indent="0" algn="l">
              <a:lnSpc>
                <a:spcPct val="145000"/>
              </a:lnSpc>
              <a:buNone/>
            </a:pPr>
            <a:r>
              <a:rPr lang="en-US" sz="2175" dirty="0">
                <a:solidFill>
                  <a:srgbClr val="5A5347"/>
                </a:solidFill>
                <a:latin typeface="Fira Sans" pitchFamily="34" charset="0"/>
                <a:ea typeface="Fira Sans" pitchFamily="34" charset="-122"/>
                <a:cs typeface="Fira Sans" pitchFamily="34" charset="-120"/>
              </a:rPr>
              <a:t>From each trial's </a:t>
            </a:r>
            <a:r>
              <a:rPr lang="en-US" sz="2175" b="1" dirty="0">
                <a:solidFill>
                  <a:srgbClr val="2A2520"/>
                </a:solidFill>
                <a:latin typeface="Fira Sans" pitchFamily="34" charset="0"/>
                <a:ea typeface="Fira Sans" pitchFamily="34" charset="-122"/>
                <a:cs typeface="Fira Sans" pitchFamily="34" charset="-120"/>
              </a:rPr>
              <a:t>past only</a:t>
            </a:r>
            <a:r>
              <a:rPr lang="en-US" sz="2175" dirty="0">
                <a:solidFill>
                  <a:srgbClr val="5A5347"/>
                </a:solidFill>
                <a:latin typeface="Fira Sans" pitchFamily="34" charset="0"/>
                <a:ea typeface="Fira Sans" pitchFamily="34" charset="-122"/>
                <a:cs typeface="Fira Sans" pitchFamily="34" charset="-120"/>
              </a:rPr>
              <a:t>, we built </a:t>
            </a:r>
            <a:r>
              <a:rPr lang="en-US" sz="2175" b="1" dirty="0">
                <a:solidFill>
                  <a:srgbClr val="2A2520"/>
                </a:solidFill>
                <a:latin typeface="Fira Sans" pitchFamily="34" charset="0"/>
                <a:ea typeface="Fira Sans" pitchFamily="34" charset="-122"/>
                <a:cs typeface="Fira Sans" pitchFamily="34" charset="-120"/>
              </a:rPr>
              <a:t>14 candidate features </a:t>
            </a:r>
            <a:r>
              <a:rPr lang="en-US" sz="2175" dirty="0">
                <a:solidFill>
                  <a:srgbClr val="5A5347"/>
                </a:solidFill>
                <a:latin typeface="Fira Sans" pitchFamily="34" charset="0"/>
                <a:ea typeface="Fira Sans" pitchFamily="34" charset="-122"/>
                <a:cs typeface="Fira Sans" pitchFamily="34" charset="-120"/>
              </a:rPr>
              <a:t>— just what the participant could actually have known: their own previous choices and the rewards they observed </a:t>
            </a:r>
            <a:r>
              <a:rPr lang="en-US" sz="2175" dirty="0">
                <a:solidFill>
                  <a:srgbClr val="897F6E"/>
                </a:solidFill>
                <a:latin typeface="Fira Sans" pitchFamily="34" charset="0"/>
                <a:ea typeface="Fira Sans" pitchFamily="34" charset="-122"/>
                <a:cs typeface="Fira Sans" pitchFamily="34" charset="-120"/>
              </a:rPr>
              <a:t>(partial feedback — the unseen reward is never used).</a:t>
            </a:r>
            <a:endParaRPr lang="en-US" sz="2175" dirty="0"/>
          </a:p>
        </p:txBody>
      </p:sp>
      <p:sp>
        <p:nvSpPr>
          <p:cNvPr id="5" name="Shape 3"/>
          <p:cNvSpPr/>
          <p:nvPr/>
        </p:nvSpPr>
        <p:spPr>
          <a:xfrm>
            <a:off x="990533" y="3309804"/>
            <a:ext cx="5283178" cy="5078157"/>
          </a:xfrm>
          <a:prstGeom prst="roundRect">
            <a:avLst>
              <a:gd name="adj" fmla="val 3376"/>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sp>
        <p:nvSpPr>
          <p:cNvPr id="6" name="Text 4"/>
          <p:cNvSpPr/>
          <p:nvPr/>
        </p:nvSpPr>
        <p:spPr>
          <a:xfrm>
            <a:off x="1282678" y="3620932"/>
            <a:ext cx="5168778" cy="30666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2F6B7A"/>
                </a:solidFill>
                <a:latin typeface="Fira Sans" pitchFamily="34" charset="0"/>
                <a:ea typeface="Fira Sans" pitchFamily="34" charset="-122"/>
                <a:cs typeface="Fira Sans" pitchFamily="34" charset="-120"/>
              </a:rPr>
              <a:t>CHOICE HISTORY</a:t>
            </a:r>
            <a:endParaRPr lang="en-US" sz="1800" dirty="0"/>
          </a:p>
        </p:txBody>
      </p:sp>
      <p:sp>
        <p:nvSpPr>
          <p:cNvPr id="7" name="Shape 5"/>
          <p:cNvSpPr/>
          <p:nvPr/>
        </p:nvSpPr>
        <p:spPr>
          <a:xfrm>
            <a:off x="1282678" y="4060947"/>
            <a:ext cx="4698889" cy="9525"/>
          </a:xfrm>
          <a:prstGeom prst="rect">
            <a:avLst/>
          </a:prstGeom>
          <a:solidFill>
            <a:srgbClr val="E4DBC9"/>
          </a:solidFill>
          <a:ln/>
        </p:spPr>
        <p:txBody>
          <a:bodyPr/>
          <a:lstStyle/>
          <a:p>
            <a:endParaRPr lang="he-IL"/>
          </a:p>
        </p:txBody>
      </p:sp>
      <p:sp>
        <p:nvSpPr>
          <p:cNvPr id="8" name="Text 6"/>
          <p:cNvSpPr/>
          <p:nvPr/>
        </p:nvSpPr>
        <p:spPr>
          <a:xfrm>
            <a:off x="1282678" y="4241889"/>
            <a:ext cx="4839856" cy="830607"/>
          </a:xfrm>
          <a:prstGeom prst="rect">
            <a:avLst/>
          </a:prstGeom>
          <a:noFill/>
          <a:ln/>
        </p:spPr>
        <p:txBody>
          <a:bodyPr wrap="square" lIns="25400" tIns="25400" rIns="25400" bIns="25400" rtlCol="0" anchor="t">
            <a:normAutofit/>
          </a:bodyPr>
          <a:lstStyle/>
          <a:p>
            <a:pPr marL="0" indent="0" algn="l">
              <a:lnSpc>
                <a:spcPct val="160000"/>
              </a:lnSpc>
              <a:buNone/>
            </a:pPr>
            <a:r>
              <a:rPr lang="en-US" sz="1950" dirty="0">
                <a:solidFill>
                  <a:srgbClr val="3F3A32"/>
                </a:solidFill>
                <a:latin typeface="Fira Sans" pitchFamily="34" charset="0"/>
                <a:ea typeface="Fira Sans" pitchFamily="34" charset="-122"/>
                <a:cs typeface="Fira Sans" pitchFamily="34" charset="-120"/>
              </a:rPr>
              <a:t>Previous biased / unbiased choices Repeat-streaks</a:t>
            </a:r>
            <a:endParaRPr lang="en-US" sz="1950" dirty="0"/>
          </a:p>
        </p:txBody>
      </p:sp>
      <p:sp>
        <p:nvSpPr>
          <p:cNvPr id="9" name="Shape 7"/>
          <p:cNvSpPr/>
          <p:nvPr/>
        </p:nvSpPr>
        <p:spPr>
          <a:xfrm>
            <a:off x="6502311" y="3309804"/>
            <a:ext cx="5283278" cy="5078157"/>
          </a:xfrm>
          <a:prstGeom prst="roundRect">
            <a:avLst>
              <a:gd name="adj" fmla="val 3376"/>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sp>
        <p:nvSpPr>
          <p:cNvPr id="10" name="Text 8"/>
          <p:cNvSpPr/>
          <p:nvPr/>
        </p:nvSpPr>
        <p:spPr>
          <a:xfrm>
            <a:off x="6794456" y="3620932"/>
            <a:ext cx="5168888" cy="30666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2F6B7A"/>
                </a:solidFill>
                <a:latin typeface="Fira Sans" pitchFamily="34" charset="0"/>
                <a:ea typeface="Fira Sans" pitchFamily="34" charset="-122"/>
                <a:cs typeface="Fira Sans" pitchFamily="34" charset="-120"/>
              </a:rPr>
              <a:t>REWARD HISTORY</a:t>
            </a:r>
            <a:endParaRPr lang="en-US" sz="1800" dirty="0"/>
          </a:p>
        </p:txBody>
      </p:sp>
      <p:sp>
        <p:nvSpPr>
          <p:cNvPr id="11" name="Shape 9"/>
          <p:cNvSpPr/>
          <p:nvPr/>
        </p:nvSpPr>
        <p:spPr>
          <a:xfrm>
            <a:off x="6794456" y="4060947"/>
            <a:ext cx="4698989" cy="9525"/>
          </a:xfrm>
          <a:prstGeom prst="rect">
            <a:avLst/>
          </a:prstGeom>
          <a:solidFill>
            <a:srgbClr val="E4DBC9"/>
          </a:solidFill>
          <a:ln/>
        </p:spPr>
        <p:txBody>
          <a:bodyPr/>
          <a:lstStyle/>
          <a:p>
            <a:endParaRPr lang="he-IL"/>
          </a:p>
        </p:txBody>
      </p:sp>
      <p:sp>
        <p:nvSpPr>
          <p:cNvPr id="12" name="Text 10"/>
          <p:cNvSpPr/>
          <p:nvPr/>
        </p:nvSpPr>
        <p:spPr>
          <a:xfrm>
            <a:off x="6794456" y="4241889"/>
            <a:ext cx="4839958" cy="830607"/>
          </a:xfrm>
          <a:prstGeom prst="rect">
            <a:avLst/>
          </a:prstGeom>
          <a:noFill/>
          <a:ln/>
        </p:spPr>
        <p:txBody>
          <a:bodyPr wrap="square" lIns="25400" tIns="25400" rIns="25400" bIns="25400" rtlCol="0" anchor="t">
            <a:normAutofit/>
          </a:bodyPr>
          <a:lstStyle/>
          <a:p>
            <a:pPr marL="0" indent="0" algn="l">
              <a:lnSpc>
                <a:spcPct val="160000"/>
              </a:lnSpc>
              <a:buNone/>
            </a:pPr>
            <a:r>
              <a:rPr lang="en-US" sz="1950" dirty="0">
                <a:solidFill>
                  <a:srgbClr val="3F3A32"/>
                </a:solidFill>
                <a:latin typeface="Fira Sans" pitchFamily="34" charset="0"/>
                <a:ea typeface="Fira Sans" pitchFamily="34" charset="-122"/>
                <a:cs typeface="Fira Sans" pitchFamily="34" charset="-120"/>
              </a:rPr>
              <a:t>Rewards 1–3 trials back Recent reward rate</a:t>
            </a:r>
            <a:endParaRPr lang="en-US" sz="1950" dirty="0"/>
          </a:p>
        </p:txBody>
      </p:sp>
      <p:sp>
        <p:nvSpPr>
          <p:cNvPr id="13" name="Shape 11"/>
          <p:cNvSpPr/>
          <p:nvPr/>
        </p:nvSpPr>
        <p:spPr>
          <a:xfrm>
            <a:off x="12014189" y="3309804"/>
            <a:ext cx="5283278" cy="5078157"/>
          </a:xfrm>
          <a:prstGeom prst="roundRect">
            <a:avLst>
              <a:gd name="adj" fmla="val 3376"/>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sp>
        <p:nvSpPr>
          <p:cNvPr id="14" name="Text 12"/>
          <p:cNvSpPr/>
          <p:nvPr/>
        </p:nvSpPr>
        <p:spPr>
          <a:xfrm>
            <a:off x="12306334" y="3620932"/>
            <a:ext cx="5168888" cy="30666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2F6B7A"/>
                </a:solidFill>
                <a:latin typeface="Fira Sans" pitchFamily="34" charset="0"/>
                <a:ea typeface="Fira Sans" pitchFamily="34" charset="-122"/>
                <a:cs typeface="Fira Sans" pitchFamily="34" charset="-120"/>
              </a:rPr>
              <a:t>POSITION IN TIME</a:t>
            </a:r>
            <a:endParaRPr lang="en-US" sz="1800" dirty="0"/>
          </a:p>
        </p:txBody>
      </p:sp>
      <p:sp>
        <p:nvSpPr>
          <p:cNvPr id="15" name="Shape 13"/>
          <p:cNvSpPr/>
          <p:nvPr/>
        </p:nvSpPr>
        <p:spPr>
          <a:xfrm>
            <a:off x="12306334" y="4060947"/>
            <a:ext cx="4698989" cy="9525"/>
          </a:xfrm>
          <a:prstGeom prst="rect">
            <a:avLst/>
          </a:prstGeom>
          <a:solidFill>
            <a:srgbClr val="E4DBC9"/>
          </a:solidFill>
          <a:ln/>
        </p:spPr>
        <p:txBody>
          <a:bodyPr/>
          <a:lstStyle/>
          <a:p>
            <a:endParaRPr lang="he-IL"/>
          </a:p>
        </p:txBody>
      </p:sp>
      <p:sp>
        <p:nvSpPr>
          <p:cNvPr id="16" name="Text 14"/>
          <p:cNvSpPr/>
          <p:nvPr/>
        </p:nvSpPr>
        <p:spPr>
          <a:xfrm>
            <a:off x="12306334" y="4241889"/>
            <a:ext cx="4839958" cy="830607"/>
          </a:xfrm>
          <a:prstGeom prst="rect">
            <a:avLst/>
          </a:prstGeom>
          <a:noFill/>
          <a:ln/>
        </p:spPr>
        <p:txBody>
          <a:bodyPr wrap="square" lIns="25400" tIns="25400" rIns="25400" bIns="25400" rtlCol="0" anchor="t">
            <a:normAutofit/>
          </a:bodyPr>
          <a:lstStyle/>
          <a:p>
            <a:pPr marL="0" indent="0" algn="l">
              <a:lnSpc>
                <a:spcPct val="160000"/>
              </a:lnSpc>
              <a:buNone/>
            </a:pPr>
            <a:r>
              <a:rPr lang="en-US" sz="1950" dirty="0">
                <a:solidFill>
                  <a:srgbClr val="3F3A32"/>
                </a:solidFill>
                <a:latin typeface="Fira Sans" pitchFamily="34" charset="0"/>
                <a:ea typeface="Fira Sans" pitchFamily="34" charset="-122"/>
                <a:cs typeface="Fira Sans" pitchFamily="34" charset="-120"/>
              </a:rPr>
              <a:t>Trial number Running bias rate</a:t>
            </a:r>
            <a:endParaRPr lang="en-US" sz="1950" dirty="0"/>
          </a:p>
        </p:txBody>
      </p:sp>
      <p:sp>
        <p:nvSpPr>
          <p:cNvPr id="17" name="Shape 15"/>
          <p:cNvSpPr/>
          <p:nvPr/>
        </p:nvSpPr>
        <p:spPr>
          <a:xfrm>
            <a:off x="990533" y="8635545"/>
            <a:ext cx="25578" cy="1079955"/>
          </a:xfrm>
          <a:prstGeom prst="rect">
            <a:avLst/>
          </a:prstGeom>
          <a:solidFill>
            <a:srgbClr val="2F6B7A"/>
          </a:solidFill>
          <a:ln/>
        </p:spPr>
        <p:txBody>
          <a:bodyPr/>
          <a:lstStyle/>
          <a:p>
            <a:endParaRPr lang="he-IL"/>
          </a:p>
        </p:txBody>
      </p:sp>
      <p:sp>
        <p:nvSpPr>
          <p:cNvPr id="18" name="Text 16"/>
          <p:cNvSpPr/>
          <p:nvPr/>
        </p:nvSpPr>
        <p:spPr>
          <a:xfrm>
            <a:off x="1244711" y="8635545"/>
            <a:ext cx="3546586" cy="111805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2A2520"/>
                </a:solidFill>
                <a:latin typeface="Fira Sans" pitchFamily="34" charset="0"/>
                <a:ea typeface="Fira Sans" pitchFamily="34" charset="-122"/>
                <a:cs typeface="Fira Sans" pitchFamily="34" charset="-120"/>
              </a:rPr>
              <a:t>Each feature ranked </a:t>
            </a:r>
            <a:r>
              <a:rPr lang="en-US" sz="2025" b="1" dirty="0">
                <a:solidFill>
                  <a:srgbClr val="2A2520"/>
                </a:solidFill>
                <a:latin typeface="Fira Sans" pitchFamily="34" charset="0"/>
                <a:ea typeface="Fira Sans" pitchFamily="34" charset="-122"/>
                <a:cs typeface="Fira Sans" pitchFamily="34" charset="-120"/>
              </a:rPr>
              <a:t>three independent ways </a:t>
            </a:r>
            <a:r>
              <a:rPr lang="en-US" sz="2025" dirty="0">
                <a:solidFill>
                  <a:srgbClr val="2A2520"/>
                </a:solidFill>
                <a:latin typeface="Fira Sans" pitchFamily="34" charset="0"/>
                <a:ea typeface="Fira Sans" pitchFamily="34" charset="-122"/>
                <a:cs typeface="Fira Sans" pitchFamily="34" charset="-120"/>
              </a:rPr>
              <a:t>— </a:t>
            </a:r>
            <a:r>
              <a:rPr lang="en-US" sz="2025" b="1" dirty="0">
                <a:solidFill>
                  <a:srgbClr val="2F6B7A"/>
                </a:solidFill>
                <a:latin typeface="Fira Sans" pitchFamily="34" charset="0"/>
                <a:ea typeface="Fira Sans" pitchFamily="34" charset="-122"/>
                <a:cs typeface="Fira Sans" pitchFamily="34" charset="-120"/>
              </a:rPr>
              <a:t>they agreed.</a:t>
            </a:r>
            <a:endParaRPr lang="en-US" sz="2025" dirty="0"/>
          </a:p>
        </p:txBody>
      </p:sp>
      <p:sp>
        <p:nvSpPr>
          <p:cNvPr id="19" name="Shape 17"/>
          <p:cNvSpPr/>
          <p:nvPr/>
        </p:nvSpPr>
        <p:spPr>
          <a:xfrm>
            <a:off x="4954665" y="8939579"/>
            <a:ext cx="2234845" cy="47178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20" name="Text 18"/>
          <p:cNvSpPr/>
          <p:nvPr/>
        </p:nvSpPr>
        <p:spPr>
          <a:xfrm>
            <a:off x="5170609" y="9041223"/>
            <a:ext cx="1879156" cy="306598"/>
          </a:xfrm>
          <a:prstGeom prst="rect">
            <a:avLst/>
          </a:prstGeom>
          <a:noFill/>
          <a:ln/>
        </p:spPr>
        <p:txBody>
          <a:bodyPr wrap="square" lIns="25400" tIns="25400" rIns="25400" bIns="25400" rtlCol="0" anchor="t">
            <a:normAutofit/>
          </a:bodyPr>
          <a:lstStyle/>
          <a:p>
            <a:pPr marL="0" indent="0" algn="l">
              <a:buNone/>
            </a:pPr>
            <a:r>
              <a:rPr lang="en-US" sz="1800" dirty="0">
                <a:solidFill>
                  <a:srgbClr val="5A5347"/>
                </a:solidFill>
                <a:latin typeface="Fira Sans" pitchFamily="34" charset="0"/>
                <a:ea typeface="Fira Sans" pitchFamily="34" charset="-122"/>
                <a:cs typeface="Fira Sans" pitchFamily="34" charset="-120"/>
              </a:rPr>
              <a:t>t-test + Cohen's d</a:t>
            </a:r>
            <a:endParaRPr lang="en-US" sz="1800" dirty="0"/>
          </a:p>
        </p:txBody>
      </p:sp>
      <p:sp>
        <p:nvSpPr>
          <p:cNvPr id="21" name="Shape 19"/>
          <p:cNvSpPr/>
          <p:nvPr/>
        </p:nvSpPr>
        <p:spPr>
          <a:xfrm>
            <a:off x="7322793" y="8939579"/>
            <a:ext cx="3122968" cy="47178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22" name="Text 20"/>
          <p:cNvSpPr/>
          <p:nvPr/>
        </p:nvSpPr>
        <p:spPr>
          <a:xfrm>
            <a:off x="7538738" y="9041223"/>
            <a:ext cx="2784768" cy="306598"/>
          </a:xfrm>
          <a:prstGeom prst="rect">
            <a:avLst/>
          </a:prstGeom>
          <a:noFill/>
          <a:ln/>
        </p:spPr>
        <p:txBody>
          <a:bodyPr wrap="square" lIns="25400" tIns="25400" rIns="25400" bIns="25400" rtlCol="0" anchor="t">
            <a:normAutofit/>
          </a:bodyPr>
          <a:lstStyle/>
          <a:p>
            <a:pPr marL="0" indent="0" algn="l">
              <a:buNone/>
            </a:pPr>
            <a:r>
              <a:rPr lang="en-US" sz="1800" dirty="0">
                <a:solidFill>
                  <a:srgbClr val="5A5347"/>
                </a:solidFill>
                <a:latin typeface="Fira Sans" pitchFamily="34" charset="0"/>
                <a:ea typeface="Fira Sans" pitchFamily="34" charset="-122"/>
                <a:cs typeface="Fira Sans" pitchFamily="34" charset="-120"/>
              </a:rPr>
              <a:t>Random Forest · 300 trees</a:t>
            </a:r>
            <a:endParaRPr lang="en-US" sz="1800" dirty="0"/>
          </a:p>
        </p:txBody>
      </p:sp>
      <p:sp>
        <p:nvSpPr>
          <p:cNvPr id="23" name="Shape 21"/>
          <p:cNvSpPr/>
          <p:nvPr/>
        </p:nvSpPr>
        <p:spPr>
          <a:xfrm>
            <a:off x="10579044" y="8939579"/>
            <a:ext cx="2660273" cy="47178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24" name="Text 22"/>
          <p:cNvSpPr/>
          <p:nvPr/>
        </p:nvSpPr>
        <p:spPr>
          <a:xfrm>
            <a:off x="10794988" y="9041223"/>
            <a:ext cx="2308192" cy="306598"/>
          </a:xfrm>
          <a:prstGeom prst="rect">
            <a:avLst/>
          </a:prstGeom>
          <a:noFill/>
          <a:ln/>
        </p:spPr>
        <p:txBody>
          <a:bodyPr wrap="square" lIns="25400" tIns="25400" rIns="25400" bIns="25400" rtlCol="0" anchor="t">
            <a:normAutofit/>
          </a:bodyPr>
          <a:lstStyle/>
          <a:p>
            <a:pPr marL="0" indent="0" algn="l">
              <a:buNone/>
            </a:pPr>
            <a:r>
              <a:rPr lang="en-US" sz="1800" dirty="0">
                <a:solidFill>
                  <a:srgbClr val="5A5347"/>
                </a:solidFill>
                <a:latin typeface="Fira Sans" pitchFamily="34" charset="0"/>
                <a:ea typeface="Fira Sans" pitchFamily="34" charset="-122"/>
                <a:cs typeface="Fira Sans" pitchFamily="34" charset="-120"/>
              </a:rPr>
              <a:t>Shallow decision tree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8285871"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HYPOTHESIS 2 · BEHAVIORAL HISTORY</a:t>
            </a:r>
            <a:endParaRPr lang="en-US" sz="1875" dirty="0"/>
          </a:p>
        </p:txBody>
      </p:sp>
      <p:sp>
        <p:nvSpPr>
          <p:cNvPr id="3" name="Text 1"/>
          <p:cNvSpPr/>
          <p:nvPr/>
        </p:nvSpPr>
        <p:spPr>
          <a:xfrm>
            <a:off x="990533" y="1335432"/>
            <a:ext cx="7758588" cy="1127547"/>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A perfect correlate - that we excluded on principle</a:t>
            </a:r>
            <a:endParaRPr lang="en-US" sz="3900" dirty="0"/>
          </a:p>
        </p:txBody>
      </p:sp>
      <p:sp>
        <p:nvSpPr>
          <p:cNvPr id="4" name="Shape 2"/>
          <p:cNvSpPr/>
          <p:nvPr/>
        </p:nvSpPr>
        <p:spPr>
          <a:xfrm>
            <a:off x="990533" y="2767778"/>
            <a:ext cx="9557138" cy="6947721"/>
          </a:xfrm>
          <a:prstGeom prst="roundRect">
            <a:avLst>
              <a:gd name="adj" fmla="val 2468"/>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pic>
        <p:nvPicPr>
          <p:cNvPr id="5" name="Image 0" descr="preencoded.png"/>
          <p:cNvPicPr>
            <a:picLocks noChangeAspect="1"/>
          </p:cNvPicPr>
          <p:nvPr/>
        </p:nvPicPr>
        <p:blipFill>
          <a:blip r:embed="rId3"/>
          <a:srcRect t="-14379" b="-14379"/>
          <a:stretch/>
        </p:blipFill>
        <p:spPr>
          <a:xfrm>
            <a:off x="1282678" y="3059923"/>
            <a:ext cx="8972849" cy="6363433"/>
          </a:xfrm>
          <a:prstGeom prst="rect">
            <a:avLst/>
          </a:prstGeom>
        </p:spPr>
      </p:pic>
      <p:sp>
        <p:nvSpPr>
          <p:cNvPr id="6" name="Text 3"/>
          <p:cNvSpPr/>
          <p:nvPr/>
        </p:nvSpPr>
        <p:spPr>
          <a:xfrm>
            <a:off x="11062021" y="3986213"/>
            <a:ext cx="6422508" cy="1281113"/>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5A5347"/>
                </a:solidFill>
                <a:latin typeface="Fira Sans" pitchFamily="34" charset="0"/>
                <a:ea typeface="Fira Sans" pitchFamily="34" charset="-122"/>
                <a:cs typeface="Fira Sans" pitchFamily="34" charset="-120"/>
              </a:rPr>
              <a:t>A prior physical side-switch is the strongest correlate — </a:t>
            </a:r>
            <a:r>
              <a:rPr lang="en-US" sz="2250" b="1" dirty="0">
                <a:solidFill>
                  <a:srgbClr val="2A2520"/>
                </a:solidFill>
                <a:latin typeface="Fira Sans" pitchFamily="34" charset="0"/>
                <a:ea typeface="Fira Sans" pitchFamily="34" charset="-122"/>
                <a:cs typeface="Fira Sans" pitchFamily="34" charset="-120"/>
              </a:rPr>
              <a:t>Cohen’s d = 2.15 </a:t>
            </a:r>
            <a:r>
              <a:rPr lang="en-US" sz="2250" dirty="0">
                <a:solidFill>
                  <a:srgbClr val="5A5347"/>
                </a:solidFill>
                <a:latin typeface="Fira Sans" pitchFamily="34" charset="0"/>
                <a:ea typeface="Fira Sans" pitchFamily="34" charset="-122"/>
                <a:cs typeface="Fira Sans" pitchFamily="34" charset="-120"/>
              </a:rPr>
              <a:t>. Too good to be true.</a:t>
            </a:r>
            <a:endParaRPr lang="en-US" sz="2250" dirty="0"/>
          </a:p>
        </p:txBody>
      </p:sp>
      <p:sp>
        <p:nvSpPr>
          <p:cNvPr id="7" name="Shape 4"/>
          <p:cNvSpPr/>
          <p:nvPr/>
        </p:nvSpPr>
        <p:spPr>
          <a:xfrm>
            <a:off x="11062021" y="5476808"/>
            <a:ext cx="1521469" cy="452804"/>
          </a:xfrm>
          <a:prstGeom prst="roundRect">
            <a:avLst>
              <a:gd name="adj" fmla="val 21036"/>
            </a:avLst>
          </a:prstGeom>
          <a:solidFill>
            <a:srgbClr val="E6EEF0"/>
          </a:solidFill>
          <a:ln w="6394">
            <a:solidFill>
              <a:srgbClr val="CFE0E3"/>
            </a:solidFill>
            <a:prstDash val="solid"/>
          </a:ln>
        </p:spPr>
        <p:txBody>
          <a:bodyPr/>
          <a:lstStyle/>
          <a:p>
            <a:endParaRPr lang="he-IL"/>
          </a:p>
        </p:txBody>
      </p:sp>
      <p:sp>
        <p:nvSpPr>
          <p:cNvPr id="8" name="Text 5"/>
          <p:cNvSpPr/>
          <p:nvPr/>
        </p:nvSpPr>
        <p:spPr>
          <a:xfrm>
            <a:off x="11220816" y="5559403"/>
            <a:ext cx="1280080" cy="325715"/>
          </a:xfrm>
          <a:prstGeom prst="rect">
            <a:avLst/>
          </a:prstGeom>
          <a:noFill/>
          <a:ln/>
        </p:spPr>
        <p:txBody>
          <a:bodyPr wrap="square" lIns="25400" tIns="25400" rIns="25400" bIns="25400" rtlCol="0" anchor="t">
            <a:normAutofit/>
          </a:bodyPr>
          <a:lstStyle/>
          <a:p>
            <a:pPr marL="0" indent="0" algn="l">
              <a:buNone/>
            </a:pPr>
            <a:r>
              <a:rPr lang="en-US" sz="1875" dirty="0">
                <a:solidFill>
                  <a:srgbClr val="2F6B7A"/>
                </a:solidFill>
                <a:latin typeface="Fira Sans" pitchFamily="34" charset="0"/>
                <a:ea typeface="Fira Sans" pitchFamily="34" charset="-122"/>
                <a:cs typeface="Fira Sans" pitchFamily="34" charset="-120"/>
              </a:rPr>
              <a:t>side switch</a:t>
            </a:r>
            <a:endParaRPr lang="en-US" sz="1875" dirty="0"/>
          </a:p>
        </p:txBody>
      </p:sp>
      <p:sp>
        <p:nvSpPr>
          <p:cNvPr id="9" name="Text 6"/>
          <p:cNvSpPr/>
          <p:nvPr/>
        </p:nvSpPr>
        <p:spPr>
          <a:xfrm>
            <a:off x="12697791" y="5559336"/>
            <a:ext cx="314292" cy="325848"/>
          </a:xfrm>
          <a:prstGeom prst="rect">
            <a:avLst/>
          </a:prstGeom>
          <a:noFill/>
          <a:ln/>
        </p:spPr>
        <p:txBody>
          <a:bodyPr wrap="square" lIns="25400" tIns="25400" rIns="25400" bIns="25400" rtlCol="0" anchor="t">
            <a:normAutofit/>
          </a:bodyPr>
          <a:lstStyle/>
          <a:p>
            <a:pPr marL="0" indent="0" algn="l">
              <a:buNone/>
            </a:pPr>
            <a:r>
              <a:rPr lang="en-US" sz="1875" dirty="0">
                <a:solidFill>
                  <a:srgbClr val="BFA06E"/>
                </a:solidFill>
                <a:latin typeface="Fira Sans" pitchFamily="34" charset="0"/>
                <a:ea typeface="Fira Sans" pitchFamily="34" charset="-122"/>
                <a:cs typeface="Fira Sans" pitchFamily="34" charset="-120"/>
              </a:rPr>
              <a:t>→</a:t>
            </a:r>
            <a:endParaRPr lang="en-US" sz="1875" dirty="0"/>
          </a:p>
        </p:txBody>
      </p:sp>
      <p:sp>
        <p:nvSpPr>
          <p:cNvPr id="10" name="Shape 7"/>
          <p:cNvSpPr/>
          <p:nvPr/>
        </p:nvSpPr>
        <p:spPr>
          <a:xfrm>
            <a:off x="13050183" y="5476808"/>
            <a:ext cx="2329662" cy="452804"/>
          </a:xfrm>
          <a:prstGeom prst="roundRect">
            <a:avLst>
              <a:gd name="adj" fmla="val 21036"/>
            </a:avLst>
          </a:prstGeom>
          <a:solidFill>
            <a:srgbClr val="FBF8F2"/>
          </a:solidFill>
          <a:ln w="6394">
            <a:solidFill>
              <a:srgbClr val="E4DBC9"/>
            </a:solidFill>
            <a:prstDash val="solid"/>
          </a:ln>
        </p:spPr>
        <p:txBody>
          <a:bodyPr/>
          <a:lstStyle/>
          <a:p>
            <a:endParaRPr lang="he-IL"/>
          </a:p>
        </p:txBody>
      </p:sp>
      <p:sp>
        <p:nvSpPr>
          <p:cNvPr id="11" name="Text 8"/>
          <p:cNvSpPr/>
          <p:nvPr/>
        </p:nvSpPr>
        <p:spPr>
          <a:xfrm>
            <a:off x="13208977" y="5559403"/>
            <a:ext cx="2088273" cy="325715"/>
          </a:xfrm>
          <a:prstGeom prst="rect">
            <a:avLst/>
          </a:prstGeom>
          <a:noFill/>
          <a:ln/>
        </p:spPr>
        <p:txBody>
          <a:bodyPr wrap="square" lIns="25400" tIns="25400" rIns="25400" bIns="25400" rtlCol="0" anchor="t">
            <a:normAutofit/>
          </a:bodyPr>
          <a:lstStyle/>
          <a:p>
            <a:pPr marL="0" indent="0" algn="l">
              <a:buNone/>
            </a:pPr>
            <a:r>
              <a:rPr lang="en-US" sz="1875" dirty="0">
                <a:solidFill>
                  <a:srgbClr val="5A5347"/>
                </a:solidFill>
                <a:latin typeface="Fira Sans" pitchFamily="34" charset="0"/>
                <a:ea typeface="Fira Sans" pitchFamily="34" charset="-122"/>
                <a:cs typeface="Fira Sans" pitchFamily="34" charset="-120"/>
              </a:rPr>
              <a:t>inertia mechanism</a:t>
            </a:r>
            <a:endParaRPr lang="en-US" sz="1875" dirty="0"/>
          </a:p>
        </p:txBody>
      </p:sp>
      <p:sp>
        <p:nvSpPr>
          <p:cNvPr id="12" name="Text 9"/>
          <p:cNvSpPr/>
          <p:nvPr/>
        </p:nvSpPr>
        <p:spPr>
          <a:xfrm>
            <a:off x="15494144" y="5559336"/>
            <a:ext cx="314292" cy="325848"/>
          </a:xfrm>
          <a:prstGeom prst="rect">
            <a:avLst/>
          </a:prstGeom>
          <a:noFill/>
          <a:ln/>
        </p:spPr>
        <p:txBody>
          <a:bodyPr wrap="square" lIns="25400" tIns="25400" rIns="25400" bIns="25400" rtlCol="0" anchor="t">
            <a:normAutofit/>
          </a:bodyPr>
          <a:lstStyle/>
          <a:p>
            <a:pPr marL="0" indent="0" algn="l">
              <a:buNone/>
            </a:pPr>
            <a:r>
              <a:rPr lang="en-US" sz="1875" dirty="0">
                <a:solidFill>
                  <a:srgbClr val="BFA06E"/>
                </a:solidFill>
                <a:latin typeface="Fira Sans" pitchFamily="34" charset="0"/>
                <a:ea typeface="Fira Sans" pitchFamily="34" charset="-122"/>
                <a:cs typeface="Fira Sans" pitchFamily="34" charset="-120"/>
              </a:rPr>
              <a:t>→</a:t>
            </a:r>
            <a:endParaRPr lang="en-US" sz="1875" dirty="0"/>
          </a:p>
        </p:txBody>
      </p:sp>
      <p:sp>
        <p:nvSpPr>
          <p:cNvPr id="13" name="Shape 10"/>
          <p:cNvSpPr/>
          <p:nvPr/>
        </p:nvSpPr>
        <p:spPr>
          <a:xfrm>
            <a:off x="15846536" y="5476808"/>
            <a:ext cx="901811" cy="452804"/>
          </a:xfrm>
          <a:prstGeom prst="roundRect">
            <a:avLst>
              <a:gd name="adj" fmla="val 21036"/>
            </a:avLst>
          </a:prstGeom>
          <a:solidFill>
            <a:srgbClr val="F6E7E1"/>
          </a:solidFill>
          <a:ln w="6394">
            <a:solidFill>
              <a:srgbClr val="E9CABF"/>
            </a:solidFill>
            <a:prstDash val="solid"/>
          </a:ln>
        </p:spPr>
        <p:txBody>
          <a:bodyPr/>
          <a:lstStyle/>
          <a:p>
            <a:endParaRPr lang="he-IL"/>
          </a:p>
        </p:txBody>
      </p:sp>
      <p:sp>
        <p:nvSpPr>
          <p:cNvPr id="14" name="Text 11"/>
          <p:cNvSpPr/>
          <p:nvPr/>
        </p:nvSpPr>
        <p:spPr>
          <a:xfrm>
            <a:off x="16005331" y="5559403"/>
            <a:ext cx="660422" cy="325715"/>
          </a:xfrm>
          <a:prstGeom prst="rect">
            <a:avLst/>
          </a:prstGeom>
          <a:noFill/>
          <a:ln/>
        </p:spPr>
        <p:txBody>
          <a:bodyPr wrap="square" lIns="25400" tIns="25400" rIns="25400" bIns="25400" rtlCol="0" anchor="t">
            <a:normAutofit/>
          </a:bodyPr>
          <a:lstStyle/>
          <a:p>
            <a:pPr marL="0" indent="0" algn="l">
              <a:buNone/>
            </a:pPr>
            <a:r>
              <a:rPr lang="en-US" sz="1875" dirty="0">
                <a:solidFill>
                  <a:srgbClr val="B3402F"/>
                </a:solidFill>
                <a:latin typeface="Fira Sans" pitchFamily="34" charset="0"/>
                <a:ea typeface="Fira Sans" pitchFamily="34" charset="-122"/>
                <a:cs typeface="Fira Sans" pitchFamily="34" charset="-120"/>
              </a:rPr>
              <a:t>low p</a:t>
            </a:r>
            <a:endParaRPr lang="en-US" sz="1875" dirty="0"/>
          </a:p>
        </p:txBody>
      </p:sp>
      <p:sp>
        <p:nvSpPr>
          <p:cNvPr id="15" name="Shape 12"/>
          <p:cNvSpPr/>
          <p:nvPr/>
        </p:nvSpPr>
        <p:spPr>
          <a:xfrm>
            <a:off x="11062021" y="6177196"/>
            <a:ext cx="25578" cy="2319870"/>
          </a:xfrm>
          <a:prstGeom prst="rect">
            <a:avLst/>
          </a:prstGeom>
          <a:solidFill>
            <a:srgbClr val="B3402F"/>
          </a:solidFill>
          <a:ln/>
        </p:spPr>
        <p:txBody>
          <a:bodyPr/>
          <a:lstStyle/>
          <a:p>
            <a:endParaRPr lang="he-IL"/>
          </a:p>
        </p:txBody>
      </p:sp>
      <p:sp>
        <p:nvSpPr>
          <p:cNvPr id="16" name="Text 13"/>
          <p:cNvSpPr/>
          <p:nvPr/>
        </p:nvSpPr>
        <p:spPr>
          <a:xfrm>
            <a:off x="11297149" y="6177196"/>
            <a:ext cx="6187380" cy="235797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2A2520"/>
                </a:solidFill>
                <a:latin typeface="Fira Sans" pitchFamily="34" charset="0"/>
                <a:ea typeface="Fira Sans" pitchFamily="34" charset="-122"/>
                <a:cs typeface="Fira Sans" pitchFamily="34" charset="-120"/>
              </a:rPr>
              <a:t>The catch is </a:t>
            </a:r>
            <a:r>
              <a:rPr lang="en-US" sz="1800" b="1" dirty="0">
                <a:solidFill>
                  <a:srgbClr val="B3402F"/>
                </a:solidFill>
                <a:latin typeface="Fira Sans" pitchFamily="34" charset="0"/>
                <a:ea typeface="Fira Sans" pitchFamily="34" charset="-122"/>
                <a:cs typeface="Fira Sans" pitchFamily="34" charset="-120"/>
              </a:rPr>
              <a:t>leakage, not the model </a:t>
            </a:r>
            <a:r>
              <a:rPr lang="en-US" sz="1800" dirty="0">
                <a:solidFill>
                  <a:srgbClr val="2A2520"/>
                </a:solidFill>
                <a:latin typeface="Fira Sans" pitchFamily="34" charset="0"/>
                <a:ea typeface="Fira Sans" pitchFamily="34" charset="-122"/>
                <a:cs typeface="Fira Sans" pitchFamily="34" charset="-120"/>
              </a:rPr>
              <a:t>: a side-switch is a fact about the current choice, so it can't predict that same choice. But it's diagnostic gold — </a:t>
            </a:r>
            <a:r>
              <a:rPr lang="en-US" sz="1800" b="1" dirty="0">
                <a:solidFill>
                  <a:srgbClr val="2A2520"/>
                </a:solidFill>
                <a:latin typeface="Fira Sans" pitchFamily="34" charset="0"/>
                <a:ea typeface="Fira Sans" pitchFamily="34" charset="-122"/>
                <a:cs typeface="Fira Sans" pitchFamily="34" charset="-120"/>
              </a:rPr>
              <a:t>100% of surprises are switches </a:t>
            </a:r>
            <a:r>
              <a:rPr lang="en-US" sz="1800" dirty="0">
                <a:solidFill>
                  <a:srgbClr val="2A2520"/>
                </a:solidFill>
                <a:latin typeface="Fira Sans" pitchFamily="34" charset="0"/>
                <a:ea typeface="Fira Sans" pitchFamily="34" charset="-122"/>
                <a:cs typeface="Fira Sans" pitchFamily="34" charset="-120"/>
              </a:rPr>
              <a:t>, which pins the failure to one tunable parameter </a:t>
            </a:r>
            <a:r>
              <a:rPr lang="en-US" sz="1800" b="1" dirty="0">
                <a:solidFill>
                  <a:srgbClr val="2A2520"/>
                </a:solidFill>
                <a:latin typeface="Fira Sans" pitchFamily="34" charset="0"/>
                <a:ea typeface="Fira Sans" pitchFamily="34" charset="-122"/>
                <a:cs typeface="Fira Sans" pitchFamily="34" charset="-120"/>
              </a:rPr>
              <a:t>(inertia = 0.71) </a:t>
            </a:r>
            <a:r>
              <a:rPr lang="en-US" sz="1800" dirty="0">
                <a:solidFill>
                  <a:srgbClr val="2A2520"/>
                </a:solidFill>
                <a:latin typeface="Fira Sans" pitchFamily="34" charset="0"/>
                <a:ea typeface="Fira Sans" pitchFamily="34" charset="-122"/>
                <a:cs typeface="Fira Sans" pitchFamily="34" charset="-120"/>
              </a:rPr>
              <a:t>. I verified in CATIE's source: it's not “by definition,” it's that the inertia weight dominates — making it a target we can re-tune.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17937626"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HYPOTHESIS 2 · RESCUED</a:t>
            </a:r>
            <a:endParaRPr lang="en-US" sz="1875" dirty="0"/>
          </a:p>
        </p:txBody>
      </p:sp>
      <p:sp>
        <p:nvSpPr>
          <p:cNvPr id="3" name="Text 1"/>
          <p:cNvSpPr/>
          <p:nvPr/>
        </p:nvSpPr>
        <p:spPr>
          <a:xfrm>
            <a:off x="990533" y="1335432"/>
            <a:ext cx="17937626"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The same signal — without the leak</a:t>
            </a:r>
            <a:endParaRPr lang="en-US" sz="3900" dirty="0"/>
          </a:p>
        </p:txBody>
      </p:sp>
      <p:sp>
        <p:nvSpPr>
          <p:cNvPr id="4" name="Text 2"/>
          <p:cNvSpPr/>
          <p:nvPr/>
        </p:nvSpPr>
        <p:spPr>
          <a:xfrm>
            <a:off x="990533" y="2184888"/>
            <a:ext cx="15304770" cy="839199"/>
          </a:xfrm>
          <a:prstGeom prst="rect">
            <a:avLst/>
          </a:prstGeom>
          <a:noFill/>
          <a:ln/>
        </p:spPr>
        <p:txBody>
          <a:bodyPr wrap="square" lIns="25400" tIns="25400" rIns="25400" bIns="25400" rtlCol="0" anchor="t">
            <a:normAutofit/>
          </a:bodyPr>
          <a:lstStyle/>
          <a:p>
            <a:pPr marL="0" indent="0" algn="l">
              <a:lnSpc>
                <a:spcPct val="145000"/>
              </a:lnSpc>
              <a:buNone/>
            </a:pPr>
            <a:r>
              <a:rPr lang="en-US" sz="2175" dirty="0">
                <a:solidFill>
                  <a:srgbClr val="5A5347"/>
                </a:solidFill>
                <a:latin typeface="Fira Sans" pitchFamily="34" charset="0"/>
                <a:ea typeface="Fira Sans" pitchFamily="34" charset="-122"/>
                <a:cs typeface="Fira Sans" pitchFamily="34" charset="-120"/>
              </a:rPr>
              <a:t>We didn't discard the switch finding — we </a:t>
            </a:r>
            <a:r>
              <a:rPr lang="en-US" sz="2175" b="1" dirty="0">
                <a:solidFill>
                  <a:srgbClr val="2A2520"/>
                </a:solidFill>
                <a:latin typeface="Fira Sans" pitchFamily="34" charset="0"/>
                <a:ea typeface="Fira Sans" pitchFamily="34" charset="-122"/>
                <a:cs typeface="Fira Sans" pitchFamily="34" charset="-120"/>
              </a:rPr>
              <a:t>rebuilt </a:t>
            </a:r>
            <a:r>
              <a:rPr lang="en-US" sz="2175" dirty="0">
                <a:solidFill>
                  <a:srgbClr val="5A5347"/>
                </a:solidFill>
                <a:latin typeface="Fira Sans" pitchFamily="34" charset="0"/>
                <a:ea typeface="Fira Sans" pitchFamily="34" charset="-122"/>
                <a:cs typeface="Fira Sans" pitchFamily="34" charset="-120"/>
              </a:rPr>
              <a:t>it. Measure switching tendency from the </a:t>
            </a:r>
            <a:r>
              <a:rPr lang="en-US" sz="2175" b="1" dirty="0">
                <a:solidFill>
                  <a:srgbClr val="2A2520"/>
                </a:solidFill>
                <a:latin typeface="Fira Sans" pitchFamily="34" charset="0"/>
                <a:ea typeface="Fira Sans" pitchFamily="34" charset="-122"/>
                <a:cs typeface="Fira Sans" pitchFamily="34" charset="-120"/>
              </a:rPr>
              <a:t>past only </a:t>
            </a:r>
            <a:r>
              <a:rPr lang="en-US" sz="2175" dirty="0">
                <a:solidFill>
                  <a:srgbClr val="5A5347"/>
                </a:solidFill>
                <a:latin typeface="Fira Sans" pitchFamily="34" charset="0"/>
                <a:ea typeface="Fira Sans" pitchFamily="34" charset="-122"/>
                <a:cs typeface="Fira Sans" pitchFamily="34" charset="-120"/>
              </a:rPr>
              <a:t>(up to t−1), and it still predicts surprises:</a:t>
            </a:r>
            <a:endParaRPr lang="en-US" sz="2175" dirty="0"/>
          </a:p>
        </p:txBody>
      </p:sp>
      <p:sp>
        <p:nvSpPr>
          <p:cNvPr id="5" name="Shape 3"/>
          <p:cNvSpPr/>
          <p:nvPr/>
        </p:nvSpPr>
        <p:spPr>
          <a:xfrm>
            <a:off x="990533" y="4972849"/>
            <a:ext cx="5283178" cy="2022331"/>
          </a:xfrm>
          <a:prstGeom prst="roundRect">
            <a:avLst>
              <a:gd name="adj" fmla="val 8478"/>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sp>
        <p:nvSpPr>
          <p:cNvPr id="6" name="Text 4"/>
          <p:cNvSpPr/>
          <p:nvPr/>
        </p:nvSpPr>
        <p:spPr>
          <a:xfrm>
            <a:off x="1301661" y="5303061"/>
            <a:ext cx="5127014" cy="306665"/>
          </a:xfrm>
          <a:prstGeom prst="rect">
            <a:avLst/>
          </a:prstGeom>
          <a:noFill/>
          <a:ln/>
        </p:spPr>
        <p:txBody>
          <a:bodyPr wrap="square" lIns="25400" tIns="25400" rIns="25400" bIns="25400" rtlCol="0" anchor="t">
            <a:normAutofit/>
          </a:bodyPr>
          <a:lstStyle/>
          <a:p>
            <a:pPr marL="0" indent="0" algn="l">
              <a:buNone/>
            </a:pPr>
            <a:r>
              <a:rPr lang="en-US" sz="1800" dirty="0">
                <a:solidFill>
                  <a:srgbClr val="7A7264"/>
                </a:solidFill>
                <a:latin typeface="Fira Sans" pitchFamily="34" charset="0"/>
                <a:ea typeface="Fira Sans" pitchFamily="34" charset="-122"/>
                <a:cs typeface="Fira Sans" pitchFamily="34" charset="-120"/>
              </a:rPr>
              <a:t>Recent switch rate </a:t>
            </a:r>
            <a:r>
              <a:rPr lang="en-US" sz="1800" dirty="0">
                <a:solidFill>
                  <a:srgbClr val="BFA06E"/>
                </a:solidFill>
                <a:latin typeface="Fira Sans" pitchFamily="34" charset="0"/>
                <a:ea typeface="Fira Sans" pitchFamily="34" charset="-122"/>
                <a:cs typeface="Fira Sans" pitchFamily="34" charset="-120"/>
              </a:rPr>
              <a:t>(lagged)</a:t>
            </a:r>
            <a:endParaRPr lang="en-US" sz="1800" dirty="0"/>
          </a:p>
        </p:txBody>
      </p:sp>
      <p:sp>
        <p:nvSpPr>
          <p:cNvPr id="7" name="Text 5"/>
          <p:cNvSpPr/>
          <p:nvPr/>
        </p:nvSpPr>
        <p:spPr>
          <a:xfrm>
            <a:off x="1301661" y="5666842"/>
            <a:ext cx="5127014" cy="672445"/>
          </a:xfrm>
          <a:prstGeom prst="rect">
            <a:avLst/>
          </a:prstGeom>
          <a:noFill/>
          <a:ln/>
        </p:spPr>
        <p:txBody>
          <a:bodyPr wrap="square" lIns="25400" tIns="25400" rIns="25400" bIns="25400" rtlCol="0" anchor="t">
            <a:normAutofit/>
          </a:bodyPr>
          <a:lstStyle/>
          <a:p>
            <a:pPr marL="0" indent="0" algn="l">
              <a:lnSpc>
                <a:spcPct val="90000"/>
              </a:lnSpc>
              <a:buNone/>
            </a:pPr>
            <a:r>
              <a:rPr lang="en-US" sz="5550" b="1" kern="0" spc="-111" dirty="0">
                <a:solidFill>
                  <a:srgbClr val="B3402F"/>
                </a:solidFill>
                <a:latin typeface="Fira Sans" pitchFamily="34" charset="0"/>
                <a:ea typeface="Fira Sans" pitchFamily="34" charset="-122"/>
                <a:cs typeface="Fira Sans" pitchFamily="34" charset="-120"/>
              </a:rPr>
              <a:t>d = 0.41</a:t>
            </a:r>
            <a:endParaRPr lang="en-US" sz="5550" dirty="0"/>
          </a:p>
        </p:txBody>
      </p:sp>
      <p:sp>
        <p:nvSpPr>
          <p:cNvPr id="8" name="Text 6"/>
          <p:cNvSpPr/>
          <p:nvPr/>
        </p:nvSpPr>
        <p:spPr>
          <a:xfrm>
            <a:off x="1301661" y="6396404"/>
            <a:ext cx="5127014" cy="306665"/>
          </a:xfrm>
          <a:prstGeom prst="rect">
            <a:avLst/>
          </a:prstGeom>
          <a:noFill/>
          <a:ln/>
        </p:spPr>
        <p:txBody>
          <a:bodyPr wrap="square" lIns="25400" tIns="25400" rIns="25400" bIns="25400" rtlCol="0" anchor="t">
            <a:normAutofit/>
          </a:bodyPr>
          <a:lstStyle/>
          <a:p>
            <a:pPr marL="0" indent="0" algn="l">
              <a:buNone/>
            </a:pPr>
            <a:r>
              <a:rPr lang="en-US" sz="1800" b="1" dirty="0">
                <a:solidFill>
                  <a:srgbClr val="897F6E"/>
                </a:solidFill>
                <a:latin typeface="Fira Sans" pitchFamily="34" charset="0"/>
                <a:ea typeface="Fira Sans" pitchFamily="34" charset="-122"/>
                <a:cs typeface="Fira Sans" pitchFamily="34" charset="-120"/>
              </a:rPr>
              <a:t>p &lt; 10⁻¹³⁷</a:t>
            </a:r>
            <a:endParaRPr lang="en-US" sz="1800" dirty="0"/>
          </a:p>
        </p:txBody>
      </p:sp>
      <p:sp>
        <p:nvSpPr>
          <p:cNvPr id="9" name="Shape 7"/>
          <p:cNvSpPr/>
          <p:nvPr/>
        </p:nvSpPr>
        <p:spPr>
          <a:xfrm>
            <a:off x="6502311" y="4972849"/>
            <a:ext cx="5283278" cy="2022331"/>
          </a:xfrm>
          <a:prstGeom prst="roundRect">
            <a:avLst>
              <a:gd name="adj" fmla="val 8478"/>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sp>
        <p:nvSpPr>
          <p:cNvPr id="10" name="Text 8"/>
          <p:cNvSpPr/>
          <p:nvPr/>
        </p:nvSpPr>
        <p:spPr>
          <a:xfrm>
            <a:off x="6813439" y="5303061"/>
            <a:ext cx="5127124" cy="306665"/>
          </a:xfrm>
          <a:prstGeom prst="rect">
            <a:avLst/>
          </a:prstGeom>
          <a:noFill/>
          <a:ln/>
        </p:spPr>
        <p:txBody>
          <a:bodyPr wrap="square" lIns="25400" tIns="25400" rIns="25400" bIns="25400" rtlCol="0" anchor="t">
            <a:normAutofit/>
          </a:bodyPr>
          <a:lstStyle/>
          <a:p>
            <a:pPr marL="0" indent="0" algn="l">
              <a:buNone/>
            </a:pPr>
            <a:r>
              <a:rPr lang="en-US" sz="1800" dirty="0">
                <a:solidFill>
                  <a:srgbClr val="7A7264"/>
                </a:solidFill>
                <a:latin typeface="Fira Sans" pitchFamily="34" charset="0"/>
                <a:ea typeface="Fira Sans" pitchFamily="34" charset="-122"/>
                <a:cs typeface="Fira Sans" pitchFamily="34" charset="-120"/>
              </a:rPr>
              <a:t>Prior side-switch</a:t>
            </a:r>
            <a:endParaRPr lang="en-US" sz="1800" dirty="0"/>
          </a:p>
        </p:txBody>
      </p:sp>
      <p:sp>
        <p:nvSpPr>
          <p:cNvPr id="11" name="Text 9"/>
          <p:cNvSpPr/>
          <p:nvPr/>
        </p:nvSpPr>
        <p:spPr>
          <a:xfrm>
            <a:off x="6813439" y="5666842"/>
            <a:ext cx="5127124" cy="672445"/>
          </a:xfrm>
          <a:prstGeom prst="rect">
            <a:avLst/>
          </a:prstGeom>
          <a:noFill/>
          <a:ln/>
        </p:spPr>
        <p:txBody>
          <a:bodyPr wrap="square" lIns="25400" tIns="25400" rIns="25400" bIns="25400" rtlCol="0" anchor="t">
            <a:normAutofit/>
          </a:bodyPr>
          <a:lstStyle/>
          <a:p>
            <a:pPr marL="0" indent="0" algn="l">
              <a:lnSpc>
                <a:spcPct val="90000"/>
              </a:lnSpc>
              <a:buNone/>
            </a:pPr>
            <a:r>
              <a:rPr lang="en-US" sz="5550" b="1" kern="0" spc="-111" dirty="0">
                <a:solidFill>
                  <a:srgbClr val="2F6B7A"/>
                </a:solidFill>
                <a:latin typeface="Fira Sans" pitchFamily="34" charset="0"/>
                <a:ea typeface="Fira Sans" pitchFamily="34" charset="-122"/>
                <a:cs typeface="Fira Sans" pitchFamily="34" charset="-120"/>
              </a:rPr>
              <a:t>d = 0.29</a:t>
            </a:r>
            <a:endParaRPr lang="en-US" sz="5550" dirty="0"/>
          </a:p>
        </p:txBody>
      </p:sp>
      <p:sp>
        <p:nvSpPr>
          <p:cNvPr id="12" name="Text 10"/>
          <p:cNvSpPr/>
          <p:nvPr/>
        </p:nvSpPr>
        <p:spPr>
          <a:xfrm>
            <a:off x="6813439" y="6396404"/>
            <a:ext cx="5127124" cy="306665"/>
          </a:xfrm>
          <a:prstGeom prst="rect">
            <a:avLst/>
          </a:prstGeom>
          <a:noFill/>
          <a:ln/>
        </p:spPr>
        <p:txBody>
          <a:bodyPr wrap="square" lIns="25400" tIns="25400" rIns="25400" bIns="25400" rtlCol="0" anchor="t">
            <a:normAutofit/>
          </a:bodyPr>
          <a:lstStyle/>
          <a:p>
            <a:pPr marL="0" indent="0" algn="l">
              <a:buNone/>
            </a:pPr>
            <a:r>
              <a:rPr lang="en-US" sz="1800" b="1" dirty="0">
                <a:solidFill>
                  <a:srgbClr val="897F6E"/>
                </a:solidFill>
                <a:latin typeface="Fira Sans" pitchFamily="34" charset="0"/>
                <a:ea typeface="Fira Sans" pitchFamily="34" charset="-122"/>
                <a:cs typeface="Fira Sans" pitchFamily="34" charset="-120"/>
              </a:rPr>
              <a:t>single previous trial</a:t>
            </a:r>
            <a:endParaRPr lang="en-US" sz="1800" dirty="0"/>
          </a:p>
        </p:txBody>
      </p:sp>
      <p:sp>
        <p:nvSpPr>
          <p:cNvPr id="13" name="Shape 11"/>
          <p:cNvSpPr/>
          <p:nvPr/>
        </p:nvSpPr>
        <p:spPr>
          <a:xfrm>
            <a:off x="12014189" y="4972849"/>
            <a:ext cx="5283278" cy="2022331"/>
          </a:xfrm>
          <a:prstGeom prst="roundRect">
            <a:avLst>
              <a:gd name="adj" fmla="val 8478"/>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sp>
        <p:nvSpPr>
          <p:cNvPr id="14" name="Text 12"/>
          <p:cNvSpPr/>
          <p:nvPr/>
        </p:nvSpPr>
        <p:spPr>
          <a:xfrm>
            <a:off x="12325316" y="5303061"/>
            <a:ext cx="5127124" cy="306665"/>
          </a:xfrm>
          <a:prstGeom prst="rect">
            <a:avLst/>
          </a:prstGeom>
          <a:noFill/>
          <a:ln/>
        </p:spPr>
        <p:txBody>
          <a:bodyPr wrap="square" lIns="25400" tIns="25400" rIns="25400" bIns="25400" rtlCol="0" anchor="t">
            <a:normAutofit/>
          </a:bodyPr>
          <a:lstStyle/>
          <a:p>
            <a:pPr marL="0" indent="0" algn="l">
              <a:buNone/>
            </a:pPr>
            <a:r>
              <a:rPr lang="en-US" sz="1800" dirty="0">
                <a:solidFill>
                  <a:srgbClr val="7A7264"/>
                </a:solidFill>
                <a:latin typeface="Fira Sans" pitchFamily="34" charset="0"/>
                <a:ea typeface="Fira Sans" pitchFamily="34" charset="-122"/>
                <a:cs typeface="Fira Sans" pitchFamily="34" charset="-120"/>
              </a:rPr>
              <a:t>Repeat-streak length</a:t>
            </a:r>
            <a:endParaRPr lang="en-US" sz="1800" dirty="0"/>
          </a:p>
        </p:txBody>
      </p:sp>
      <p:sp>
        <p:nvSpPr>
          <p:cNvPr id="15" name="Text 13"/>
          <p:cNvSpPr/>
          <p:nvPr/>
        </p:nvSpPr>
        <p:spPr>
          <a:xfrm>
            <a:off x="12325316" y="5666842"/>
            <a:ext cx="5127124" cy="672445"/>
          </a:xfrm>
          <a:prstGeom prst="rect">
            <a:avLst/>
          </a:prstGeom>
          <a:noFill/>
          <a:ln/>
        </p:spPr>
        <p:txBody>
          <a:bodyPr wrap="square" lIns="25400" tIns="25400" rIns="25400" bIns="25400" rtlCol="0" anchor="t">
            <a:normAutofit/>
          </a:bodyPr>
          <a:lstStyle/>
          <a:p>
            <a:pPr marL="0" indent="0" algn="l">
              <a:lnSpc>
                <a:spcPct val="90000"/>
              </a:lnSpc>
              <a:buNone/>
            </a:pPr>
            <a:r>
              <a:rPr lang="en-US" sz="5550" b="1" kern="0" spc="-111" dirty="0">
                <a:solidFill>
                  <a:srgbClr val="2F6B7A"/>
                </a:solidFill>
                <a:latin typeface="Fira Sans" pitchFamily="34" charset="0"/>
                <a:ea typeface="Fira Sans" pitchFamily="34" charset="-122"/>
                <a:cs typeface="Fira Sans" pitchFamily="34" charset="-120"/>
              </a:rPr>
              <a:t>d = −0.34</a:t>
            </a:r>
            <a:endParaRPr lang="en-US" sz="5550" dirty="0"/>
          </a:p>
        </p:txBody>
      </p:sp>
      <p:sp>
        <p:nvSpPr>
          <p:cNvPr id="16" name="Text 14"/>
          <p:cNvSpPr/>
          <p:nvPr/>
        </p:nvSpPr>
        <p:spPr>
          <a:xfrm>
            <a:off x="12325316" y="6396404"/>
            <a:ext cx="5127124" cy="306665"/>
          </a:xfrm>
          <a:prstGeom prst="rect">
            <a:avLst/>
          </a:prstGeom>
          <a:noFill/>
          <a:ln/>
        </p:spPr>
        <p:txBody>
          <a:bodyPr wrap="square" lIns="25400" tIns="25400" rIns="25400" bIns="25400" rtlCol="0" anchor="t">
            <a:normAutofit/>
          </a:bodyPr>
          <a:lstStyle/>
          <a:p>
            <a:pPr marL="0" indent="0" algn="l">
              <a:buNone/>
            </a:pPr>
            <a:r>
              <a:rPr lang="en-US" sz="1800" b="1" dirty="0">
                <a:solidFill>
                  <a:srgbClr val="897F6E"/>
                </a:solidFill>
                <a:latin typeface="Fira Sans" pitchFamily="34" charset="0"/>
                <a:ea typeface="Fira Sans" pitchFamily="34" charset="-122"/>
                <a:cs typeface="Fira Sans" pitchFamily="34" charset="-120"/>
              </a:rPr>
              <a:t>all highly significant</a:t>
            </a:r>
            <a:endParaRPr lang="en-US" sz="1800" dirty="0"/>
          </a:p>
        </p:txBody>
      </p:sp>
      <p:sp>
        <p:nvSpPr>
          <p:cNvPr id="17" name="Shape 15"/>
          <p:cNvSpPr/>
          <p:nvPr/>
        </p:nvSpPr>
        <p:spPr>
          <a:xfrm>
            <a:off x="990533" y="7318997"/>
            <a:ext cx="25578" cy="771525"/>
          </a:xfrm>
          <a:prstGeom prst="rect">
            <a:avLst/>
          </a:prstGeom>
          <a:solidFill>
            <a:srgbClr val="2F6B7A"/>
          </a:solidFill>
          <a:ln/>
        </p:spPr>
        <p:txBody>
          <a:bodyPr/>
          <a:lstStyle/>
          <a:p>
            <a:endParaRPr lang="he-IL"/>
          </a:p>
        </p:txBody>
      </p:sp>
      <p:sp>
        <p:nvSpPr>
          <p:cNvPr id="18" name="Text 16"/>
          <p:cNvSpPr/>
          <p:nvPr/>
        </p:nvSpPr>
        <p:spPr>
          <a:xfrm>
            <a:off x="1244711" y="7318997"/>
            <a:ext cx="14854343" cy="809625"/>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2A2520"/>
                </a:solidFill>
                <a:latin typeface="Fira Sans" pitchFamily="34" charset="0"/>
                <a:ea typeface="Fira Sans" pitchFamily="34" charset="-122"/>
                <a:cs typeface="Fira Sans" pitchFamily="34" charset="-120"/>
              </a:rPr>
              <a:t>Switching is </a:t>
            </a:r>
            <a:r>
              <a:rPr lang="en-US" sz="2025" b="1" dirty="0">
                <a:solidFill>
                  <a:srgbClr val="2A2520"/>
                </a:solidFill>
                <a:latin typeface="Fira Sans" pitchFamily="34" charset="0"/>
                <a:ea typeface="Fira Sans" pitchFamily="34" charset="-122"/>
                <a:cs typeface="Fira Sans" pitchFamily="34" charset="-120"/>
              </a:rPr>
              <a:t>autocorrelated</a:t>
            </a:r>
            <a:r>
              <a:rPr lang="en-US" sz="2025" dirty="0">
                <a:solidFill>
                  <a:srgbClr val="2A2520"/>
                </a:solidFill>
                <a:latin typeface="Fira Sans" pitchFamily="34" charset="0"/>
                <a:ea typeface="Fira Sans" pitchFamily="34" charset="-122"/>
                <a:cs typeface="Fira Sans" pitchFamily="34" charset="-120"/>
              </a:rPr>
              <a:t>: people who've been switching keep switching. A legitimate, </a:t>
            </a:r>
            <a:r>
              <a:rPr lang="en-US" sz="2025" b="1" dirty="0">
                <a:solidFill>
                  <a:srgbClr val="2A2520"/>
                </a:solidFill>
                <a:latin typeface="Fira Sans" pitchFamily="34" charset="0"/>
                <a:ea typeface="Fira Sans" pitchFamily="34" charset="-122"/>
                <a:cs typeface="Fira Sans" pitchFamily="34" charset="-120"/>
              </a:rPr>
              <a:t>non-circular </a:t>
            </a:r>
            <a:r>
              <a:rPr lang="en-US" sz="2025" dirty="0">
                <a:solidFill>
                  <a:srgbClr val="2A2520"/>
                </a:solidFill>
                <a:latin typeface="Fira Sans" pitchFamily="34" charset="0"/>
                <a:ea typeface="Fira Sans" pitchFamily="34" charset="-122"/>
                <a:cs typeface="Fira Sans" pitchFamily="34" charset="-120"/>
              </a:rPr>
              <a:t>predictor — and a concrete input for the next model.</a:t>
            </a:r>
            <a:endParaRPr lang="en-US" sz="20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7648539" cy="325848"/>
          </a:xfrm>
          <a:prstGeom prst="rect">
            <a:avLst/>
          </a:prstGeom>
          <a:noFill/>
          <a:ln/>
        </p:spPr>
        <p:txBody>
          <a:bodyPr wrap="square" lIns="25400" tIns="25400" rIns="25400" bIns="25400" rtlCol="0" anchor="ctr">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CURRENT WORK</a:t>
            </a:r>
            <a:endParaRPr lang="en-US" sz="1875" dirty="0"/>
          </a:p>
        </p:txBody>
      </p:sp>
      <p:sp>
        <p:nvSpPr>
          <p:cNvPr id="3" name="Text 1"/>
          <p:cNvSpPr/>
          <p:nvPr/>
        </p:nvSpPr>
        <p:spPr>
          <a:xfrm>
            <a:off x="990533" y="1335432"/>
            <a:ext cx="7161813" cy="1127547"/>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Calibration: is the confidence warranted?</a:t>
            </a:r>
            <a:endParaRPr lang="en-US" sz="3900" dirty="0"/>
          </a:p>
        </p:txBody>
      </p:sp>
      <p:sp>
        <p:nvSpPr>
          <p:cNvPr id="4" name="Text 2"/>
          <p:cNvSpPr/>
          <p:nvPr/>
        </p:nvSpPr>
        <p:spPr>
          <a:xfrm>
            <a:off x="990533" y="4378469"/>
            <a:ext cx="7382143" cy="1752600"/>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5A5347"/>
                </a:solidFill>
                <a:latin typeface="Fira Sans" pitchFamily="34" charset="0"/>
                <a:ea typeface="Fira Sans" pitchFamily="34" charset="-122"/>
                <a:cs typeface="Fira Sans" pitchFamily="34" charset="-120"/>
              </a:rPr>
              <a:t>New approach: stop hunting features — study </a:t>
            </a:r>
            <a:r>
              <a:rPr lang="en-US" sz="2250" b="1" dirty="0">
                <a:solidFill>
                  <a:srgbClr val="2A2520"/>
                </a:solidFill>
                <a:latin typeface="Fira Sans" pitchFamily="34" charset="0"/>
                <a:ea typeface="Fira Sans" pitchFamily="34" charset="-122"/>
                <a:cs typeface="Fira Sans" pitchFamily="34" charset="-120"/>
              </a:rPr>
              <a:t>p itself </a:t>
            </a:r>
            <a:r>
              <a:rPr lang="en-US" sz="2250" dirty="0">
                <a:solidFill>
                  <a:srgbClr val="5A5347"/>
                </a:solidFill>
                <a:latin typeface="Fira Sans" pitchFamily="34" charset="0"/>
                <a:ea typeface="Fira Sans" pitchFamily="34" charset="-122"/>
                <a:cs typeface="Fira Sans" pitchFamily="34" charset="-120"/>
              </a:rPr>
              <a:t>as a mathematical object. Bucket predictions and compare each bucket’s stated p to its empirical frequency.</a:t>
            </a:r>
            <a:endParaRPr lang="en-US" sz="2250" dirty="0"/>
          </a:p>
        </p:txBody>
      </p:sp>
      <p:sp>
        <p:nvSpPr>
          <p:cNvPr id="5" name="Shape 3"/>
          <p:cNvSpPr/>
          <p:nvPr/>
        </p:nvSpPr>
        <p:spPr>
          <a:xfrm>
            <a:off x="990533" y="6378719"/>
            <a:ext cx="25578" cy="1725990"/>
          </a:xfrm>
          <a:prstGeom prst="rect">
            <a:avLst/>
          </a:prstGeom>
          <a:solidFill>
            <a:srgbClr val="2F6B7A"/>
          </a:solidFill>
          <a:ln/>
        </p:spPr>
        <p:txBody>
          <a:bodyPr/>
          <a:lstStyle/>
          <a:p>
            <a:endParaRPr lang="he-IL"/>
          </a:p>
        </p:txBody>
      </p:sp>
      <p:sp>
        <p:nvSpPr>
          <p:cNvPr id="6" name="Text 4"/>
          <p:cNvSpPr/>
          <p:nvPr/>
        </p:nvSpPr>
        <p:spPr>
          <a:xfrm>
            <a:off x="1225661" y="6378719"/>
            <a:ext cx="7147016" cy="1764090"/>
          </a:xfrm>
          <a:prstGeom prst="rect">
            <a:avLst/>
          </a:prstGeom>
          <a:noFill/>
          <a:ln/>
        </p:spPr>
        <p:txBody>
          <a:bodyPr wrap="square" lIns="25400" tIns="25400" rIns="25400" bIns="25400" rtlCol="0" anchor="t">
            <a:normAutofit/>
          </a:bodyPr>
          <a:lstStyle/>
          <a:p>
            <a:pPr marL="0" indent="0" algn="l">
              <a:lnSpc>
                <a:spcPct val="145000"/>
              </a:lnSpc>
              <a:buNone/>
            </a:pPr>
            <a:r>
              <a:rPr lang="en-US" sz="1875" dirty="0">
                <a:solidFill>
                  <a:srgbClr val="2A2520"/>
                </a:solidFill>
                <a:latin typeface="Fira Sans" pitchFamily="34" charset="0"/>
                <a:ea typeface="Fira Sans" pitchFamily="34" charset="-122"/>
                <a:cs typeface="Fira Sans" pitchFamily="34" charset="-120"/>
              </a:rPr>
              <a:t>CATIE's predictions are </a:t>
            </a:r>
            <a:r>
              <a:rPr lang="en-US" sz="1875" b="1" dirty="0">
                <a:solidFill>
                  <a:srgbClr val="2A2520"/>
                </a:solidFill>
                <a:latin typeface="Fira Sans" pitchFamily="34" charset="0"/>
                <a:ea typeface="Fira Sans" pitchFamily="34" charset="-122"/>
                <a:cs typeface="Fira Sans" pitchFamily="34" charset="-120"/>
              </a:rPr>
              <a:t>over-dispersed </a:t>
            </a:r>
            <a:r>
              <a:rPr lang="en-US" sz="1875" dirty="0">
                <a:solidFill>
                  <a:srgbClr val="2A2520"/>
                </a:solidFill>
                <a:latin typeface="Fira Sans" pitchFamily="34" charset="0"/>
                <a:ea typeface="Fira Sans" pitchFamily="34" charset="-122"/>
                <a:cs typeface="Fira Sans" pitchFamily="34" charset="-120"/>
              </a:rPr>
              <a:t>— too extreme. When it's only moderately sure </a:t>
            </a:r>
            <a:r>
              <a:rPr lang="en-US" sz="1875" b="1" dirty="0">
                <a:solidFill>
                  <a:srgbClr val="2A2520"/>
                </a:solidFill>
                <a:latin typeface="Fira Sans" pitchFamily="34" charset="0"/>
                <a:ea typeface="Fira Sans" pitchFamily="34" charset="-122"/>
                <a:cs typeface="Fira Sans" pitchFamily="34" charset="-120"/>
              </a:rPr>
              <a:t>(p ≈ 0.2–0.65) </a:t>
            </a:r>
            <a:r>
              <a:rPr lang="en-US" sz="1875" dirty="0">
                <a:solidFill>
                  <a:srgbClr val="2A2520"/>
                </a:solidFill>
                <a:latin typeface="Fira Sans" pitchFamily="34" charset="0"/>
                <a:ea typeface="Fira Sans" pitchFamily="34" charset="-122"/>
                <a:cs typeface="Fira Sans" pitchFamily="34" charset="-120"/>
              </a:rPr>
              <a:t>, the biased choice happens more often than it says; when it's very sure </a:t>
            </a:r>
            <a:r>
              <a:rPr lang="en-US" sz="1875" b="1" dirty="0">
                <a:solidFill>
                  <a:srgbClr val="2A2520"/>
                </a:solidFill>
                <a:latin typeface="Fira Sans" pitchFamily="34" charset="0"/>
                <a:ea typeface="Fira Sans" pitchFamily="34" charset="-122"/>
                <a:cs typeface="Fira Sans" pitchFamily="34" charset="-120"/>
              </a:rPr>
              <a:t>(p &gt; 0.75) </a:t>
            </a:r>
            <a:r>
              <a:rPr lang="en-US" sz="1875" dirty="0">
                <a:solidFill>
                  <a:srgbClr val="2A2520"/>
                </a:solidFill>
                <a:latin typeface="Fira Sans" pitchFamily="34" charset="0"/>
                <a:ea typeface="Fira Sans" pitchFamily="34" charset="-122"/>
                <a:cs typeface="Fira Sans" pitchFamily="34" charset="-120"/>
              </a:rPr>
              <a:t>, it happens less. Real behavior is compressed toward the middle — so pulling predictions toward 0.5 should improve calibration.</a:t>
            </a:r>
            <a:endParaRPr lang="en-US" sz="1875" dirty="0"/>
          </a:p>
        </p:txBody>
      </p:sp>
      <p:sp>
        <p:nvSpPr>
          <p:cNvPr id="7" name="Shape 5"/>
          <p:cNvSpPr/>
          <p:nvPr/>
        </p:nvSpPr>
        <p:spPr>
          <a:xfrm>
            <a:off x="8672013" y="2767778"/>
            <a:ext cx="8625454" cy="6947721"/>
          </a:xfrm>
          <a:prstGeom prst="roundRect">
            <a:avLst>
              <a:gd name="adj" fmla="val 2468"/>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pic>
        <p:nvPicPr>
          <p:cNvPr id="8" name="Image 0" descr="preencoded.png"/>
          <p:cNvPicPr>
            <a:picLocks noChangeAspect="1"/>
          </p:cNvPicPr>
          <p:nvPr/>
        </p:nvPicPr>
        <p:blipFill>
          <a:blip r:embed="rId3"/>
          <a:srcRect l="-13249" r="-13249"/>
          <a:stretch/>
        </p:blipFill>
        <p:spPr>
          <a:xfrm>
            <a:off x="8964157" y="3059923"/>
            <a:ext cx="8041165" cy="636343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6658195" cy="325848"/>
          </a:xfrm>
          <a:prstGeom prst="rect">
            <a:avLst/>
          </a:prstGeom>
          <a:noFill/>
          <a:ln/>
        </p:spPr>
        <p:txBody>
          <a:bodyPr wrap="square" lIns="25400" tIns="25400" rIns="25400" bIns="25400" rtlCol="0" anchor="ctr">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CURRENT WORK</a:t>
            </a:r>
            <a:endParaRPr lang="en-US" sz="1875" dirty="0"/>
          </a:p>
        </p:txBody>
      </p:sp>
      <p:sp>
        <p:nvSpPr>
          <p:cNvPr id="3" name="Text 1"/>
          <p:cNvSpPr/>
          <p:nvPr/>
        </p:nvSpPr>
        <p:spPr>
          <a:xfrm>
            <a:off x="990533" y="1335432"/>
            <a:ext cx="6658195"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The fix: </a:t>
            </a:r>
            <a:r>
              <a:rPr lang="en-US" sz="3900" b="1" kern="0" spc="-58" dirty="0">
                <a:solidFill>
                  <a:srgbClr val="B3402F"/>
                </a:solidFill>
                <a:latin typeface="Fira Sans" pitchFamily="34" charset="0"/>
                <a:ea typeface="Fira Sans" pitchFamily="34" charset="-122"/>
                <a:cs typeface="Fira Sans" pitchFamily="34" charset="-120"/>
              </a:rPr>
              <a:t>shrink the extremes</a:t>
            </a:r>
            <a:endParaRPr lang="en-US" sz="3900" dirty="0"/>
          </a:p>
        </p:txBody>
      </p:sp>
      <p:sp>
        <p:nvSpPr>
          <p:cNvPr id="4" name="Shape 2"/>
          <p:cNvSpPr/>
          <p:nvPr/>
        </p:nvSpPr>
        <p:spPr>
          <a:xfrm>
            <a:off x="990533" y="2435469"/>
            <a:ext cx="9557138" cy="7048433"/>
          </a:xfrm>
          <a:prstGeom prst="roundRect">
            <a:avLst>
              <a:gd name="adj" fmla="val 2432"/>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pic>
        <p:nvPicPr>
          <p:cNvPr id="5" name="Image 0" descr="preencoded.png"/>
          <p:cNvPicPr>
            <a:picLocks noChangeAspect="1"/>
          </p:cNvPicPr>
          <p:nvPr/>
        </p:nvPicPr>
        <p:blipFill>
          <a:blip r:embed="rId3"/>
          <a:srcRect t="-6385" b="-6385"/>
          <a:stretch/>
        </p:blipFill>
        <p:spPr>
          <a:xfrm>
            <a:off x="1282678" y="2727614"/>
            <a:ext cx="8972849" cy="6464144"/>
          </a:xfrm>
          <a:prstGeom prst="rect">
            <a:avLst/>
          </a:prstGeom>
        </p:spPr>
      </p:pic>
      <p:sp>
        <p:nvSpPr>
          <p:cNvPr id="6" name="Text 3"/>
          <p:cNvSpPr/>
          <p:nvPr/>
        </p:nvSpPr>
        <p:spPr>
          <a:xfrm>
            <a:off x="11062021" y="4284152"/>
            <a:ext cx="6422508" cy="839199"/>
          </a:xfrm>
          <a:prstGeom prst="rect">
            <a:avLst/>
          </a:prstGeom>
          <a:noFill/>
          <a:ln/>
        </p:spPr>
        <p:txBody>
          <a:bodyPr wrap="square" lIns="25400" tIns="25400" rIns="25400" bIns="25400" rtlCol="0" anchor="t">
            <a:normAutofit/>
          </a:bodyPr>
          <a:lstStyle/>
          <a:p>
            <a:pPr marL="0" indent="0" algn="l">
              <a:lnSpc>
                <a:spcPct val="145000"/>
              </a:lnSpc>
              <a:buNone/>
            </a:pPr>
            <a:r>
              <a:rPr lang="en-US" sz="2175" dirty="0">
                <a:solidFill>
                  <a:srgbClr val="5A5347"/>
                </a:solidFill>
                <a:latin typeface="Fira Sans" pitchFamily="34" charset="0"/>
                <a:ea typeface="Fira Sans" pitchFamily="34" charset="-122"/>
                <a:cs typeface="Fira Sans" pitchFamily="34" charset="-120"/>
              </a:rPr>
              <a:t>Slide 13 showed predictions are too extreme. Zooming into the </a:t>
            </a:r>
            <a:r>
              <a:rPr lang="en-US" sz="2175" b="1" dirty="0">
                <a:solidFill>
                  <a:srgbClr val="2A2520"/>
                </a:solidFill>
                <a:latin typeface="Fira Sans" pitchFamily="34" charset="0"/>
                <a:ea typeface="Fira Sans" pitchFamily="34" charset="-122"/>
                <a:cs typeface="Fira Sans" pitchFamily="34" charset="-120"/>
              </a:rPr>
              <a:t>confident tail </a:t>
            </a:r>
            <a:r>
              <a:rPr lang="en-US" sz="2175" dirty="0">
                <a:solidFill>
                  <a:srgbClr val="5A5347"/>
                </a:solidFill>
                <a:latin typeface="Fira Sans" pitchFamily="34" charset="0"/>
                <a:ea typeface="Fira Sans" pitchFamily="34" charset="-122"/>
                <a:cs typeface="Fira Sans" pitchFamily="34" charset="-120"/>
              </a:rPr>
              <a:t>quantifies it.</a:t>
            </a:r>
            <a:endParaRPr lang="en-US" sz="2175" dirty="0"/>
          </a:p>
        </p:txBody>
      </p:sp>
      <p:sp>
        <p:nvSpPr>
          <p:cNvPr id="7" name="Text 4"/>
          <p:cNvSpPr/>
          <p:nvPr/>
        </p:nvSpPr>
        <p:spPr>
          <a:xfrm>
            <a:off x="11062021" y="5351918"/>
            <a:ext cx="2400300" cy="306665"/>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2F6B7A"/>
                </a:solidFill>
                <a:latin typeface="Fira Sans" pitchFamily="34" charset="0"/>
                <a:ea typeface="Fira Sans" pitchFamily="34" charset="-122"/>
                <a:cs typeface="Fira Sans" pitchFamily="34" charset="-120"/>
              </a:rPr>
              <a:t>STATED</a:t>
            </a:r>
            <a:endParaRPr lang="en-US" sz="1800" dirty="0"/>
          </a:p>
        </p:txBody>
      </p:sp>
      <p:sp>
        <p:nvSpPr>
          <p:cNvPr id="8" name="Text 5"/>
          <p:cNvSpPr/>
          <p:nvPr/>
        </p:nvSpPr>
        <p:spPr>
          <a:xfrm>
            <a:off x="11062021" y="5677633"/>
            <a:ext cx="2400300" cy="632780"/>
          </a:xfrm>
          <a:prstGeom prst="rect">
            <a:avLst/>
          </a:prstGeom>
          <a:noFill/>
          <a:ln/>
        </p:spPr>
        <p:txBody>
          <a:bodyPr wrap="square" lIns="25400" tIns="25400" rIns="25400" bIns="25400" rtlCol="0" anchor="t">
            <a:normAutofit/>
          </a:bodyPr>
          <a:lstStyle/>
          <a:p>
            <a:pPr marL="0" indent="0" algn="l">
              <a:buNone/>
            </a:pPr>
            <a:r>
              <a:rPr lang="en-US" sz="3900" b="1" dirty="0">
                <a:solidFill>
                  <a:srgbClr val="2F6B7A"/>
                </a:solidFill>
                <a:latin typeface="Fira Sans" pitchFamily="34" charset="0"/>
                <a:ea typeface="Fira Sans" pitchFamily="34" charset="-122"/>
                <a:cs typeface="Fira Sans" pitchFamily="34" charset="-120"/>
              </a:rPr>
              <a:t>0.88–0.95</a:t>
            </a:r>
            <a:endParaRPr lang="en-US" sz="3900" dirty="0"/>
          </a:p>
        </p:txBody>
      </p:sp>
      <p:sp>
        <p:nvSpPr>
          <p:cNvPr id="9" name="Text 6"/>
          <p:cNvSpPr/>
          <p:nvPr/>
        </p:nvSpPr>
        <p:spPr>
          <a:xfrm>
            <a:off x="13472713" y="5594705"/>
            <a:ext cx="438183" cy="472920"/>
          </a:xfrm>
          <a:prstGeom prst="rect">
            <a:avLst/>
          </a:prstGeom>
          <a:noFill/>
          <a:ln/>
        </p:spPr>
        <p:txBody>
          <a:bodyPr wrap="square" lIns="25400" tIns="25400" rIns="25400" bIns="25400" rtlCol="0" anchor="t">
            <a:normAutofit/>
          </a:bodyPr>
          <a:lstStyle/>
          <a:p>
            <a:pPr marL="0" indent="0" algn="l">
              <a:buNone/>
            </a:pPr>
            <a:r>
              <a:rPr lang="en-US" sz="2850" dirty="0">
                <a:solidFill>
                  <a:srgbClr val="BFA06E"/>
                </a:solidFill>
                <a:latin typeface="Fira Sans" pitchFamily="34" charset="0"/>
                <a:ea typeface="Fira Sans" pitchFamily="34" charset="-122"/>
                <a:cs typeface="Fira Sans" pitchFamily="34" charset="-120"/>
              </a:rPr>
              <a:t>→</a:t>
            </a:r>
            <a:endParaRPr lang="en-US" sz="2850" dirty="0"/>
          </a:p>
        </p:txBody>
      </p:sp>
      <p:sp>
        <p:nvSpPr>
          <p:cNvPr id="10" name="Text 7"/>
          <p:cNvSpPr/>
          <p:nvPr/>
        </p:nvSpPr>
        <p:spPr>
          <a:xfrm>
            <a:off x="14063296" y="5351918"/>
            <a:ext cx="2302815" cy="306665"/>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B3402F"/>
                </a:solidFill>
                <a:latin typeface="Fira Sans" pitchFamily="34" charset="0"/>
                <a:ea typeface="Fira Sans" pitchFamily="34" charset="-122"/>
                <a:cs typeface="Fira Sans" pitchFamily="34" charset="-120"/>
              </a:rPr>
              <a:t>OBSERVED</a:t>
            </a:r>
            <a:endParaRPr lang="en-US" sz="1800" dirty="0"/>
          </a:p>
        </p:txBody>
      </p:sp>
      <p:sp>
        <p:nvSpPr>
          <p:cNvPr id="11" name="Text 8"/>
          <p:cNvSpPr/>
          <p:nvPr/>
        </p:nvSpPr>
        <p:spPr>
          <a:xfrm>
            <a:off x="14063296" y="5677633"/>
            <a:ext cx="2302815" cy="632780"/>
          </a:xfrm>
          <a:prstGeom prst="rect">
            <a:avLst/>
          </a:prstGeom>
          <a:noFill/>
          <a:ln/>
        </p:spPr>
        <p:txBody>
          <a:bodyPr wrap="square" lIns="25400" tIns="25400" rIns="25400" bIns="25400" rtlCol="0" anchor="t">
            <a:normAutofit/>
          </a:bodyPr>
          <a:lstStyle/>
          <a:p>
            <a:pPr marL="0" indent="0" algn="l">
              <a:buNone/>
            </a:pPr>
            <a:r>
              <a:rPr lang="en-US" sz="3900" b="1" dirty="0">
                <a:solidFill>
                  <a:srgbClr val="B3402F"/>
                </a:solidFill>
                <a:latin typeface="Fira Sans" pitchFamily="34" charset="0"/>
                <a:ea typeface="Fira Sans" pitchFamily="34" charset="-122"/>
                <a:cs typeface="Fira Sans" pitchFamily="34" charset="-120"/>
              </a:rPr>
              <a:t>0.70–0.81</a:t>
            </a:r>
            <a:endParaRPr lang="en-US" sz="3900" dirty="0"/>
          </a:p>
        </p:txBody>
      </p:sp>
      <p:sp>
        <p:nvSpPr>
          <p:cNvPr id="12" name="Shape 9"/>
          <p:cNvSpPr/>
          <p:nvPr/>
        </p:nvSpPr>
        <p:spPr>
          <a:xfrm>
            <a:off x="11062021" y="6558062"/>
            <a:ext cx="25578" cy="1077258"/>
          </a:xfrm>
          <a:prstGeom prst="rect">
            <a:avLst/>
          </a:prstGeom>
          <a:solidFill>
            <a:srgbClr val="B3402F"/>
          </a:solidFill>
          <a:ln/>
        </p:spPr>
        <p:txBody>
          <a:bodyPr/>
          <a:lstStyle/>
          <a:p>
            <a:endParaRPr lang="he-IL"/>
          </a:p>
        </p:txBody>
      </p:sp>
      <p:sp>
        <p:nvSpPr>
          <p:cNvPr id="13" name="Text 10"/>
          <p:cNvSpPr/>
          <p:nvPr/>
        </p:nvSpPr>
        <p:spPr>
          <a:xfrm>
            <a:off x="11297149" y="6558062"/>
            <a:ext cx="6187380" cy="1115358"/>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2A2520"/>
                </a:solidFill>
                <a:latin typeface="Fira Sans" pitchFamily="34" charset="0"/>
                <a:ea typeface="Fira Sans" pitchFamily="34" charset="-122"/>
                <a:cs typeface="Fira Sans" pitchFamily="34" charset="-120"/>
              </a:rPr>
              <a:t>A single </a:t>
            </a:r>
            <a:r>
              <a:rPr lang="en-US" sz="1950" b="1" dirty="0">
                <a:solidFill>
                  <a:srgbClr val="2A2520"/>
                </a:solidFill>
                <a:latin typeface="Fira Sans" pitchFamily="34" charset="0"/>
                <a:ea typeface="Fira Sans" pitchFamily="34" charset="-122"/>
                <a:cs typeface="Fira Sans" pitchFamily="34" charset="-120"/>
              </a:rPr>
              <a:t>monotonic shrinkage transform </a:t>
            </a:r>
            <a:r>
              <a:rPr lang="en-US" sz="1950" dirty="0">
                <a:solidFill>
                  <a:srgbClr val="2A2520"/>
                </a:solidFill>
                <a:latin typeface="Fira Sans" pitchFamily="34" charset="0"/>
                <a:ea typeface="Fira Sans" pitchFamily="34" charset="-122"/>
                <a:cs typeface="Fira Sans" pitchFamily="34" charset="-120"/>
              </a:rPr>
              <a:t>— no new model — pulls the extremes back toward behavior. This is </a:t>
            </a:r>
            <a:r>
              <a:rPr lang="en-US" sz="1950" b="1" dirty="0">
                <a:solidFill>
                  <a:srgbClr val="B3402F"/>
                </a:solidFill>
                <a:latin typeface="Fira Sans" pitchFamily="34" charset="0"/>
                <a:ea typeface="Fira Sans" pitchFamily="34" charset="-122"/>
                <a:cs typeface="Fira Sans" pitchFamily="34" charset="-120"/>
              </a:rPr>
              <a:t>Direction 1's first experiment</a:t>
            </a:r>
            <a:r>
              <a:rPr lang="en-US" sz="1950" dirty="0">
                <a:solidFill>
                  <a:srgbClr val="2A2520"/>
                </a:solidFill>
                <a:latin typeface="Fira Sans" pitchFamily="34" charset="0"/>
                <a:ea typeface="Fira Sans" pitchFamily="34" charset="-122"/>
                <a:cs typeface="Fira Sans" pitchFamily="34" charset="-120"/>
              </a:rPr>
              <a:t>.</a:t>
            </a:r>
            <a:endParaRPr lang="en-US" sz="1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17937626"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TAKING STOCK</a:t>
            </a:r>
            <a:endParaRPr lang="en-US" sz="1875" dirty="0"/>
          </a:p>
        </p:txBody>
      </p:sp>
      <p:sp>
        <p:nvSpPr>
          <p:cNvPr id="3" name="Text 1"/>
          <p:cNvSpPr/>
          <p:nvPr/>
        </p:nvSpPr>
        <p:spPr>
          <a:xfrm>
            <a:off x="990533" y="1335432"/>
            <a:ext cx="17937626" cy="614196"/>
          </a:xfrm>
          <a:prstGeom prst="rect">
            <a:avLst/>
          </a:prstGeom>
          <a:noFill/>
          <a:ln/>
        </p:spPr>
        <p:txBody>
          <a:bodyPr wrap="square" lIns="25400" tIns="25400" rIns="25400" bIns="25400" rtlCol="0" anchor="t">
            <a:normAutofit/>
          </a:bodyPr>
          <a:lstStyle/>
          <a:p>
            <a:pPr marL="0" indent="0" algn="l">
              <a:lnSpc>
                <a:spcPct val="108000"/>
              </a:lnSpc>
              <a:buNone/>
            </a:pPr>
            <a:r>
              <a:rPr lang="en-US" sz="4200" b="1" kern="0" spc="-84" dirty="0">
                <a:solidFill>
                  <a:srgbClr val="2A2520"/>
                </a:solidFill>
                <a:latin typeface="Fira Sans" pitchFamily="34" charset="0"/>
                <a:ea typeface="Fira Sans" pitchFamily="34" charset="-122"/>
                <a:cs typeface="Fira Sans" pitchFamily="34" charset="-120"/>
              </a:rPr>
              <a:t>Three things we now know</a:t>
            </a:r>
            <a:endParaRPr lang="en-US" sz="4200" dirty="0"/>
          </a:p>
        </p:txBody>
      </p:sp>
      <p:sp>
        <p:nvSpPr>
          <p:cNvPr id="4" name="Text 2"/>
          <p:cNvSpPr/>
          <p:nvPr/>
        </p:nvSpPr>
        <p:spPr>
          <a:xfrm>
            <a:off x="990533" y="3871713"/>
            <a:ext cx="1885950" cy="306665"/>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BFA06E"/>
                </a:solidFill>
                <a:latin typeface="Fira Sans" pitchFamily="34" charset="0"/>
                <a:ea typeface="Fira Sans" pitchFamily="34" charset="-122"/>
                <a:cs typeface="Fira Sans" pitchFamily="34" charset="-120"/>
              </a:rPr>
              <a:t>FINDING 01</a:t>
            </a:r>
            <a:endParaRPr lang="en-US" sz="1800" dirty="0"/>
          </a:p>
        </p:txBody>
      </p:sp>
      <p:sp>
        <p:nvSpPr>
          <p:cNvPr id="5" name="Shape 3"/>
          <p:cNvSpPr/>
          <p:nvPr/>
        </p:nvSpPr>
        <p:spPr>
          <a:xfrm>
            <a:off x="3009767" y="3814563"/>
            <a:ext cx="25578" cy="1243712"/>
          </a:xfrm>
          <a:prstGeom prst="rect">
            <a:avLst/>
          </a:prstGeom>
          <a:solidFill>
            <a:srgbClr val="B3402F"/>
          </a:solidFill>
          <a:ln/>
        </p:spPr>
        <p:txBody>
          <a:bodyPr/>
          <a:lstStyle/>
          <a:p>
            <a:endParaRPr lang="he-IL"/>
          </a:p>
        </p:txBody>
      </p:sp>
      <p:sp>
        <p:nvSpPr>
          <p:cNvPr id="6" name="Text 4"/>
          <p:cNvSpPr/>
          <p:nvPr/>
        </p:nvSpPr>
        <p:spPr>
          <a:xfrm>
            <a:off x="3302011" y="3814563"/>
            <a:ext cx="13173625" cy="421764"/>
          </a:xfrm>
          <a:prstGeom prst="rect">
            <a:avLst/>
          </a:prstGeom>
          <a:noFill/>
          <a:ln/>
        </p:spPr>
        <p:txBody>
          <a:bodyPr wrap="square" lIns="25400" tIns="25400" rIns="25400" bIns="25400" rtlCol="0" anchor="t">
            <a:normAutofit/>
          </a:bodyPr>
          <a:lstStyle/>
          <a:p>
            <a:pPr marL="0" indent="0" algn="l">
              <a:buNone/>
            </a:pPr>
            <a:r>
              <a:rPr lang="en-US" sz="2550" b="1" dirty="0">
                <a:solidFill>
                  <a:srgbClr val="2A2520"/>
                </a:solidFill>
                <a:latin typeface="Fira Sans" pitchFamily="34" charset="0"/>
                <a:ea typeface="Fira Sans" pitchFamily="34" charset="-122"/>
                <a:cs typeface="Fira Sans" pitchFamily="34" charset="-120"/>
              </a:rPr>
              <a:t>Reaction time: ruled out</a:t>
            </a:r>
            <a:endParaRPr lang="en-US" sz="2550" dirty="0"/>
          </a:p>
        </p:txBody>
      </p:sp>
      <p:sp>
        <p:nvSpPr>
          <p:cNvPr id="7" name="Text 5"/>
          <p:cNvSpPr/>
          <p:nvPr/>
        </p:nvSpPr>
        <p:spPr>
          <a:xfrm>
            <a:off x="3302011" y="4312527"/>
            <a:ext cx="12335303" cy="783848"/>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5A5347"/>
                </a:solidFill>
                <a:latin typeface="Fira Sans" pitchFamily="34" charset="0"/>
                <a:ea typeface="Fira Sans" pitchFamily="34" charset="-122"/>
                <a:cs typeface="Fira Sans" pitchFamily="34" charset="-120"/>
              </a:rPr>
              <a:t>A dramatic effect looked real at first, but disappeared under scrutiny - small-sample inflation plus a 1.5 s measurement floor. Ruled out on data, not guesswork.</a:t>
            </a:r>
            <a:endParaRPr lang="en-US" sz="2025" dirty="0"/>
          </a:p>
        </p:txBody>
      </p:sp>
      <p:sp>
        <p:nvSpPr>
          <p:cNvPr id="8" name="Text 6"/>
          <p:cNvSpPr/>
          <p:nvPr/>
        </p:nvSpPr>
        <p:spPr>
          <a:xfrm>
            <a:off x="990533" y="5496391"/>
            <a:ext cx="1885950" cy="306665"/>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BFA06E"/>
                </a:solidFill>
                <a:latin typeface="Fira Sans" pitchFamily="34" charset="0"/>
                <a:ea typeface="Fira Sans" pitchFamily="34" charset="-122"/>
                <a:cs typeface="Fira Sans" pitchFamily="34" charset="-120"/>
              </a:rPr>
              <a:t>FINDING 02</a:t>
            </a:r>
            <a:endParaRPr lang="en-US" sz="1800" dirty="0"/>
          </a:p>
        </p:txBody>
      </p:sp>
      <p:sp>
        <p:nvSpPr>
          <p:cNvPr id="9" name="Shape 7"/>
          <p:cNvSpPr/>
          <p:nvPr/>
        </p:nvSpPr>
        <p:spPr>
          <a:xfrm>
            <a:off x="3009767" y="5439241"/>
            <a:ext cx="25578" cy="1243712"/>
          </a:xfrm>
          <a:prstGeom prst="rect">
            <a:avLst/>
          </a:prstGeom>
          <a:solidFill>
            <a:srgbClr val="B3402F"/>
          </a:solidFill>
          <a:ln/>
        </p:spPr>
        <p:txBody>
          <a:bodyPr/>
          <a:lstStyle/>
          <a:p>
            <a:endParaRPr lang="he-IL"/>
          </a:p>
        </p:txBody>
      </p:sp>
      <p:sp>
        <p:nvSpPr>
          <p:cNvPr id="10" name="Text 8"/>
          <p:cNvSpPr/>
          <p:nvPr/>
        </p:nvSpPr>
        <p:spPr>
          <a:xfrm>
            <a:off x="3302011" y="5439241"/>
            <a:ext cx="13173625" cy="421764"/>
          </a:xfrm>
          <a:prstGeom prst="rect">
            <a:avLst/>
          </a:prstGeom>
          <a:noFill/>
          <a:ln/>
        </p:spPr>
        <p:txBody>
          <a:bodyPr wrap="square" lIns="25400" tIns="25400" rIns="25400" bIns="25400" rtlCol="0" anchor="t">
            <a:normAutofit/>
          </a:bodyPr>
          <a:lstStyle/>
          <a:p>
            <a:pPr marL="0" indent="0" algn="l">
              <a:buNone/>
            </a:pPr>
            <a:r>
              <a:rPr lang="en-US" sz="2550" b="1" dirty="0">
                <a:solidFill>
                  <a:srgbClr val="2A2520"/>
                </a:solidFill>
                <a:latin typeface="Fira Sans" pitchFamily="34" charset="0"/>
                <a:ea typeface="Fira Sans" pitchFamily="34" charset="-122"/>
                <a:cs typeface="Fira Sans" pitchFamily="34" charset="-120"/>
              </a:rPr>
              <a:t>Side-switch: a circularity trap</a:t>
            </a:r>
            <a:endParaRPr lang="en-US" sz="2550" dirty="0"/>
          </a:p>
        </p:txBody>
      </p:sp>
      <p:sp>
        <p:nvSpPr>
          <p:cNvPr id="11" name="Text 9"/>
          <p:cNvSpPr/>
          <p:nvPr/>
        </p:nvSpPr>
        <p:spPr>
          <a:xfrm>
            <a:off x="3302011" y="5937206"/>
            <a:ext cx="12335303" cy="783848"/>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5A5347"/>
                </a:solidFill>
                <a:latin typeface="Fira Sans" pitchFamily="34" charset="0"/>
                <a:ea typeface="Fira Sans" pitchFamily="34" charset="-122"/>
                <a:cs typeface="Fira Sans" pitchFamily="34" charset="-120"/>
              </a:rPr>
              <a:t>The strongest raw correlate </a:t>
            </a:r>
            <a:r>
              <a:rPr lang="en-US" sz="2025" b="1" dirty="0">
                <a:solidFill>
                  <a:srgbClr val="2A2520"/>
                </a:solidFill>
                <a:latin typeface="Fira Sans" pitchFamily="34" charset="0"/>
                <a:ea typeface="Fira Sans" pitchFamily="34" charset="-122"/>
                <a:cs typeface="Fira Sans" pitchFamily="34" charset="-120"/>
              </a:rPr>
              <a:t>(d = 2.15) </a:t>
            </a:r>
            <a:r>
              <a:rPr lang="en-US" sz="2025" dirty="0">
                <a:solidFill>
                  <a:srgbClr val="5A5347"/>
                </a:solidFill>
                <a:latin typeface="Fira Sans" pitchFamily="34" charset="0"/>
                <a:ea typeface="Fira Sans" pitchFamily="34" charset="-122"/>
                <a:cs typeface="Fira Sans" pitchFamily="34" charset="-120"/>
              </a:rPr>
              <a:t>was leakage, not insight — but rebuilt from history alone it still predicts </a:t>
            </a:r>
            <a:r>
              <a:rPr lang="en-US" sz="2025" b="1" dirty="0">
                <a:solidFill>
                  <a:srgbClr val="2A2520"/>
                </a:solidFill>
                <a:latin typeface="Fira Sans" pitchFamily="34" charset="0"/>
                <a:ea typeface="Fira Sans" pitchFamily="34" charset="-122"/>
                <a:cs typeface="Fira Sans" pitchFamily="34" charset="-120"/>
              </a:rPr>
              <a:t>(d = 0.41)</a:t>
            </a:r>
            <a:r>
              <a:rPr lang="en-US" sz="2025" dirty="0">
                <a:solidFill>
                  <a:srgbClr val="5A5347"/>
                </a:solidFill>
                <a:latin typeface="Fira Sans" pitchFamily="34" charset="0"/>
                <a:ea typeface="Fira Sans" pitchFamily="34" charset="-122"/>
                <a:cs typeface="Fira Sans" pitchFamily="34" charset="-120"/>
              </a:rPr>
              <a:t>, and it pinpoints the inertia parameter to re-tune. A trap turned into two leads.</a:t>
            </a:r>
            <a:endParaRPr lang="en-US" sz="2025" dirty="0"/>
          </a:p>
        </p:txBody>
      </p:sp>
      <p:sp>
        <p:nvSpPr>
          <p:cNvPr id="12" name="Text 10"/>
          <p:cNvSpPr/>
          <p:nvPr/>
        </p:nvSpPr>
        <p:spPr>
          <a:xfrm>
            <a:off x="990533" y="7121070"/>
            <a:ext cx="1885950" cy="306665"/>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BFA06E"/>
                </a:solidFill>
                <a:latin typeface="Fira Sans" pitchFamily="34" charset="0"/>
                <a:ea typeface="Fira Sans" pitchFamily="34" charset="-122"/>
                <a:cs typeface="Fira Sans" pitchFamily="34" charset="-120"/>
              </a:rPr>
              <a:t>FINDING 03</a:t>
            </a:r>
            <a:endParaRPr lang="en-US" sz="1800" dirty="0"/>
          </a:p>
        </p:txBody>
      </p:sp>
      <p:sp>
        <p:nvSpPr>
          <p:cNvPr id="13" name="Shape 11"/>
          <p:cNvSpPr/>
          <p:nvPr/>
        </p:nvSpPr>
        <p:spPr>
          <a:xfrm>
            <a:off x="3009767" y="7063920"/>
            <a:ext cx="25578" cy="1243712"/>
          </a:xfrm>
          <a:prstGeom prst="rect">
            <a:avLst/>
          </a:prstGeom>
          <a:solidFill>
            <a:srgbClr val="2F6B7A"/>
          </a:solidFill>
          <a:ln/>
        </p:spPr>
        <p:txBody>
          <a:bodyPr/>
          <a:lstStyle/>
          <a:p>
            <a:endParaRPr lang="he-IL"/>
          </a:p>
        </p:txBody>
      </p:sp>
      <p:sp>
        <p:nvSpPr>
          <p:cNvPr id="14" name="Text 12"/>
          <p:cNvSpPr/>
          <p:nvPr/>
        </p:nvSpPr>
        <p:spPr>
          <a:xfrm>
            <a:off x="3302011" y="7063920"/>
            <a:ext cx="13173625" cy="421764"/>
          </a:xfrm>
          <a:prstGeom prst="rect">
            <a:avLst/>
          </a:prstGeom>
          <a:noFill/>
          <a:ln/>
        </p:spPr>
        <p:txBody>
          <a:bodyPr wrap="square" lIns="25400" tIns="25400" rIns="25400" bIns="25400" rtlCol="0" anchor="t">
            <a:normAutofit/>
          </a:bodyPr>
          <a:lstStyle/>
          <a:p>
            <a:pPr marL="0" indent="0" algn="l">
              <a:buNone/>
            </a:pPr>
            <a:r>
              <a:rPr lang="en-US" sz="2550" b="1" dirty="0">
                <a:solidFill>
                  <a:srgbClr val="2A2520"/>
                </a:solidFill>
                <a:latin typeface="Fira Sans" pitchFamily="34" charset="0"/>
                <a:ea typeface="Fira Sans" pitchFamily="34" charset="-122"/>
                <a:cs typeface="Fira Sans" pitchFamily="34" charset="-120"/>
              </a:rPr>
              <a:t>Calibration: specific, fixable zones</a:t>
            </a:r>
            <a:endParaRPr lang="en-US" sz="2550" dirty="0"/>
          </a:p>
        </p:txBody>
      </p:sp>
      <p:sp>
        <p:nvSpPr>
          <p:cNvPr id="15" name="Text 13"/>
          <p:cNvSpPr/>
          <p:nvPr/>
        </p:nvSpPr>
        <p:spPr>
          <a:xfrm>
            <a:off x="3302011" y="7561884"/>
            <a:ext cx="12335303" cy="783848"/>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5A5347"/>
                </a:solidFill>
                <a:latin typeface="Fira Sans" pitchFamily="34" charset="0"/>
                <a:ea typeface="Fira Sans" pitchFamily="34" charset="-122"/>
                <a:cs typeface="Fira Sans" pitchFamily="34" charset="-120"/>
              </a:rPr>
              <a:t>CATIE’s confidence isn’t uniformly off - it has structured over- and under-confident zones, and a simple shrinkage transform may be enough to fix the worst of it.</a:t>
            </a:r>
            <a:endParaRPr lang="en-US" sz="20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5930961"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ROADMAP &amp; CONCLUSION</a:t>
            </a:r>
            <a:endParaRPr lang="en-US" sz="1875" dirty="0"/>
          </a:p>
        </p:txBody>
      </p:sp>
      <p:sp>
        <p:nvSpPr>
          <p:cNvPr id="3" name="Text 1"/>
          <p:cNvSpPr/>
          <p:nvPr/>
        </p:nvSpPr>
        <p:spPr>
          <a:xfrm>
            <a:off x="990533" y="1335432"/>
            <a:ext cx="5930961"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Three directions forward</a:t>
            </a:r>
            <a:endParaRPr lang="en-US" sz="3900" dirty="0"/>
          </a:p>
        </p:txBody>
      </p:sp>
      <p:sp>
        <p:nvSpPr>
          <p:cNvPr id="4" name="Shape 2"/>
          <p:cNvSpPr/>
          <p:nvPr/>
        </p:nvSpPr>
        <p:spPr>
          <a:xfrm>
            <a:off x="990533" y="3165131"/>
            <a:ext cx="5245111" cy="4762433"/>
          </a:xfrm>
          <a:prstGeom prst="roundRect">
            <a:avLst>
              <a:gd name="adj" fmla="val 3600"/>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sp>
        <p:nvSpPr>
          <p:cNvPr id="5" name="Text 3"/>
          <p:cNvSpPr/>
          <p:nvPr/>
        </p:nvSpPr>
        <p:spPr>
          <a:xfrm>
            <a:off x="3447850" y="3979518"/>
            <a:ext cx="330478" cy="332243"/>
          </a:xfrm>
          <a:prstGeom prst="rect">
            <a:avLst/>
          </a:prstGeom>
          <a:noFill/>
          <a:ln/>
        </p:spPr>
        <p:txBody>
          <a:bodyPr wrap="square" lIns="25400" tIns="25400" rIns="25400" bIns="25400" rtlCol="0" anchor="t">
            <a:normAutofit/>
          </a:bodyPr>
          <a:lstStyle/>
          <a:p>
            <a:pPr marL="0" indent="0" algn="ctr">
              <a:buNone/>
            </a:pPr>
            <a:r>
              <a:rPr lang="en-US" sz="1950" b="1" dirty="0">
                <a:solidFill>
                  <a:srgbClr val="B3402F"/>
                </a:solidFill>
                <a:latin typeface="Fira Sans" pitchFamily="34" charset="0"/>
                <a:ea typeface="Fira Sans" pitchFamily="34" charset="-122"/>
                <a:cs typeface="Fira Sans" pitchFamily="34" charset="-120"/>
              </a:rPr>
              <a:t>01</a:t>
            </a:r>
            <a:endParaRPr lang="en-US" sz="19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5839" y="4445111"/>
            <a:ext cx="914400" cy="628650"/>
          </a:xfrm>
          <a:prstGeom prst="rect">
            <a:avLst/>
          </a:prstGeom>
        </p:spPr>
      </p:pic>
      <p:sp>
        <p:nvSpPr>
          <p:cNvPr id="7" name="Text 4"/>
          <p:cNvSpPr/>
          <p:nvPr/>
        </p:nvSpPr>
        <p:spPr>
          <a:xfrm>
            <a:off x="2300123" y="5245211"/>
            <a:ext cx="2625933" cy="408976"/>
          </a:xfrm>
          <a:prstGeom prst="rect">
            <a:avLst/>
          </a:prstGeom>
          <a:noFill/>
          <a:ln/>
        </p:spPr>
        <p:txBody>
          <a:bodyPr wrap="square" lIns="25400" tIns="25400" rIns="25400" bIns="25400" rtlCol="0" anchor="t">
            <a:normAutofit/>
          </a:bodyPr>
          <a:lstStyle/>
          <a:p>
            <a:pPr marL="0" indent="0" algn="ctr">
              <a:buNone/>
            </a:pPr>
            <a:r>
              <a:rPr lang="en-US" sz="2400" b="1" dirty="0">
                <a:solidFill>
                  <a:srgbClr val="2A2520"/>
                </a:solidFill>
                <a:latin typeface="Fira Sans" pitchFamily="34" charset="0"/>
                <a:ea typeface="Fira Sans" pitchFamily="34" charset="-122"/>
                <a:cs typeface="Fira Sans" pitchFamily="34" charset="-120"/>
              </a:rPr>
              <a:t>Gradient Descent</a:t>
            </a:r>
            <a:endParaRPr lang="en-US" sz="2400" dirty="0"/>
          </a:p>
        </p:txBody>
      </p:sp>
      <p:sp>
        <p:nvSpPr>
          <p:cNvPr id="8" name="Text 5"/>
          <p:cNvSpPr/>
          <p:nvPr/>
        </p:nvSpPr>
        <p:spPr>
          <a:xfrm>
            <a:off x="1212765" y="5787536"/>
            <a:ext cx="4800647" cy="1363740"/>
          </a:xfrm>
          <a:prstGeom prst="rect">
            <a:avLst/>
          </a:prstGeom>
          <a:noFill/>
          <a:ln/>
        </p:spPr>
        <p:txBody>
          <a:bodyPr wrap="square" lIns="25400" tIns="25400" rIns="25400" bIns="25400" rtlCol="0" anchor="t">
            <a:normAutofit/>
          </a:bodyPr>
          <a:lstStyle/>
          <a:p>
            <a:pPr marL="0" indent="0" algn="ctr">
              <a:lnSpc>
                <a:spcPct val="145000"/>
              </a:lnSpc>
              <a:buNone/>
            </a:pPr>
            <a:r>
              <a:rPr lang="en-US" sz="1800" dirty="0">
                <a:solidFill>
                  <a:srgbClr val="7A7264"/>
                </a:solidFill>
                <a:latin typeface="Fira Sans" pitchFamily="34" charset="0"/>
                <a:ea typeface="Fira Sans" pitchFamily="34" charset="-122"/>
                <a:cs typeface="Fira Sans" pitchFamily="34" charset="-120"/>
              </a:rPr>
              <a:t>Re-tune CATIE’s parameters </a:t>
            </a:r>
            <a:r>
              <a:rPr lang="en-US" sz="1800" b="1" dirty="0">
                <a:solidFill>
                  <a:srgbClr val="5A5347"/>
                </a:solidFill>
                <a:latin typeface="Fira Sans" pitchFamily="34" charset="0"/>
                <a:ea typeface="Fira Sans" pitchFamily="34" charset="-122"/>
                <a:cs typeface="Fira Sans" pitchFamily="34" charset="-120"/>
              </a:rPr>
              <a:t>(esp. inertia = 0.71) </a:t>
            </a:r>
            <a:r>
              <a:rPr lang="en-US" sz="1800" dirty="0">
                <a:solidFill>
                  <a:srgbClr val="7A7264"/>
                </a:solidFill>
                <a:latin typeface="Fira Sans" pitchFamily="34" charset="0"/>
                <a:ea typeface="Fira Sans" pitchFamily="34" charset="-122"/>
                <a:cs typeface="Fira Sans" pitchFamily="34" charset="-120"/>
              </a:rPr>
              <a:t>by gradient descent — fixes the global over-confidence the calibration curve exposed.</a:t>
            </a:r>
            <a:endParaRPr lang="en-US" sz="1800" dirty="0"/>
          </a:p>
        </p:txBody>
      </p:sp>
      <p:sp>
        <p:nvSpPr>
          <p:cNvPr id="9" name="Shape 6"/>
          <p:cNvSpPr/>
          <p:nvPr/>
        </p:nvSpPr>
        <p:spPr>
          <a:xfrm>
            <a:off x="6521394" y="3165131"/>
            <a:ext cx="5245211" cy="4762433"/>
          </a:xfrm>
          <a:prstGeom prst="roundRect">
            <a:avLst>
              <a:gd name="adj" fmla="val 3600"/>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sp>
        <p:nvSpPr>
          <p:cNvPr id="10" name="Text 7"/>
          <p:cNvSpPr/>
          <p:nvPr/>
        </p:nvSpPr>
        <p:spPr>
          <a:xfrm>
            <a:off x="8970818" y="3979518"/>
            <a:ext cx="346364" cy="332243"/>
          </a:xfrm>
          <a:prstGeom prst="rect">
            <a:avLst/>
          </a:prstGeom>
          <a:noFill/>
          <a:ln/>
        </p:spPr>
        <p:txBody>
          <a:bodyPr wrap="square" lIns="25400" tIns="25400" rIns="25400" bIns="25400" rtlCol="0" anchor="t">
            <a:normAutofit/>
          </a:bodyPr>
          <a:lstStyle/>
          <a:p>
            <a:pPr marL="0" indent="0" algn="ctr">
              <a:buNone/>
            </a:pPr>
            <a:r>
              <a:rPr lang="en-US" sz="1950" b="1" dirty="0">
                <a:solidFill>
                  <a:srgbClr val="B3402F"/>
                </a:solidFill>
                <a:latin typeface="Fira Sans" pitchFamily="34" charset="0"/>
                <a:ea typeface="Fira Sans" pitchFamily="34" charset="-122"/>
                <a:cs typeface="Fira Sans" pitchFamily="34" charset="-120"/>
              </a:rPr>
              <a:t>02</a:t>
            </a:r>
            <a:endParaRPr lang="en-US" sz="195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0158" y="4445111"/>
            <a:ext cx="1047683" cy="628650"/>
          </a:xfrm>
          <a:prstGeom prst="rect">
            <a:avLst/>
          </a:prstGeom>
        </p:spPr>
      </p:pic>
      <p:sp>
        <p:nvSpPr>
          <p:cNvPr id="12" name="Text 8"/>
          <p:cNvSpPr/>
          <p:nvPr/>
        </p:nvSpPr>
        <p:spPr>
          <a:xfrm>
            <a:off x="7954730" y="5245211"/>
            <a:ext cx="2378539" cy="408976"/>
          </a:xfrm>
          <a:prstGeom prst="rect">
            <a:avLst/>
          </a:prstGeom>
          <a:noFill/>
          <a:ln/>
        </p:spPr>
        <p:txBody>
          <a:bodyPr wrap="square" lIns="25400" tIns="25400" rIns="25400" bIns="25400" rtlCol="0" anchor="t">
            <a:normAutofit/>
          </a:bodyPr>
          <a:lstStyle/>
          <a:p>
            <a:pPr marL="0" indent="0" algn="ctr">
              <a:buNone/>
            </a:pPr>
            <a:r>
              <a:rPr lang="en-US" sz="2400" b="1" dirty="0">
                <a:solidFill>
                  <a:srgbClr val="2A2520"/>
                </a:solidFill>
                <a:latin typeface="Fira Sans" pitchFamily="34" charset="0"/>
                <a:ea typeface="Fira Sans" pitchFamily="34" charset="-122"/>
                <a:cs typeface="Fira Sans" pitchFamily="34" charset="-120"/>
              </a:rPr>
              <a:t>Neural Network</a:t>
            </a:r>
            <a:endParaRPr lang="en-US" sz="2400" dirty="0"/>
          </a:p>
        </p:txBody>
      </p:sp>
      <p:sp>
        <p:nvSpPr>
          <p:cNvPr id="13" name="Text 9"/>
          <p:cNvSpPr/>
          <p:nvPr/>
        </p:nvSpPr>
        <p:spPr>
          <a:xfrm>
            <a:off x="6743625" y="5787536"/>
            <a:ext cx="4800750" cy="1363740"/>
          </a:xfrm>
          <a:prstGeom prst="rect">
            <a:avLst/>
          </a:prstGeom>
          <a:noFill/>
          <a:ln/>
        </p:spPr>
        <p:txBody>
          <a:bodyPr wrap="square" lIns="25400" tIns="25400" rIns="25400" bIns="25400" rtlCol="0" anchor="t">
            <a:normAutofit/>
          </a:bodyPr>
          <a:lstStyle/>
          <a:p>
            <a:pPr marL="0" indent="0" algn="ctr">
              <a:lnSpc>
                <a:spcPct val="145000"/>
              </a:lnSpc>
              <a:buNone/>
            </a:pPr>
            <a:r>
              <a:rPr lang="en-US" sz="1800" dirty="0">
                <a:solidFill>
                  <a:srgbClr val="7A7264"/>
                </a:solidFill>
                <a:latin typeface="Fira Sans" pitchFamily="34" charset="0"/>
                <a:ea typeface="Fira Sans" pitchFamily="34" charset="-122"/>
                <a:cs typeface="Fira Sans" pitchFamily="34" charset="-120"/>
              </a:rPr>
              <a:t>Train on the non-leaky survivors — lagged switch-rate </a:t>
            </a:r>
            <a:r>
              <a:rPr lang="en-US" sz="1800" b="1" dirty="0">
                <a:solidFill>
                  <a:srgbClr val="5A5347"/>
                </a:solidFill>
                <a:latin typeface="Fira Sans" pitchFamily="34" charset="0"/>
                <a:ea typeface="Fira Sans" pitchFamily="34" charset="-122"/>
                <a:cs typeface="Fira Sans" pitchFamily="34" charset="-120"/>
              </a:rPr>
              <a:t>(d=0.41)</a:t>
            </a:r>
            <a:r>
              <a:rPr lang="en-US" sz="1800" dirty="0">
                <a:solidFill>
                  <a:srgbClr val="7A7264"/>
                </a:solidFill>
                <a:latin typeface="Fira Sans" pitchFamily="34" charset="0"/>
                <a:ea typeface="Fira Sans" pitchFamily="34" charset="-122"/>
                <a:cs typeface="Fira Sans" pitchFamily="34" charset="-120"/>
              </a:rPr>
              <a:t>, previous biased choice </a:t>
            </a:r>
            <a:r>
              <a:rPr lang="en-US" sz="1800" b="1" dirty="0">
                <a:solidFill>
                  <a:srgbClr val="5A5347"/>
                </a:solidFill>
                <a:latin typeface="Fira Sans" pitchFamily="34" charset="0"/>
                <a:ea typeface="Fira Sans" pitchFamily="34" charset="-122"/>
                <a:cs typeface="Fira Sans" pitchFamily="34" charset="-120"/>
              </a:rPr>
              <a:t>(d=0.69) </a:t>
            </a:r>
            <a:r>
              <a:rPr lang="en-US" sz="1800" dirty="0">
                <a:solidFill>
                  <a:srgbClr val="7A7264"/>
                </a:solidFill>
                <a:latin typeface="Fira Sans" pitchFamily="34" charset="0"/>
                <a:ea typeface="Fira Sans" pitchFamily="34" charset="-122"/>
                <a:cs typeface="Fira Sans" pitchFamily="34" charset="-120"/>
              </a:rPr>
              <a:t>, reward history, trial position — to capture when people switch.</a:t>
            </a:r>
            <a:endParaRPr lang="en-US" sz="1800" dirty="0"/>
          </a:p>
        </p:txBody>
      </p:sp>
      <p:sp>
        <p:nvSpPr>
          <p:cNvPr id="14" name="Shape 10"/>
          <p:cNvSpPr/>
          <p:nvPr/>
        </p:nvSpPr>
        <p:spPr>
          <a:xfrm>
            <a:off x="12052355" y="3165131"/>
            <a:ext cx="5245111" cy="4762433"/>
          </a:xfrm>
          <a:prstGeom prst="roundRect">
            <a:avLst>
              <a:gd name="adj" fmla="val 3600"/>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sp>
        <p:nvSpPr>
          <p:cNvPr id="15" name="Text 11"/>
          <p:cNvSpPr/>
          <p:nvPr/>
        </p:nvSpPr>
        <p:spPr>
          <a:xfrm>
            <a:off x="14501180" y="4463795"/>
            <a:ext cx="347363" cy="332243"/>
          </a:xfrm>
          <a:prstGeom prst="rect">
            <a:avLst/>
          </a:prstGeom>
          <a:noFill/>
          <a:ln/>
        </p:spPr>
        <p:txBody>
          <a:bodyPr wrap="square" lIns="25400" tIns="25400" rIns="25400" bIns="25400" rtlCol="0" anchor="t">
            <a:normAutofit/>
          </a:bodyPr>
          <a:lstStyle/>
          <a:p>
            <a:pPr marL="0" indent="0" algn="ctr">
              <a:buNone/>
            </a:pPr>
            <a:r>
              <a:rPr lang="en-US" sz="1950" b="1" dirty="0">
                <a:solidFill>
                  <a:srgbClr val="B3402F"/>
                </a:solidFill>
                <a:latin typeface="Fira Sans" pitchFamily="34" charset="0"/>
                <a:ea typeface="Fira Sans" pitchFamily="34" charset="-122"/>
                <a:cs typeface="Fira Sans" pitchFamily="34" charset="-120"/>
              </a:rPr>
              <a:t>03</a:t>
            </a:r>
            <a:endParaRPr lang="en-US" sz="1950" dirty="0"/>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217661" y="4929387"/>
            <a:ext cx="914400" cy="628650"/>
          </a:xfrm>
          <a:prstGeom prst="rect">
            <a:avLst/>
          </a:prstGeom>
        </p:spPr>
      </p:pic>
      <p:sp>
        <p:nvSpPr>
          <p:cNvPr id="17" name="Text 12"/>
          <p:cNvSpPr/>
          <p:nvPr/>
        </p:nvSpPr>
        <p:spPr>
          <a:xfrm>
            <a:off x="12973214" y="5729487"/>
            <a:ext cx="3403392" cy="408976"/>
          </a:xfrm>
          <a:prstGeom prst="rect">
            <a:avLst/>
          </a:prstGeom>
          <a:noFill/>
          <a:ln/>
        </p:spPr>
        <p:txBody>
          <a:bodyPr wrap="square" lIns="25400" tIns="25400" rIns="25400" bIns="25400" rtlCol="0" anchor="t">
            <a:normAutofit/>
          </a:bodyPr>
          <a:lstStyle/>
          <a:p>
            <a:pPr marL="0" indent="0" algn="ctr">
              <a:buNone/>
            </a:pPr>
            <a:r>
              <a:rPr lang="en-US" sz="2400" b="1" dirty="0">
                <a:solidFill>
                  <a:srgbClr val="2A2520"/>
                </a:solidFill>
                <a:latin typeface="Fira Sans" pitchFamily="34" charset="0"/>
                <a:ea typeface="Fira Sans" pitchFamily="34" charset="-122"/>
                <a:cs typeface="Fira Sans" pitchFamily="34" charset="-120"/>
              </a:rPr>
              <a:t>Large Language Model</a:t>
            </a:r>
            <a:endParaRPr lang="en-US" sz="2400" dirty="0"/>
          </a:p>
        </p:txBody>
      </p:sp>
      <p:sp>
        <p:nvSpPr>
          <p:cNvPr id="18" name="Text 13"/>
          <p:cNvSpPr/>
          <p:nvPr/>
        </p:nvSpPr>
        <p:spPr>
          <a:xfrm>
            <a:off x="12707033" y="6271813"/>
            <a:ext cx="3935657" cy="395188"/>
          </a:xfrm>
          <a:prstGeom prst="rect">
            <a:avLst/>
          </a:prstGeom>
          <a:noFill/>
          <a:ln/>
        </p:spPr>
        <p:txBody>
          <a:bodyPr wrap="square" lIns="25400" tIns="25400" rIns="25400" bIns="25400" rtlCol="0" anchor="t">
            <a:normAutofit/>
          </a:bodyPr>
          <a:lstStyle/>
          <a:p>
            <a:pPr marL="0" indent="0" algn="ctr">
              <a:lnSpc>
                <a:spcPct val="150000"/>
              </a:lnSpc>
              <a:buNone/>
            </a:pPr>
            <a:r>
              <a:rPr lang="en-US" sz="1875" dirty="0">
                <a:solidFill>
                  <a:srgbClr val="7A7264"/>
                </a:solidFill>
                <a:latin typeface="Fira Sans" pitchFamily="34" charset="0"/>
                <a:ea typeface="Fira Sans" pitchFamily="34" charset="-122"/>
                <a:cs typeface="Fira Sans" pitchFamily="34" charset="-120"/>
              </a:rPr>
              <a:t>Generate features autonomously.</a:t>
            </a:r>
            <a:endParaRPr lang="en-US" sz="1875" dirty="0"/>
          </a:p>
        </p:txBody>
      </p:sp>
      <p:sp>
        <p:nvSpPr>
          <p:cNvPr id="19" name="Text 14"/>
          <p:cNvSpPr/>
          <p:nvPr/>
        </p:nvSpPr>
        <p:spPr>
          <a:xfrm>
            <a:off x="175187" y="9174473"/>
            <a:ext cx="17937626" cy="541060"/>
          </a:xfrm>
          <a:prstGeom prst="rect">
            <a:avLst/>
          </a:prstGeom>
          <a:noFill/>
          <a:ln/>
        </p:spPr>
        <p:txBody>
          <a:bodyPr wrap="square" lIns="25400" tIns="25400" rIns="25400" bIns="25400" rtlCol="0" anchor="t">
            <a:normAutofit/>
          </a:bodyPr>
          <a:lstStyle/>
          <a:p>
            <a:pPr marL="0" indent="0" algn="ctr">
              <a:lnSpc>
                <a:spcPct val="120000"/>
              </a:lnSpc>
              <a:buNone/>
            </a:pPr>
            <a:r>
              <a:rPr lang="en-US" sz="3300" b="1" dirty="0">
                <a:solidFill>
                  <a:srgbClr val="2A2520"/>
                </a:solidFill>
                <a:latin typeface="Fira Sans" pitchFamily="34" charset="0"/>
                <a:ea typeface="Fira Sans" pitchFamily="34" charset="-122"/>
                <a:cs typeface="Fira Sans" pitchFamily="34" charset="-120"/>
              </a:rPr>
              <a:t>Accuracy alone isn’t enough </a:t>
            </a:r>
            <a:r>
              <a:rPr lang="en-US" sz="3300" b="1" dirty="0">
                <a:solidFill>
                  <a:srgbClr val="B3402F"/>
                </a:solidFill>
                <a:latin typeface="Fira Sans" pitchFamily="34" charset="0"/>
                <a:ea typeface="Fira Sans" pitchFamily="34" charset="-122"/>
                <a:cs typeface="Fira Sans" pitchFamily="34" charset="-120"/>
              </a:rPr>
              <a:t>calibration </a:t>
            </a:r>
            <a:r>
              <a:rPr lang="en-US" sz="3300" b="1" dirty="0">
                <a:solidFill>
                  <a:srgbClr val="2A2520"/>
                </a:solidFill>
                <a:latin typeface="Fira Sans" pitchFamily="34" charset="0"/>
                <a:ea typeface="Fira Sans" pitchFamily="34" charset="-122"/>
                <a:cs typeface="Fira Sans" pitchFamily="34" charset="-120"/>
              </a:rPr>
              <a:t>must be measured too.</a:t>
            </a:r>
            <a:endParaRPr lang="en-US" sz="3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TotalTime>
  <Words>2569</Words>
  <Application>Microsoft Office PowerPoint</Application>
  <PresentationFormat>מותאם אישית</PresentationFormat>
  <Paragraphs>202</Paragraphs>
  <Slides>18</Slides>
  <Notes>18</Notes>
  <HiddenSlides>0</HiddenSlides>
  <MMClips>0</MMClips>
  <ScaleCrop>false</ScaleCrop>
  <HeadingPairs>
    <vt:vector size="6" baseType="variant">
      <vt:variant>
        <vt:lpstr>גופנים בשימוש</vt:lpstr>
      </vt:variant>
      <vt:variant>
        <vt:i4>2</vt:i4>
      </vt:variant>
      <vt:variant>
        <vt:lpstr>ערכת נושא</vt:lpstr>
      </vt:variant>
      <vt:variant>
        <vt:i4>1</vt:i4>
      </vt:variant>
      <vt:variant>
        <vt:lpstr>כותרות שקופיות</vt:lpstr>
      </vt:variant>
      <vt:variant>
        <vt:i4>18</vt:i4>
      </vt:variant>
    </vt:vector>
  </HeadingPairs>
  <TitlesOfParts>
    <vt:vector size="21" baseType="lpstr">
      <vt:lpstr>Arial</vt:lpstr>
      <vt:lpstr>Fira Sans</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Shir Holzman</cp:lastModifiedBy>
  <cp:revision>2</cp:revision>
  <dcterms:created xsi:type="dcterms:W3CDTF">2026-06-24T06:27:22Z</dcterms:created>
  <dcterms:modified xsi:type="dcterms:W3CDTF">2026-06-24T08:23:09Z</dcterms:modified>
</cp:coreProperties>
</file>