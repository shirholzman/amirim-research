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71" r:id="rId3"/>
    <p:sldId id="257" r:id="rId4"/>
    <p:sldId id="258" r:id="rId5"/>
    <p:sldId id="272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3" r:id="rId18"/>
    <p:sldId id="270" r:id="rId19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953A99B-3C8E-4A35-AA75-B57EA704EF23}" v="3" dt="2026-06-18T13:41:34.36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0488" autoAdjust="0"/>
  </p:normalViewPr>
  <p:slideViewPr>
    <p:cSldViewPr snapToGrid="0" snapToObjects="1">
      <p:cViewPr varScale="1">
        <p:scale>
          <a:sx n="39" d="100"/>
          <a:sy n="39" d="100"/>
        </p:scale>
        <p:origin x="1312" y="7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ir Holzman" userId="e79f80f5-33c9-4aee-ad4d-84a0edef3689" providerId="ADAL" clId="{5728A822-DACD-43FD-924C-58310E48A476}"/>
    <pc:docChg chg="undo custSel modSld sldOrd">
      <pc:chgData name="Shir Holzman" userId="e79f80f5-33c9-4aee-ad4d-84a0edef3689" providerId="ADAL" clId="{5728A822-DACD-43FD-924C-58310E48A476}" dt="2026-06-18T13:49:41.768" v="187" actId="15"/>
      <pc:docMkLst>
        <pc:docMk/>
      </pc:docMkLst>
      <pc:sldChg chg="modSp mod">
        <pc:chgData name="Shir Holzman" userId="e79f80f5-33c9-4aee-ad4d-84a0edef3689" providerId="ADAL" clId="{5728A822-DACD-43FD-924C-58310E48A476}" dt="2026-06-18T13:41:35.216" v="186" actId="27636"/>
        <pc:sldMkLst>
          <pc:docMk/>
          <pc:sldMk cId="0" sldId="256"/>
        </pc:sldMkLst>
        <pc:spChg chg="mod">
          <ac:chgData name="Shir Holzman" userId="e79f80f5-33c9-4aee-ad4d-84a0edef3689" providerId="ADAL" clId="{5728A822-DACD-43FD-924C-58310E48A476}" dt="2026-06-18T13:41:35.207" v="183" actId="27636"/>
          <ac:spMkLst>
            <pc:docMk/>
            <pc:sldMk cId="0" sldId="256"/>
            <ac:spMk id="2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5.212" v="184" actId="27636"/>
          <ac:spMkLst>
            <pc:docMk/>
            <pc:sldMk cId="0" sldId="256"/>
            <ac:spMk id="3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5.214" v="185" actId="27636"/>
          <ac:spMkLst>
            <pc:docMk/>
            <pc:sldMk cId="0" sldId="256"/>
            <ac:spMk id="11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5.216" v="186" actId="27636"/>
          <ac:spMkLst>
            <pc:docMk/>
            <pc:sldMk cId="0" sldId="256"/>
            <ac:spMk id="14" creationId="{00000000-0000-0000-0000-000000000000}"/>
          </ac:spMkLst>
        </pc:spChg>
      </pc:sldChg>
      <pc:sldChg chg="modSp mod ord">
        <pc:chgData name="Shir Holzman" userId="e79f80f5-33c9-4aee-ad4d-84a0edef3689" providerId="ADAL" clId="{5728A822-DACD-43FD-924C-58310E48A476}" dt="2026-06-18T13:41:34.469" v="80" actId="27636"/>
        <pc:sldMkLst>
          <pc:docMk/>
          <pc:sldMk cId="0" sldId="257"/>
        </pc:sldMkLst>
        <pc:spChg chg="mod">
          <ac:chgData name="Shir Holzman" userId="e79f80f5-33c9-4aee-ad4d-84a0edef3689" providerId="ADAL" clId="{5728A822-DACD-43FD-924C-58310E48A476}" dt="2026-06-18T13:41:34.459" v="75" actId="27636"/>
          <ac:spMkLst>
            <pc:docMk/>
            <pc:sldMk cId="0" sldId="257"/>
            <ac:spMk id="2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444" v="68" actId="27636"/>
          <ac:spMkLst>
            <pc:docMk/>
            <pc:sldMk cId="0" sldId="257"/>
            <ac:spMk id="3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448" v="71" actId="27636"/>
          <ac:spMkLst>
            <pc:docMk/>
            <pc:sldMk cId="0" sldId="257"/>
            <ac:spMk id="6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453" v="72" actId="27636"/>
          <ac:spMkLst>
            <pc:docMk/>
            <pc:sldMk cId="0" sldId="257"/>
            <ac:spMk id="7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469" v="79" actId="27636"/>
          <ac:spMkLst>
            <pc:docMk/>
            <pc:sldMk cId="0" sldId="257"/>
            <ac:spMk id="8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459" v="77" actId="27636"/>
          <ac:spMkLst>
            <pc:docMk/>
            <pc:sldMk cId="0" sldId="257"/>
            <ac:spMk id="11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469" v="80" actId="27636"/>
          <ac:spMkLst>
            <pc:docMk/>
            <pc:sldMk cId="0" sldId="257"/>
            <ac:spMk id="12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448" v="70" actId="27636"/>
          <ac:spMkLst>
            <pc:docMk/>
            <pc:sldMk cId="0" sldId="257"/>
            <ac:spMk id="13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469" v="78" actId="27636"/>
          <ac:spMkLst>
            <pc:docMk/>
            <pc:sldMk cId="0" sldId="257"/>
            <ac:spMk id="16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457" v="73" actId="27636"/>
          <ac:spMkLst>
            <pc:docMk/>
            <pc:sldMk cId="0" sldId="257"/>
            <ac:spMk id="17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429" v="65" actId="27636"/>
          <ac:spMkLst>
            <pc:docMk/>
            <pc:sldMk cId="0" sldId="257"/>
            <ac:spMk id="18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437" v="66" actId="27636"/>
          <ac:spMkLst>
            <pc:docMk/>
            <pc:sldMk cId="0" sldId="257"/>
            <ac:spMk id="21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440" v="67" actId="27636"/>
          <ac:spMkLst>
            <pc:docMk/>
            <pc:sldMk cId="0" sldId="257"/>
            <ac:spMk id="22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444" v="69" actId="27636"/>
          <ac:spMkLst>
            <pc:docMk/>
            <pc:sldMk cId="0" sldId="257"/>
            <ac:spMk id="23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459" v="76" actId="27636"/>
          <ac:spMkLst>
            <pc:docMk/>
            <pc:sldMk cId="0" sldId="257"/>
            <ac:spMk id="26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459" v="74" actId="27636"/>
          <ac:spMkLst>
            <pc:docMk/>
            <pc:sldMk cId="0" sldId="257"/>
            <ac:spMk id="27" creationId="{00000000-0000-0000-0000-000000000000}"/>
          </ac:spMkLst>
        </pc:spChg>
      </pc:sldChg>
      <pc:sldChg chg="modSp mod">
        <pc:chgData name="Shir Holzman" userId="e79f80f5-33c9-4aee-ad4d-84a0edef3689" providerId="ADAL" clId="{5728A822-DACD-43FD-924C-58310E48A476}" dt="2026-06-18T13:41:34.551" v="94" actId="27636"/>
        <pc:sldMkLst>
          <pc:docMk/>
          <pc:sldMk cId="0" sldId="258"/>
        </pc:sldMkLst>
        <pc:spChg chg="mod">
          <ac:chgData name="Shir Holzman" userId="e79f80f5-33c9-4aee-ad4d-84a0edef3689" providerId="ADAL" clId="{5728A822-DACD-43FD-924C-58310E48A476}" dt="2026-06-18T13:41:34.529" v="85" actId="27636"/>
          <ac:spMkLst>
            <pc:docMk/>
            <pc:sldMk cId="0" sldId="258"/>
            <ac:spMk id="2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522" v="82" actId="27636"/>
          <ac:spMkLst>
            <pc:docMk/>
            <pc:sldMk cId="0" sldId="258"/>
            <ac:spMk id="3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529" v="86" actId="27636"/>
          <ac:spMkLst>
            <pc:docMk/>
            <pc:sldMk cId="0" sldId="258"/>
            <ac:spMk id="4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526" v="83" actId="27636"/>
          <ac:spMkLst>
            <pc:docMk/>
            <pc:sldMk cId="0" sldId="258"/>
            <ac:spMk id="5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537" v="88" actId="27636"/>
          <ac:spMkLst>
            <pc:docMk/>
            <pc:sldMk cId="0" sldId="258"/>
            <ac:spMk id="6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519" v="81" actId="27636"/>
          <ac:spMkLst>
            <pc:docMk/>
            <pc:sldMk cId="0" sldId="258"/>
            <ac:spMk id="7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548" v="93" actId="27636"/>
          <ac:spMkLst>
            <pc:docMk/>
            <pc:sldMk cId="0" sldId="258"/>
            <ac:spMk id="10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529" v="87" actId="27636"/>
          <ac:spMkLst>
            <pc:docMk/>
            <pc:sldMk cId="0" sldId="258"/>
            <ac:spMk id="11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529" v="84" actId="27636"/>
          <ac:spMkLst>
            <pc:docMk/>
            <pc:sldMk cId="0" sldId="258"/>
            <ac:spMk id="14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542" v="90" actId="27636"/>
          <ac:spMkLst>
            <pc:docMk/>
            <pc:sldMk cId="0" sldId="258"/>
            <ac:spMk id="16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540" v="89" actId="27636"/>
          <ac:spMkLst>
            <pc:docMk/>
            <pc:sldMk cId="0" sldId="258"/>
            <ac:spMk id="18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544" v="91" actId="27636"/>
          <ac:spMkLst>
            <pc:docMk/>
            <pc:sldMk cId="0" sldId="258"/>
            <ac:spMk id="20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546" v="92" actId="27636"/>
          <ac:spMkLst>
            <pc:docMk/>
            <pc:sldMk cId="0" sldId="258"/>
            <ac:spMk id="22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551" v="94" actId="27636"/>
          <ac:spMkLst>
            <pc:docMk/>
            <pc:sldMk cId="0" sldId="258"/>
            <ac:spMk id="24" creationId="{00000000-0000-0000-0000-000000000000}"/>
          </ac:spMkLst>
        </pc:spChg>
      </pc:sldChg>
      <pc:sldChg chg="modSp mod">
        <pc:chgData name="Shir Holzman" userId="e79f80f5-33c9-4aee-ad4d-84a0edef3689" providerId="ADAL" clId="{5728A822-DACD-43FD-924C-58310E48A476}" dt="2026-06-18T13:41:34.607" v="103" actId="27636"/>
        <pc:sldMkLst>
          <pc:docMk/>
          <pc:sldMk cId="0" sldId="259"/>
        </pc:sldMkLst>
        <pc:spChg chg="mod">
          <ac:chgData name="Shir Holzman" userId="e79f80f5-33c9-4aee-ad4d-84a0edef3689" providerId="ADAL" clId="{5728A822-DACD-43FD-924C-58310E48A476}" dt="2026-06-18T13:41:34.607" v="102" actId="27636"/>
          <ac:spMkLst>
            <pc:docMk/>
            <pc:sldMk cId="0" sldId="259"/>
            <ac:spMk id="2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597" v="97" actId="27636"/>
          <ac:spMkLst>
            <pc:docMk/>
            <pc:sldMk cId="0" sldId="259"/>
            <ac:spMk id="3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593" v="96" actId="27636"/>
          <ac:spMkLst>
            <pc:docMk/>
            <pc:sldMk cId="0" sldId="259"/>
            <ac:spMk id="5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591" v="95" actId="27636"/>
          <ac:spMkLst>
            <pc:docMk/>
            <pc:sldMk cId="0" sldId="259"/>
            <ac:spMk id="7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603" v="100" actId="27636"/>
          <ac:spMkLst>
            <pc:docMk/>
            <pc:sldMk cId="0" sldId="259"/>
            <ac:spMk id="9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607" v="103" actId="27636"/>
          <ac:spMkLst>
            <pc:docMk/>
            <pc:sldMk cId="0" sldId="259"/>
            <ac:spMk id="11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599" v="99" actId="27636"/>
          <ac:spMkLst>
            <pc:docMk/>
            <pc:sldMk cId="0" sldId="259"/>
            <ac:spMk id="14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599" v="98" actId="27636"/>
          <ac:spMkLst>
            <pc:docMk/>
            <pc:sldMk cId="0" sldId="259"/>
            <ac:spMk id="15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607" v="101" actId="27636"/>
          <ac:spMkLst>
            <pc:docMk/>
            <pc:sldMk cId="0" sldId="259"/>
            <ac:spMk id="17" creationId="{00000000-0000-0000-0000-000000000000}"/>
          </ac:spMkLst>
        </pc:spChg>
      </pc:sldChg>
      <pc:sldChg chg="modSp mod modNotesTx">
        <pc:chgData name="Shir Holzman" userId="e79f80f5-33c9-4aee-ad4d-84a0edef3689" providerId="ADAL" clId="{5728A822-DACD-43FD-924C-58310E48A476}" dt="2026-06-18T13:49:41.768" v="187" actId="15"/>
        <pc:sldMkLst>
          <pc:docMk/>
          <pc:sldMk cId="0" sldId="260"/>
        </pc:sldMkLst>
        <pc:spChg chg="mod">
          <ac:chgData name="Shir Holzman" userId="e79f80f5-33c9-4aee-ad4d-84a0edef3689" providerId="ADAL" clId="{5728A822-DACD-43FD-924C-58310E48A476}" dt="2026-06-18T13:41:34.640" v="105" actId="27636"/>
          <ac:spMkLst>
            <pc:docMk/>
            <pc:sldMk cId="0" sldId="260"/>
            <ac:spMk id="2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644" v="107" actId="27636"/>
          <ac:spMkLst>
            <pc:docMk/>
            <pc:sldMk cId="0" sldId="260"/>
            <ac:spMk id="3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637" v="104" actId="27636"/>
          <ac:spMkLst>
            <pc:docMk/>
            <pc:sldMk cId="0" sldId="260"/>
            <ac:spMk id="5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647" v="108" actId="27636"/>
          <ac:spMkLst>
            <pc:docMk/>
            <pc:sldMk cId="0" sldId="260"/>
            <ac:spMk id="7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649" v="109" actId="27636"/>
          <ac:spMkLst>
            <pc:docMk/>
            <pc:sldMk cId="0" sldId="260"/>
            <ac:spMk id="9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642" v="106" actId="27636"/>
          <ac:spMkLst>
            <pc:docMk/>
            <pc:sldMk cId="0" sldId="260"/>
            <ac:spMk id="11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651" v="111" actId="27636"/>
          <ac:spMkLst>
            <pc:docMk/>
            <pc:sldMk cId="0" sldId="260"/>
            <ac:spMk id="14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651" v="110" actId="27636"/>
          <ac:spMkLst>
            <pc:docMk/>
            <pc:sldMk cId="0" sldId="260"/>
            <ac:spMk id="15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658" v="112" actId="27636"/>
          <ac:spMkLst>
            <pc:docMk/>
            <pc:sldMk cId="0" sldId="260"/>
            <ac:spMk id="17" creationId="{00000000-0000-0000-0000-000000000000}"/>
          </ac:spMkLst>
        </pc:spChg>
      </pc:sldChg>
      <pc:sldChg chg="modSp mod">
        <pc:chgData name="Shir Holzman" userId="e79f80f5-33c9-4aee-ad4d-84a0edef3689" providerId="ADAL" clId="{5728A822-DACD-43FD-924C-58310E48A476}" dt="2026-06-18T13:41:34.718" v="121" actId="27636"/>
        <pc:sldMkLst>
          <pc:docMk/>
          <pc:sldMk cId="0" sldId="261"/>
        </pc:sldMkLst>
        <pc:spChg chg="mod">
          <ac:chgData name="Shir Holzman" userId="e79f80f5-33c9-4aee-ad4d-84a0edef3689" providerId="ADAL" clId="{5728A822-DACD-43FD-924C-58310E48A476}" dt="2026-06-18T13:41:34.699" v="114" actId="27636"/>
          <ac:spMkLst>
            <pc:docMk/>
            <pc:sldMk cId="0" sldId="261"/>
            <ac:spMk id="2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699" v="113" actId="27636"/>
          <ac:spMkLst>
            <pc:docMk/>
            <pc:sldMk cId="0" sldId="261"/>
            <ac:spMk id="3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707" v="116" actId="27636"/>
          <ac:spMkLst>
            <pc:docMk/>
            <pc:sldMk cId="0" sldId="261"/>
            <ac:spMk id="5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710" v="118" actId="27636"/>
          <ac:spMkLst>
            <pc:docMk/>
            <pc:sldMk cId="0" sldId="261"/>
            <ac:spMk id="7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714" v="120" actId="27636"/>
          <ac:spMkLst>
            <pc:docMk/>
            <pc:sldMk cId="0" sldId="261"/>
            <ac:spMk id="9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718" v="121" actId="27636"/>
          <ac:spMkLst>
            <pc:docMk/>
            <pc:sldMk cId="0" sldId="261"/>
            <ac:spMk id="11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710" v="119" actId="27636"/>
          <ac:spMkLst>
            <pc:docMk/>
            <pc:sldMk cId="0" sldId="261"/>
            <ac:spMk id="14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707" v="117" actId="27636"/>
          <ac:spMkLst>
            <pc:docMk/>
            <pc:sldMk cId="0" sldId="261"/>
            <ac:spMk id="15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704" v="115" actId="27636"/>
          <ac:spMkLst>
            <pc:docMk/>
            <pc:sldMk cId="0" sldId="261"/>
            <ac:spMk id="17" creationId="{00000000-0000-0000-0000-000000000000}"/>
          </ac:spMkLst>
        </pc:spChg>
      </pc:sldChg>
      <pc:sldChg chg="modSp mod">
        <pc:chgData name="Shir Holzman" userId="e79f80f5-33c9-4aee-ad4d-84a0edef3689" providerId="ADAL" clId="{5728A822-DACD-43FD-924C-58310E48A476}" dt="2026-06-18T13:41:34.764" v="130" actId="27636"/>
        <pc:sldMkLst>
          <pc:docMk/>
          <pc:sldMk cId="0" sldId="262"/>
        </pc:sldMkLst>
        <pc:spChg chg="mod">
          <ac:chgData name="Shir Holzman" userId="e79f80f5-33c9-4aee-ad4d-84a0edef3689" providerId="ADAL" clId="{5728A822-DACD-43FD-924C-58310E48A476}" dt="2026-06-18T13:41:34.749" v="123" actId="27636"/>
          <ac:spMkLst>
            <pc:docMk/>
            <pc:sldMk cId="0" sldId="262"/>
            <ac:spMk id="2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764" v="130" actId="27636"/>
          <ac:spMkLst>
            <pc:docMk/>
            <pc:sldMk cId="0" sldId="262"/>
            <ac:spMk id="3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762" v="129" actId="27636"/>
          <ac:spMkLst>
            <pc:docMk/>
            <pc:sldMk cId="0" sldId="262"/>
            <ac:spMk id="5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760" v="128" actId="27636"/>
          <ac:spMkLst>
            <pc:docMk/>
            <pc:sldMk cId="0" sldId="262"/>
            <ac:spMk id="7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751" v="124" actId="27636"/>
          <ac:spMkLst>
            <pc:docMk/>
            <pc:sldMk cId="0" sldId="262"/>
            <ac:spMk id="9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746" v="122" actId="27636"/>
          <ac:spMkLst>
            <pc:docMk/>
            <pc:sldMk cId="0" sldId="262"/>
            <ac:spMk id="11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758" v="127" actId="27636"/>
          <ac:spMkLst>
            <pc:docMk/>
            <pc:sldMk cId="0" sldId="262"/>
            <ac:spMk id="14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751" v="125" actId="27636"/>
          <ac:spMkLst>
            <pc:docMk/>
            <pc:sldMk cId="0" sldId="262"/>
            <ac:spMk id="15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758" v="126" actId="27636"/>
          <ac:spMkLst>
            <pc:docMk/>
            <pc:sldMk cId="0" sldId="262"/>
            <ac:spMk id="17" creationId="{00000000-0000-0000-0000-000000000000}"/>
          </ac:spMkLst>
        </pc:spChg>
      </pc:sldChg>
      <pc:sldChg chg="modSp mod">
        <pc:chgData name="Shir Holzman" userId="e79f80f5-33c9-4aee-ad4d-84a0edef3689" providerId="ADAL" clId="{5728A822-DACD-43FD-924C-58310E48A476}" dt="2026-06-18T13:41:34.840" v="137" actId="27636"/>
        <pc:sldMkLst>
          <pc:docMk/>
          <pc:sldMk cId="0" sldId="263"/>
        </pc:sldMkLst>
        <pc:spChg chg="mod">
          <ac:chgData name="Shir Holzman" userId="e79f80f5-33c9-4aee-ad4d-84a0edef3689" providerId="ADAL" clId="{5728A822-DACD-43FD-924C-58310E48A476}" dt="2026-06-18T13:41:34.821" v="131" actId="27636"/>
          <ac:spMkLst>
            <pc:docMk/>
            <pc:sldMk cId="0" sldId="263"/>
            <ac:spMk id="2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829" v="135" actId="27636"/>
          <ac:spMkLst>
            <pc:docMk/>
            <pc:sldMk cId="0" sldId="263"/>
            <ac:spMk id="3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836" v="136" actId="27636"/>
          <ac:spMkLst>
            <pc:docMk/>
            <pc:sldMk cId="0" sldId="263"/>
            <ac:spMk id="4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826" v="132" actId="27636"/>
          <ac:spMkLst>
            <pc:docMk/>
            <pc:sldMk cId="0" sldId="263"/>
            <ac:spMk id="5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829" v="134" actId="27636"/>
          <ac:spMkLst>
            <pc:docMk/>
            <pc:sldMk cId="0" sldId="263"/>
            <ac:spMk id="6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829" v="133" actId="27636"/>
          <ac:spMkLst>
            <pc:docMk/>
            <pc:sldMk cId="0" sldId="263"/>
            <ac:spMk id="7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840" v="137" actId="27636"/>
          <ac:spMkLst>
            <pc:docMk/>
            <pc:sldMk cId="0" sldId="263"/>
            <ac:spMk id="9" creationId="{00000000-0000-0000-0000-000000000000}"/>
          </ac:spMkLst>
        </pc:spChg>
      </pc:sldChg>
      <pc:sldChg chg="modSp mod">
        <pc:chgData name="Shir Holzman" userId="e79f80f5-33c9-4aee-ad4d-84a0edef3689" providerId="ADAL" clId="{5728A822-DACD-43FD-924C-58310E48A476}" dt="2026-06-18T13:41:34.878" v="141" actId="27636"/>
        <pc:sldMkLst>
          <pc:docMk/>
          <pc:sldMk cId="0" sldId="264"/>
        </pc:sldMkLst>
        <pc:spChg chg="mod">
          <ac:chgData name="Shir Holzman" userId="e79f80f5-33c9-4aee-ad4d-84a0edef3689" providerId="ADAL" clId="{5728A822-DACD-43FD-924C-58310E48A476}" dt="2026-06-18T13:41:34.878" v="141" actId="27636"/>
          <ac:spMkLst>
            <pc:docMk/>
            <pc:sldMk cId="0" sldId="264"/>
            <ac:spMk id="2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878" v="140" actId="27636"/>
          <ac:spMkLst>
            <pc:docMk/>
            <pc:sldMk cId="0" sldId="264"/>
            <ac:spMk id="3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872" v="138" actId="27636"/>
          <ac:spMkLst>
            <pc:docMk/>
            <pc:sldMk cId="0" sldId="264"/>
            <ac:spMk id="4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872" v="139" actId="27636"/>
          <ac:spMkLst>
            <pc:docMk/>
            <pc:sldMk cId="0" sldId="264"/>
            <ac:spMk id="6" creationId="{00000000-0000-0000-0000-000000000000}"/>
          </ac:spMkLst>
        </pc:spChg>
      </pc:sldChg>
      <pc:sldChg chg="modSp mod">
        <pc:chgData name="Shir Holzman" userId="e79f80f5-33c9-4aee-ad4d-84a0edef3689" providerId="ADAL" clId="{5728A822-DACD-43FD-924C-58310E48A476}" dt="2026-06-18T13:41:34.924" v="145" actId="27636"/>
        <pc:sldMkLst>
          <pc:docMk/>
          <pc:sldMk cId="0" sldId="265"/>
        </pc:sldMkLst>
        <pc:spChg chg="mod">
          <ac:chgData name="Shir Holzman" userId="e79f80f5-33c9-4aee-ad4d-84a0edef3689" providerId="ADAL" clId="{5728A822-DACD-43FD-924C-58310E48A476}" dt="2026-06-18T13:41:34.924" v="145" actId="27636"/>
          <ac:spMkLst>
            <pc:docMk/>
            <pc:sldMk cId="0" sldId="265"/>
            <ac:spMk id="2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912" v="142" actId="27636"/>
          <ac:spMkLst>
            <pc:docMk/>
            <pc:sldMk cId="0" sldId="265"/>
            <ac:spMk id="3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922" v="144" actId="27636"/>
          <ac:spMkLst>
            <pc:docMk/>
            <pc:sldMk cId="0" sldId="265"/>
            <ac:spMk id="6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917" v="143" actId="27636"/>
          <ac:spMkLst>
            <pc:docMk/>
            <pc:sldMk cId="0" sldId="265"/>
            <ac:spMk id="8" creationId="{00000000-0000-0000-0000-000000000000}"/>
          </ac:spMkLst>
        </pc:spChg>
      </pc:sldChg>
      <pc:sldChg chg="modSp mod">
        <pc:chgData name="Shir Holzman" userId="e79f80f5-33c9-4aee-ad4d-84a0edef3689" providerId="ADAL" clId="{5728A822-DACD-43FD-924C-58310E48A476}" dt="2026-06-18T13:41:34.987" v="154" actId="27636"/>
        <pc:sldMkLst>
          <pc:docMk/>
          <pc:sldMk cId="0" sldId="266"/>
        </pc:sldMkLst>
        <pc:spChg chg="mod">
          <ac:chgData name="Shir Holzman" userId="e79f80f5-33c9-4aee-ad4d-84a0edef3689" providerId="ADAL" clId="{5728A822-DACD-43FD-924C-58310E48A476}" dt="2026-06-18T13:41:34.987" v="154" actId="27636"/>
          <ac:spMkLst>
            <pc:docMk/>
            <pc:sldMk cId="0" sldId="266"/>
            <ac:spMk id="2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982" v="152" actId="27636"/>
          <ac:spMkLst>
            <pc:docMk/>
            <pc:sldMk cId="0" sldId="266"/>
            <ac:spMk id="3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982" v="153" actId="27636"/>
          <ac:spMkLst>
            <pc:docMk/>
            <pc:sldMk cId="0" sldId="266"/>
            <ac:spMk id="6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959" v="146" actId="27636"/>
          <ac:spMkLst>
            <pc:docMk/>
            <pc:sldMk cId="0" sldId="266"/>
            <ac:spMk id="8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968" v="148" actId="27636"/>
          <ac:spMkLst>
            <pc:docMk/>
            <pc:sldMk cId="0" sldId="266"/>
            <ac:spMk id="9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968" v="147" actId="27636"/>
          <ac:spMkLst>
            <pc:docMk/>
            <pc:sldMk cId="0" sldId="266"/>
            <ac:spMk id="11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972" v="150" actId="27636"/>
          <ac:spMkLst>
            <pc:docMk/>
            <pc:sldMk cId="0" sldId="266"/>
            <ac:spMk id="12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972" v="149" actId="27636"/>
          <ac:spMkLst>
            <pc:docMk/>
            <pc:sldMk cId="0" sldId="266"/>
            <ac:spMk id="14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4.979" v="151" actId="27636"/>
          <ac:spMkLst>
            <pc:docMk/>
            <pc:sldMk cId="0" sldId="266"/>
            <ac:spMk id="16" creationId="{00000000-0000-0000-0000-000000000000}"/>
          </ac:spMkLst>
        </pc:spChg>
      </pc:sldChg>
      <pc:sldChg chg="modSp mod">
        <pc:chgData name="Shir Holzman" userId="e79f80f5-33c9-4aee-ad4d-84a0edef3689" providerId="ADAL" clId="{5728A822-DACD-43FD-924C-58310E48A476}" dt="2026-06-18T13:41:35.028" v="157" actId="27636"/>
        <pc:sldMkLst>
          <pc:docMk/>
          <pc:sldMk cId="0" sldId="267"/>
        </pc:sldMkLst>
        <pc:spChg chg="mod">
          <ac:chgData name="Shir Holzman" userId="e79f80f5-33c9-4aee-ad4d-84a0edef3689" providerId="ADAL" clId="{5728A822-DACD-43FD-924C-58310E48A476}" dt="2026-06-18T13:41:35.028" v="157" actId="27636"/>
          <ac:spMkLst>
            <pc:docMk/>
            <pc:sldMk cId="0" sldId="267"/>
            <ac:spMk id="2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5.022" v="155" actId="27636"/>
          <ac:spMkLst>
            <pc:docMk/>
            <pc:sldMk cId="0" sldId="267"/>
            <ac:spMk id="3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5.027" v="156" actId="27636"/>
          <ac:spMkLst>
            <pc:docMk/>
            <pc:sldMk cId="0" sldId="267"/>
            <ac:spMk id="6" creationId="{00000000-0000-0000-0000-000000000000}"/>
          </ac:spMkLst>
        </pc:spChg>
      </pc:sldChg>
      <pc:sldChg chg="modSp mod">
        <pc:chgData name="Shir Holzman" userId="e79f80f5-33c9-4aee-ad4d-84a0edef3689" providerId="ADAL" clId="{5728A822-DACD-43FD-924C-58310E48A476}" dt="2026-06-18T13:41:35.078" v="161" actId="27636"/>
        <pc:sldMkLst>
          <pc:docMk/>
          <pc:sldMk cId="0" sldId="268"/>
        </pc:sldMkLst>
        <pc:spChg chg="mod">
          <ac:chgData name="Shir Holzman" userId="e79f80f5-33c9-4aee-ad4d-84a0edef3689" providerId="ADAL" clId="{5728A822-DACD-43FD-924C-58310E48A476}" dt="2026-06-18T13:41:35.065" v="158" actId="27636"/>
          <ac:spMkLst>
            <pc:docMk/>
            <pc:sldMk cId="0" sldId="268"/>
            <ac:spMk id="2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5.078" v="161" actId="27636"/>
          <ac:spMkLst>
            <pc:docMk/>
            <pc:sldMk cId="0" sldId="268"/>
            <ac:spMk id="3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5.075" v="160" actId="27636"/>
          <ac:spMkLst>
            <pc:docMk/>
            <pc:sldMk cId="0" sldId="268"/>
            <ac:spMk id="6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5.069" v="159" actId="27636"/>
          <ac:spMkLst>
            <pc:docMk/>
            <pc:sldMk cId="0" sldId="268"/>
            <ac:spMk id="8" creationId="{00000000-0000-0000-0000-000000000000}"/>
          </ac:spMkLst>
        </pc:spChg>
      </pc:sldChg>
      <pc:sldChg chg="modSp mod">
        <pc:chgData name="Shir Holzman" userId="e79f80f5-33c9-4aee-ad4d-84a0edef3689" providerId="ADAL" clId="{5728A822-DACD-43FD-924C-58310E48A476}" dt="2026-06-18T13:41:35.126" v="170" actId="27636"/>
        <pc:sldMkLst>
          <pc:docMk/>
          <pc:sldMk cId="0" sldId="269"/>
        </pc:sldMkLst>
        <pc:spChg chg="mod">
          <ac:chgData name="Shir Holzman" userId="e79f80f5-33c9-4aee-ad4d-84a0edef3689" providerId="ADAL" clId="{5728A822-DACD-43FD-924C-58310E48A476}" dt="2026-06-18T13:41:35.109" v="164" actId="27636"/>
          <ac:spMkLst>
            <pc:docMk/>
            <pc:sldMk cId="0" sldId="269"/>
            <ac:spMk id="2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5.126" v="170" actId="27636"/>
          <ac:spMkLst>
            <pc:docMk/>
            <pc:sldMk cId="0" sldId="269"/>
            <ac:spMk id="3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5.121" v="168" actId="27636"/>
          <ac:spMkLst>
            <pc:docMk/>
            <pc:sldMk cId="0" sldId="269"/>
            <ac:spMk id="6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5.111" v="165" actId="27636"/>
          <ac:spMkLst>
            <pc:docMk/>
            <pc:sldMk cId="0" sldId="269"/>
            <ac:spMk id="7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5.106" v="163" actId="27636"/>
          <ac:spMkLst>
            <pc:docMk/>
            <pc:sldMk cId="0" sldId="269"/>
            <ac:spMk id="8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5.113" v="166" actId="27636"/>
          <ac:spMkLst>
            <pc:docMk/>
            <pc:sldMk cId="0" sldId="269"/>
            <ac:spMk id="9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5.103" v="162" actId="27636"/>
          <ac:spMkLst>
            <pc:docMk/>
            <pc:sldMk cId="0" sldId="269"/>
            <ac:spMk id="10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5.121" v="169" actId="27636"/>
          <ac:spMkLst>
            <pc:docMk/>
            <pc:sldMk cId="0" sldId="269"/>
            <ac:spMk id="11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5.118" v="167" actId="27636"/>
          <ac:spMkLst>
            <pc:docMk/>
            <pc:sldMk cId="0" sldId="269"/>
            <ac:spMk id="13" creationId="{00000000-0000-0000-0000-000000000000}"/>
          </ac:spMkLst>
        </pc:spChg>
      </pc:sldChg>
      <pc:sldChg chg="modSp mod">
        <pc:chgData name="Shir Holzman" userId="e79f80f5-33c9-4aee-ad4d-84a0edef3689" providerId="ADAL" clId="{5728A822-DACD-43FD-924C-58310E48A476}" dt="2026-06-18T13:41:35.180" v="182" actId="27636"/>
        <pc:sldMkLst>
          <pc:docMk/>
          <pc:sldMk cId="0" sldId="270"/>
        </pc:sldMkLst>
        <pc:spChg chg="mod">
          <ac:chgData name="Shir Holzman" userId="e79f80f5-33c9-4aee-ad4d-84a0edef3689" providerId="ADAL" clId="{5728A822-DACD-43FD-924C-58310E48A476}" dt="2026-06-18T13:41:35.171" v="178" actId="27636"/>
          <ac:spMkLst>
            <pc:docMk/>
            <pc:sldMk cId="0" sldId="270"/>
            <ac:spMk id="2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5.178" v="181" actId="27636"/>
          <ac:spMkLst>
            <pc:docMk/>
            <pc:sldMk cId="0" sldId="270"/>
            <ac:spMk id="3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5.180" v="182" actId="27636"/>
          <ac:spMkLst>
            <pc:docMk/>
            <pc:sldMk cId="0" sldId="270"/>
            <ac:spMk id="5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5.172" v="180" actId="27636"/>
          <ac:spMkLst>
            <pc:docMk/>
            <pc:sldMk cId="0" sldId="270"/>
            <ac:spMk id="7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5.154" v="171" actId="27636"/>
          <ac:spMkLst>
            <pc:docMk/>
            <pc:sldMk cId="0" sldId="270"/>
            <ac:spMk id="8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5.172" v="179" actId="27636"/>
          <ac:spMkLst>
            <pc:docMk/>
            <pc:sldMk cId="0" sldId="270"/>
            <ac:spMk id="10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5.157" v="172" actId="27636"/>
          <ac:spMkLst>
            <pc:docMk/>
            <pc:sldMk cId="0" sldId="270"/>
            <ac:spMk id="12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5.159" v="173" actId="27636"/>
          <ac:spMkLst>
            <pc:docMk/>
            <pc:sldMk cId="0" sldId="270"/>
            <ac:spMk id="13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5.163" v="175" actId="27636"/>
          <ac:spMkLst>
            <pc:docMk/>
            <pc:sldMk cId="0" sldId="270"/>
            <ac:spMk id="15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5.161" v="174" actId="27636"/>
          <ac:spMkLst>
            <pc:docMk/>
            <pc:sldMk cId="0" sldId="270"/>
            <ac:spMk id="17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5.166" v="176" actId="27636"/>
          <ac:spMkLst>
            <pc:docMk/>
            <pc:sldMk cId="0" sldId="270"/>
            <ac:spMk id="18" creationId="{00000000-0000-0000-0000-000000000000}"/>
          </ac:spMkLst>
        </pc:spChg>
        <pc:spChg chg="mod">
          <ac:chgData name="Shir Holzman" userId="e79f80f5-33c9-4aee-ad4d-84a0edef3689" providerId="ADAL" clId="{5728A822-DACD-43FD-924C-58310E48A476}" dt="2026-06-18T13:41:35.169" v="177" actId="27636"/>
          <ac:spMkLst>
            <pc:docMk/>
            <pc:sldMk cId="0" sldId="270"/>
            <ac:spMk id="19" creationId="{00000000-0000-0000-0000-000000000000}"/>
          </ac:spMkLst>
        </pc:spChg>
      </pc:sldChg>
      <pc:sldChg chg="modNotesTx">
        <pc:chgData name="Shir Holzman" userId="e79f80f5-33c9-4aee-ad4d-84a0edef3689" providerId="ADAL" clId="{5728A822-DACD-43FD-924C-58310E48A476}" dt="2026-06-18T13:36:51.927" v="5" actId="15"/>
        <pc:sldMkLst>
          <pc:docMk/>
          <pc:sldMk cId="0" sldId="27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185513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שלום</a:t>
            </a:r>
            <a:r>
              <a:rPr dirty="0"/>
              <a:t> </a:t>
            </a:r>
            <a:r>
              <a:rPr dirty="0" err="1"/>
              <a:t>לכולם</a:t>
            </a:r>
            <a:r>
              <a:rPr dirty="0"/>
              <a:t>, </a:t>
            </a:r>
            <a:r>
              <a:rPr dirty="0" err="1"/>
              <a:t>ותודה</a:t>
            </a:r>
            <a:r>
              <a:rPr dirty="0"/>
              <a:t> </a:t>
            </a:r>
            <a:r>
              <a:rPr dirty="0" err="1"/>
              <a:t>שאתם</a:t>
            </a:r>
            <a:r>
              <a:rPr dirty="0"/>
              <a:t> </a:t>
            </a:r>
            <a:r>
              <a:rPr dirty="0" err="1"/>
              <a:t>כאן</a:t>
            </a:r>
            <a:r>
              <a:rPr dirty="0"/>
              <a:t>. </a:t>
            </a:r>
            <a:r>
              <a:rPr dirty="0" err="1"/>
              <a:t>אני</a:t>
            </a:r>
            <a:r>
              <a:rPr dirty="0"/>
              <a:t> </a:t>
            </a:r>
            <a:r>
              <a:rPr dirty="0" err="1"/>
              <a:t>בודקת</a:t>
            </a:r>
            <a:r>
              <a:rPr dirty="0"/>
              <a:t> </a:t>
            </a:r>
            <a:r>
              <a:rPr dirty="0" err="1"/>
              <a:t>מודל</a:t>
            </a:r>
            <a:r>
              <a:rPr dirty="0"/>
              <a:t> </a:t>
            </a:r>
            <a:r>
              <a:rPr dirty="0" err="1"/>
              <a:t>בשם</a:t>
            </a:r>
            <a:r>
              <a:rPr dirty="0"/>
              <a:t> CATIE, </a:t>
            </a:r>
            <a:r>
              <a:rPr dirty="0" err="1"/>
              <a:t>שניצח</a:t>
            </a:r>
            <a:r>
              <a:rPr dirty="0"/>
              <a:t> </a:t>
            </a:r>
            <a:r>
              <a:rPr dirty="0" err="1"/>
              <a:t>בתחרות</a:t>
            </a:r>
            <a:r>
              <a:rPr dirty="0"/>
              <a:t> </a:t>
            </a:r>
            <a:r>
              <a:rPr dirty="0" err="1"/>
              <a:t>בינלאומית</a:t>
            </a:r>
            <a:r>
              <a:rPr dirty="0"/>
              <a:t> </a:t>
            </a:r>
            <a:r>
              <a:rPr dirty="0" err="1"/>
              <a:t>להנדסת</a:t>
            </a:r>
            <a:r>
              <a:rPr dirty="0"/>
              <a:t> </a:t>
            </a:r>
            <a:r>
              <a:rPr dirty="0" err="1"/>
              <a:t>בחירה</a:t>
            </a:r>
            <a:r>
              <a:rPr dirty="0"/>
              <a:t> — </a:t>
            </a:r>
            <a:r>
              <a:rPr dirty="0" err="1"/>
              <a:t>אבל</a:t>
            </a:r>
            <a:r>
              <a:rPr dirty="0"/>
              <a:t> </a:t>
            </a:r>
            <a:r>
              <a:rPr dirty="0" err="1"/>
              <a:t>גיליתי</a:t>
            </a:r>
            <a:r>
              <a:rPr dirty="0"/>
              <a:t> </a:t>
            </a:r>
            <a:r>
              <a:rPr dirty="0" err="1"/>
              <a:t>שניצחון</a:t>
            </a:r>
            <a:r>
              <a:rPr dirty="0"/>
              <a:t> </a:t>
            </a:r>
            <a:r>
              <a:rPr dirty="0" err="1"/>
              <a:t>בממוצע</a:t>
            </a:r>
            <a:r>
              <a:rPr dirty="0"/>
              <a:t> </a:t>
            </a:r>
            <a:r>
              <a:rPr dirty="0" err="1"/>
              <a:t>לא</a:t>
            </a:r>
            <a:r>
              <a:rPr dirty="0"/>
              <a:t> </a:t>
            </a:r>
            <a:r>
              <a:rPr dirty="0" err="1"/>
              <a:t>בהכרח</a:t>
            </a:r>
            <a:r>
              <a:rPr dirty="0"/>
              <a:t> </a:t>
            </a:r>
            <a:r>
              <a:rPr dirty="0" err="1"/>
              <a:t>אומר</a:t>
            </a:r>
            <a:r>
              <a:rPr dirty="0"/>
              <a:t> </a:t>
            </a:r>
            <a:r>
              <a:rPr dirty="0" err="1"/>
              <a:t>שהמודל</a:t>
            </a:r>
            <a:r>
              <a:rPr dirty="0"/>
              <a:t> </a:t>
            </a:r>
            <a:r>
              <a:rPr dirty="0" err="1"/>
              <a:t>מדויק</a:t>
            </a:r>
            <a:r>
              <a:rPr dirty="0"/>
              <a:t> </a:t>
            </a:r>
            <a:r>
              <a:rPr dirty="0" err="1"/>
              <a:t>בכל</a:t>
            </a:r>
            <a:r>
              <a:rPr dirty="0"/>
              <a:t> </a:t>
            </a:r>
            <a:r>
              <a:rPr dirty="0" err="1"/>
              <a:t>מקרה</a:t>
            </a:r>
            <a:r>
              <a:rPr dirty="0"/>
              <a:t> </a:t>
            </a:r>
            <a:r>
              <a:rPr dirty="0" err="1"/>
              <a:t>בודד</a:t>
            </a:r>
            <a:r>
              <a:rPr dirty="0"/>
              <a:t>. </a:t>
            </a:r>
            <a:r>
              <a:rPr dirty="0" err="1"/>
              <a:t>השאלה</a:t>
            </a:r>
            <a:r>
              <a:rPr dirty="0"/>
              <a:t> </a:t>
            </a:r>
            <a:r>
              <a:rPr dirty="0" err="1"/>
              <a:t>שהובילה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כל</a:t>
            </a:r>
            <a:r>
              <a:rPr dirty="0"/>
              <a:t> </a:t>
            </a:r>
            <a:r>
              <a:rPr dirty="0" err="1"/>
              <a:t>המחקר</a:t>
            </a:r>
            <a:r>
              <a:rPr dirty="0"/>
              <a:t> </a:t>
            </a:r>
            <a:r>
              <a:rPr dirty="0" err="1"/>
              <a:t>שלי</a:t>
            </a:r>
            <a:r>
              <a:rPr dirty="0"/>
              <a:t>: </a:t>
            </a:r>
            <a:r>
              <a:rPr dirty="0" err="1"/>
              <a:t>מתי</a:t>
            </a:r>
            <a:r>
              <a:rPr dirty="0"/>
              <a:t> </a:t>
            </a:r>
            <a:r>
              <a:rPr dirty="0" err="1"/>
              <a:t>ה'ביטחון</a:t>
            </a:r>
            <a:r>
              <a:rPr dirty="0"/>
              <a:t>' </a:t>
            </a:r>
            <a:r>
              <a:rPr dirty="0" err="1"/>
              <a:t>שהמודל</a:t>
            </a:r>
            <a:r>
              <a:rPr dirty="0"/>
              <a:t> </a:t>
            </a:r>
            <a:r>
              <a:rPr dirty="0" err="1"/>
              <a:t>מצהיר</a:t>
            </a:r>
            <a:r>
              <a:rPr dirty="0"/>
              <a:t> </a:t>
            </a:r>
            <a:r>
              <a:rPr dirty="0" err="1"/>
              <a:t>עליו</a:t>
            </a:r>
            <a:r>
              <a:rPr dirty="0"/>
              <a:t> </a:t>
            </a:r>
            <a:r>
              <a:rPr dirty="0" err="1"/>
              <a:t>לא</a:t>
            </a:r>
            <a:r>
              <a:rPr dirty="0"/>
              <a:t> </a:t>
            </a:r>
            <a:r>
              <a:rPr dirty="0" err="1"/>
              <a:t>תואם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ההתנהגות</a:t>
            </a:r>
            <a:r>
              <a:rPr dirty="0"/>
              <a:t> </a:t>
            </a:r>
            <a:r>
              <a:rPr dirty="0" err="1"/>
              <a:t>בפועל</a:t>
            </a:r>
            <a:r>
              <a:rPr dirty="0"/>
              <a:t>, </a:t>
            </a:r>
            <a:r>
              <a:rPr dirty="0" err="1"/>
              <a:t>ואיך</a:t>
            </a:r>
            <a:r>
              <a:rPr dirty="0"/>
              <a:t> </a:t>
            </a:r>
            <a:r>
              <a:rPr dirty="0" err="1"/>
              <a:t>אפשר</a:t>
            </a:r>
            <a:r>
              <a:rPr dirty="0"/>
              <a:t> </a:t>
            </a:r>
            <a:r>
              <a:rPr dirty="0" err="1"/>
              <a:t>לתקן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זה</a:t>
            </a:r>
            <a:r>
              <a:rPr dirty="0"/>
              <a:t>? </a:t>
            </a:r>
            <a:r>
              <a:rPr dirty="0" err="1"/>
              <a:t>בשבע</a:t>
            </a:r>
            <a:r>
              <a:rPr dirty="0"/>
              <a:t> </a:t>
            </a:r>
            <a:r>
              <a:rPr dirty="0" err="1"/>
              <a:t>הדקות</a:t>
            </a:r>
            <a:r>
              <a:rPr dirty="0"/>
              <a:t> </a:t>
            </a:r>
            <a:r>
              <a:rPr dirty="0" err="1"/>
              <a:t>הקרובות</a:t>
            </a:r>
            <a:r>
              <a:rPr dirty="0"/>
              <a:t> </a:t>
            </a:r>
            <a:r>
              <a:rPr dirty="0" err="1"/>
              <a:t>אני</a:t>
            </a:r>
            <a:r>
              <a:rPr dirty="0"/>
              <a:t> </a:t>
            </a:r>
            <a:r>
              <a:rPr dirty="0" err="1"/>
              <a:t>אראה</a:t>
            </a:r>
            <a:r>
              <a:rPr dirty="0"/>
              <a:t> </a:t>
            </a:r>
            <a:r>
              <a:rPr dirty="0" err="1"/>
              <a:t>לכם</a:t>
            </a:r>
            <a:r>
              <a:rPr dirty="0"/>
              <a:t> </a:t>
            </a:r>
            <a:r>
              <a:rPr dirty="0" err="1"/>
              <a:t>איך</a:t>
            </a:r>
            <a:r>
              <a:rPr dirty="0"/>
              <a:t> </a:t>
            </a:r>
            <a:r>
              <a:rPr dirty="0" err="1"/>
              <a:t>הגעתי</a:t>
            </a:r>
            <a:r>
              <a:rPr dirty="0"/>
              <a:t> </a:t>
            </a:r>
            <a:r>
              <a:rPr dirty="0" err="1"/>
              <a:t>לתשובה</a:t>
            </a:r>
            <a:r>
              <a:rPr dirty="0"/>
              <a:t> — </a:t>
            </a:r>
            <a:r>
              <a:rPr dirty="0" err="1"/>
              <a:t>דרך</a:t>
            </a:r>
            <a:r>
              <a:rPr dirty="0"/>
              <a:t> </a:t>
            </a:r>
            <a:r>
              <a:rPr dirty="0" err="1"/>
              <a:t>כמה</a:t>
            </a:r>
            <a:r>
              <a:rPr dirty="0"/>
              <a:t> </a:t>
            </a:r>
            <a:r>
              <a:rPr dirty="0" err="1"/>
              <a:t>תפניות</a:t>
            </a:r>
            <a:r>
              <a:rPr dirty="0"/>
              <a:t> </a:t>
            </a:r>
            <a:r>
              <a:rPr dirty="0" err="1"/>
              <a:t>מפתיעות</a:t>
            </a:r>
            <a:r>
              <a:rPr dirty="0"/>
              <a:t> </a:t>
            </a:r>
            <a:r>
              <a:rPr dirty="0" err="1"/>
              <a:t>בדרך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dirty="0" err="1"/>
              <a:t>לפני</a:t>
            </a:r>
            <a:r>
              <a:rPr dirty="0"/>
              <a:t> </a:t>
            </a:r>
            <a:r>
              <a:rPr dirty="0" err="1"/>
              <a:t>שניכנס</a:t>
            </a:r>
            <a:r>
              <a:rPr dirty="0"/>
              <a:t> </a:t>
            </a:r>
            <a:r>
              <a:rPr dirty="0" err="1"/>
              <a:t>לפרטים</a:t>
            </a:r>
            <a:r>
              <a:rPr dirty="0"/>
              <a:t>, </a:t>
            </a:r>
            <a:r>
              <a:rPr dirty="0" err="1"/>
              <a:t>שאלה</a:t>
            </a:r>
            <a:r>
              <a:rPr dirty="0"/>
              <a:t> </a:t>
            </a:r>
            <a:r>
              <a:rPr dirty="0" err="1"/>
              <a:t>שווה</a:t>
            </a:r>
            <a:r>
              <a:rPr dirty="0"/>
              <a:t> </a:t>
            </a:r>
            <a:r>
              <a:rPr dirty="0" err="1"/>
              <a:t>לשאול</a:t>
            </a:r>
            <a:r>
              <a:rPr dirty="0"/>
              <a:t>: </a:t>
            </a:r>
            <a:r>
              <a:rPr dirty="0" err="1"/>
              <a:t>למה</a:t>
            </a:r>
            <a:r>
              <a:rPr dirty="0"/>
              <a:t> </a:t>
            </a:r>
            <a:r>
              <a:rPr dirty="0" err="1"/>
              <a:t>זה</a:t>
            </a:r>
            <a:r>
              <a:rPr dirty="0"/>
              <a:t> </a:t>
            </a:r>
            <a:r>
              <a:rPr dirty="0" err="1"/>
              <a:t>משנה</a:t>
            </a:r>
            <a:r>
              <a:rPr dirty="0"/>
              <a:t> </a:t>
            </a:r>
            <a:r>
              <a:rPr dirty="0" err="1"/>
              <a:t>אם</a:t>
            </a:r>
            <a:r>
              <a:rPr dirty="0"/>
              <a:t> </a:t>
            </a:r>
            <a:r>
              <a:rPr dirty="0" err="1"/>
              <a:t>מודל</a:t>
            </a:r>
            <a:r>
              <a:rPr dirty="0"/>
              <a:t> '</a:t>
            </a:r>
            <a:r>
              <a:rPr dirty="0" err="1"/>
              <a:t>בטוח</a:t>
            </a:r>
            <a:r>
              <a:rPr dirty="0"/>
              <a:t>' </a:t>
            </a:r>
            <a:r>
              <a:rPr dirty="0" err="1"/>
              <a:t>יותר</a:t>
            </a:r>
            <a:r>
              <a:rPr dirty="0"/>
              <a:t> </a:t>
            </a:r>
            <a:r>
              <a:rPr dirty="0" err="1"/>
              <a:t>ממה</a:t>
            </a:r>
            <a:r>
              <a:rPr dirty="0"/>
              <a:t> </a:t>
            </a:r>
            <a:r>
              <a:rPr dirty="0" err="1"/>
              <a:t>שהוא</a:t>
            </a:r>
            <a:r>
              <a:rPr dirty="0"/>
              <a:t> </a:t>
            </a:r>
            <a:r>
              <a:rPr dirty="0" err="1"/>
              <a:t>צריך</a:t>
            </a:r>
            <a:r>
              <a:rPr dirty="0"/>
              <a:t> </a:t>
            </a:r>
            <a:r>
              <a:rPr dirty="0" err="1"/>
              <a:t>להיות</a:t>
            </a:r>
            <a:r>
              <a:rPr dirty="0"/>
              <a:t>? </a:t>
            </a:r>
            <a:r>
              <a:rPr dirty="0" err="1"/>
              <a:t>כי</a:t>
            </a:r>
            <a:r>
              <a:rPr dirty="0"/>
              <a:t> </a:t>
            </a:r>
            <a:r>
              <a:rPr dirty="0" err="1"/>
              <a:t>מערכות</a:t>
            </a:r>
            <a:r>
              <a:rPr dirty="0"/>
              <a:t> </a:t>
            </a:r>
            <a:r>
              <a:rPr dirty="0" err="1"/>
              <a:t>תומכות</a:t>
            </a:r>
            <a:r>
              <a:rPr dirty="0"/>
              <a:t> </a:t>
            </a:r>
            <a:r>
              <a:rPr dirty="0" err="1"/>
              <a:t>החלטה</a:t>
            </a:r>
            <a:r>
              <a:rPr dirty="0"/>
              <a:t> — </a:t>
            </a:r>
            <a:r>
              <a:rPr dirty="0" err="1"/>
              <a:t>בין</a:t>
            </a:r>
            <a:r>
              <a:rPr dirty="0"/>
              <a:t> </a:t>
            </a:r>
            <a:r>
              <a:rPr dirty="0" err="1"/>
              <a:t>אם</a:t>
            </a:r>
            <a:r>
              <a:rPr dirty="0"/>
              <a:t> </a:t>
            </a:r>
            <a:r>
              <a:rPr dirty="0" err="1"/>
              <a:t>זה</a:t>
            </a:r>
            <a:r>
              <a:rPr dirty="0"/>
              <a:t> </a:t>
            </a:r>
            <a:r>
              <a:rPr dirty="0" err="1"/>
              <a:t>ייעוץ</a:t>
            </a:r>
            <a:r>
              <a:rPr dirty="0"/>
              <a:t> </a:t>
            </a:r>
            <a:r>
              <a:rPr dirty="0" err="1"/>
              <a:t>לרופא</a:t>
            </a:r>
            <a:r>
              <a:rPr dirty="0"/>
              <a:t>, </a:t>
            </a:r>
            <a:r>
              <a:rPr dirty="0" err="1"/>
              <a:t>אפליקציה</a:t>
            </a:r>
            <a:r>
              <a:rPr dirty="0"/>
              <a:t> </a:t>
            </a:r>
            <a:r>
              <a:rPr dirty="0" err="1"/>
              <a:t>למשתמש</a:t>
            </a:r>
            <a:r>
              <a:rPr dirty="0"/>
              <a:t>, </a:t>
            </a:r>
            <a:r>
              <a:rPr dirty="0" err="1"/>
              <a:t>או</a:t>
            </a:r>
            <a:r>
              <a:rPr dirty="0"/>
              <a:t> </a:t>
            </a:r>
            <a:r>
              <a:rPr dirty="0" err="1"/>
              <a:t>כל</a:t>
            </a:r>
            <a:r>
              <a:rPr dirty="0"/>
              <a:t> </a:t>
            </a:r>
            <a:r>
              <a:rPr dirty="0" err="1"/>
              <a:t>מערכת</a:t>
            </a:r>
            <a:r>
              <a:rPr dirty="0"/>
              <a:t> </a:t>
            </a:r>
            <a:r>
              <a:rPr dirty="0" err="1"/>
              <a:t>מבוססת</a:t>
            </a:r>
            <a:r>
              <a:rPr dirty="0"/>
              <a:t> </a:t>
            </a:r>
            <a:r>
              <a:rPr dirty="0" err="1"/>
              <a:t>חיזוי</a:t>
            </a:r>
            <a:r>
              <a:rPr dirty="0"/>
              <a:t> — </a:t>
            </a:r>
            <a:r>
              <a:rPr dirty="0" err="1"/>
              <a:t>פועלות</a:t>
            </a:r>
            <a:r>
              <a:rPr dirty="0"/>
              <a:t> </a:t>
            </a:r>
            <a:r>
              <a:rPr dirty="0" err="1"/>
              <a:t>לפי</a:t>
            </a:r>
            <a:r>
              <a:rPr dirty="0"/>
              <a:t> </a:t>
            </a:r>
            <a:r>
              <a:rPr dirty="0" err="1"/>
              <a:t>רמת</a:t>
            </a:r>
            <a:r>
              <a:rPr dirty="0"/>
              <a:t> </a:t>
            </a:r>
            <a:r>
              <a:rPr dirty="0" err="1"/>
              <a:t>הביטחון</a:t>
            </a:r>
            <a:r>
              <a:rPr dirty="0"/>
              <a:t> </a:t>
            </a:r>
            <a:r>
              <a:rPr dirty="0" err="1"/>
              <a:t>שהמודל</a:t>
            </a:r>
            <a:r>
              <a:rPr dirty="0"/>
              <a:t> </a:t>
            </a:r>
            <a:r>
              <a:rPr dirty="0" err="1"/>
              <a:t>מצהיר</a:t>
            </a:r>
            <a:r>
              <a:rPr dirty="0"/>
              <a:t> </a:t>
            </a:r>
            <a:r>
              <a:rPr dirty="0" err="1"/>
              <a:t>עליה</a:t>
            </a:r>
            <a:r>
              <a:rPr dirty="0"/>
              <a:t>, </a:t>
            </a:r>
            <a:r>
              <a:rPr dirty="0" err="1"/>
              <a:t>לא</a:t>
            </a:r>
            <a:r>
              <a:rPr dirty="0"/>
              <a:t> </a:t>
            </a:r>
            <a:r>
              <a:rPr dirty="0" err="1"/>
              <a:t>רק</a:t>
            </a:r>
            <a:r>
              <a:rPr dirty="0"/>
              <a:t> </a:t>
            </a:r>
            <a:r>
              <a:rPr dirty="0" err="1"/>
              <a:t>לפי</a:t>
            </a:r>
            <a:r>
              <a:rPr dirty="0"/>
              <a:t> </a:t>
            </a:r>
            <a:r>
              <a:rPr dirty="0" err="1"/>
              <a:t>הדיוק</a:t>
            </a:r>
            <a:r>
              <a:rPr dirty="0"/>
              <a:t> </a:t>
            </a:r>
            <a:r>
              <a:rPr dirty="0" err="1"/>
              <a:t>הממוצע</a:t>
            </a:r>
            <a:r>
              <a:rPr dirty="0"/>
              <a:t> </a:t>
            </a:r>
            <a:r>
              <a:rPr dirty="0" err="1"/>
              <a:t>שלו</a:t>
            </a:r>
            <a:r>
              <a:rPr dirty="0"/>
              <a:t>. </a:t>
            </a:r>
            <a:r>
              <a:rPr dirty="0" err="1"/>
              <a:t>תחזיות</a:t>
            </a:r>
            <a:r>
              <a:rPr dirty="0"/>
              <a:t> </a:t>
            </a:r>
            <a:r>
              <a:rPr dirty="0" err="1"/>
              <a:t>בטוחות</a:t>
            </a:r>
            <a:r>
              <a:rPr dirty="0"/>
              <a:t> </a:t>
            </a:r>
            <a:r>
              <a:rPr dirty="0" err="1"/>
              <a:t>אך</a:t>
            </a:r>
            <a:r>
              <a:rPr dirty="0"/>
              <a:t> </a:t>
            </a:r>
            <a:r>
              <a:rPr dirty="0" err="1"/>
              <a:t>שגויות</a:t>
            </a:r>
            <a:r>
              <a:rPr dirty="0"/>
              <a:t> </a:t>
            </a:r>
            <a:r>
              <a:rPr dirty="0" err="1"/>
              <a:t>הן</a:t>
            </a:r>
            <a:r>
              <a:rPr dirty="0"/>
              <a:t> </a:t>
            </a:r>
            <a:r>
              <a:rPr dirty="0" err="1"/>
              <a:t>כשל</a:t>
            </a:r>
            <a:r>
              <a:rPr dirty="0"/>
              <a:t> </a:t>
            </a:r>
            <a:r>
              <a:rPr dirty="0" err="1"/>
              <a:t>מוכר</a:t>
            </a:r>
            <a:r>
              <a:rPr dirty="0"/>
              <a:t> </a:t>
            </a:r>
            <a:r>
              <a:rPr dirty="0" err="1"/>
              <a:t>במודלים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</a:t>
            </a:r>
            <a:r>
              <a:rPr dirty="0" err="1"/>
              <a:t>למידת</a:t>
            </a:r>
            <a:r>
              <a:rPr dirty="0"/>
              <a:t> </a:t>
            </a:r>
            <a:r>
              <a:rPr dirty="0" err="1"/>
              <a:t>מכונה</a:t>
            </a:r>
            <a:r>
              <a:rPr dirty="0"/>
              <a:t> </a:t>
            </a:r>
            <a:r>
              <a:rPr dirty="0" err="1"/>
              <a:t>בכלל</a:t>
            </a:r>
            <a:r>
              <a:rPr dirty="0"/>
              <a:t>, </a:t>
            </a:r>
            <a:r>
              <a:rPr dirty="0" err="1"/>
              <a:t>לא</a:t>
            </a:r>
            <a:r>
              <a:rPr dirty="0"/>
              <a:t> </a:t>
            </a:r>
            <a:r>
              <a:rPr dirty="0" err="1"/>
              <a:t>רק</a:t>
            </a:r>
            <a:r>
              <a:rPr dirty="0"/>
              <a:t> ב-CATIE. </a:t>
            </a:r>
            <a:r>
              <a:rPr dirty="0" err="1"/>
              <a:t>ולכן</a:t>
            </a:r>
            <a:r>
              <a:rPr dirty="0"/>
              <a:t>, </a:t>
            </a:r>
            <a:r>
              <a:rPr dirty="0" err="1"/>
              <a:t>אחרי</a:t>
            </a:r>
            <a:r>
              <a:rPr dirty="0"/>
              <a:t> ש-CATIE </a:t>
            </a:r>
            <a:r>
              <a:rPr dirty="0" err="1"/>
              <a:t>כבר</a:t>
            </a:r>
            <a:r>
              <a:rPr dirty="0"/>
              <a:t> </a:t>
            </a:r>
            <a:r>
              <a:rPr dirty="0" err="1"/>
              <a:t>ניצח</a:t>
            </a:r>
            <a:r>
              <a:rPr dirty="0"/>
              <a:t> </a:t>
            </a:r>
            <a:r>
              <a:rPr dirty="0" err="1"/>
              <a:t>בתחרות</a:t>
            </a:r>
            <a:r>
              <a:rPr dirty="0"/>
              <a:t>, </a:t>
            </a:r>
            <a:r>
              <a:rPr dirty="0" err="1"/>
              <a:t>השאלה</a:t>
            </a:r>
            <a:r>
              <a:rPr dirty="0"/>
              <a:t> </a:t>
            </a:r>
            <a:r>
              <a:rPr dirty="0" err="1"/>
              <a:t>המעניינת</a:t>
            </a:r>
            <a:r>
              <a:rPr dirty="0"/>
              <a:t> </a:t>
            </a:r>
            <a:r>
              <a:rPr dirty="0" err="1"/>
              <a:t>באמת</a:t>
            </a:r>
            <a:r>
              <a:rPr dirty="0"/>
              <a:t> </a:t>
            </a:r>
            <a:r>
              <a:rPr dirty="0" err="1"/>
              <a:t>היא</a:t>
            </a:r>
            <a:r>
              <a:rPr dirty="0"/>
              <a:t> </a:t>
            </a:r>
            <a:r>
              <a:rPr dirty="0" err="1"/>
              <a:t>לא</a:t>
            </a:r>
            <a:r>
              <a:rPr dirty="0"/>
              <a:t> '</a:t>
            </a:r>
            <a:r>
              <a:rPr dirty="0" err="1"/>
              <a:t>האם</a:t>
            </a:r>
            <a:r>
              <a:rPr dirty="0"/>
              <a:t> </a:t>
            </a:r>
            <a:r>
              <a:rPr dirty="0" err="1"/>
              <a:t>הוא</a:t>
            </a:r>
            <a:r>
              <a:rPr dirty="0"/>
              <a:t> </a:t>
            </a:r>
            <a:r>
              <a:rPr dirty="0" err="1"/>
              <a:t>מדויק</a:t>
            </a:r>
            <a:r>
              <a:rPr dirty="0"/>
              <a:t>' — </a:t>
            </a:r>
            <a:r>
              <a:rPr dirty="0" err="1"/>
              <a:t>אלא</a:t>
            </a:r>
            <a:r>
              <a:rPr dirty="0"/>
              <a:t> '</a:t>
            </a:r>
            <a:r>
              <a:rPr dirty="0" err="1"/>
              <a:t>האם</a:t>
            </a:r>
            <a:r>
              <a:rPr dirty="0"/>
              <a:t> </a:t>
            </a:r>
            <a:r>
              <a:rPr dirty="0" err="1"/>
              <a:t>אפשר</a:t>
            </a:r>
            <a:r>
              <a:rPr dirty="0"/>
              <a:t> </a:t>
            </a:r>
            <a:r>
              <a:rPr dirty="0" err="1"/>
              <a:t>לסמוך</a:t>
            </a:r>
            <a:r>
              <a:rPr dirty="0"/>
              <a:t>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הביטחון</a:t>
            </a:r>
            <a:r>
              <a:rPr dirty="0"/>
              <a:t> </a:t>
            </a:r>
            <a:r>
              <a:rPr dirty="0" err="1"/>
              <a:t>שהוא</a:t>
            </a:r>
            <a:r>
              <a:rPr dirty="0"/>
              <a:t> </a:t>
            </a:r>
            <a:r>
              <a:rPr dirty="0" err="1"/>
              <a:t>מצהיר</a:t>
            </a:r>
            <a:r>
              <a:rPr dirty="0"/>
              <a:t> </a:t>
            </a:r>
            <a:r>
              <a:rPr dirty="0" err="1"/>
              <a:t>עליו</a:t>
            </a:r>
            <a:r>
              <a:rPr dirty="0"/>
              <a:t>, </a:t>
            </a:r>
            <a:r>
              <a:rPr dirty="0" err="1"/>
              <a:t>ניסיון</a:t>
            </a:r>
            <a:r>
              <a:rPr dirty="0"/>
              <a:t> </a:t>
            </a:r>
            <a:r>
              <a:rPr dirty="0" err="1"/>
              <a:t>בניסיון</a:t>
            </a:r>
            <a:r>
              <a:rPr dirty="0"/>
              <a:t>'.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אז</a:t>
            </a:r>
            <a:r>
              <a:rPr dirty="0"/>
              <a:t> </a:t>
            </a:r>
            <a:r>
              <a:rPr dirty="0" err="1"/>
              <a:t>איך</a:t>
            </a:r>
            <a:r>
              <a:rPr dirty="0"/>
              <a:t> </a:t>
            </a:r>
            <a:r>
              <a:rPr dirty="0" err="1"/>
              <a:t>בודקים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זה</a:t>
            </a:r>
            <a:r>
              <a:rPr dirty="0"/>
              <a:t> </a:t>
            </a:r>
            <a:r>
              <a:rPr dirty="0" err="1"/>
              <a:t>בפועל</a:t>
            </a:r>
            <a:r>
              <a:rPr dirty="0"/>
              <a:t>? </a:t>
            </a:r>
            <a:r>
              <a:rPr dirty="0" err="1"/>
              <a:t>הנה</a:t>
            </a:r>
            <a:r>
              <a:rPr dirty="0"/>
              <a:t> </a:t>
            </a:r>
            <a:r>
              <a:rPr dirty="0" err="1"/>
              <a:t>הפרדיגמה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'</a:t>
            </a:r>
            <a:r>
              <a:rPr dirty="0" err="1"/>
              <a:t>הנדסת</a:t>
            </a:r>
            <a:r>
              <a:rPr dirty="0"/>
              <a:t> </a:t>
            </a:r>
            <a:r>
              <a:rPr dirty="0" err="1"/>
              <a:t>בחירה</a:t>
            </a:r>
            <a:r>
              <a:rPr dirty="0"/>
              <a:t>': </a:t>
            </a:r>
            <a:r>
              <a:rPr dirty="0" err="1"/>
              <a:t>משתתפים</a:t>
            </a:r>
            <a:r>
              <a:rPr dirty="0"/>
              <a:t> </a:t>
            </a:r>
            <a:r>
              <a:rPr dirty="0" err="1"/>
              <a:t>בוחרים</a:t>
            </a:r>
            <a:r>
              <a:rPr dirty="0"/>
              <a:t> 100 </a:t>
            </a:r>
            <a:r>
              <a:rPr dirty="0" err="1"/>
              <a:t>פעמים</a:t>
            </a:r>
            <a:r>
              <a:rPr dirty="0"/>
              <a:t> </a:t>
            </a:r>
            <a:r>
              <a:rPr dirty="0" err="1"/>
              <a:t>בין</a:t>
            </a:r>
            <a:r>
              <a:rPr dirty="0"/>
              <a:t> </a:t>
            </a:r>
            <a:r>
              <a:rPr dirty="0" err="1"/>
              <a:t>שתי</a:t>
            </a:r>
            <a:r>
              <a:rPr dirty="0"/>
              <a:t> </a:t>
            </a:r>
            <a:r>
              <a:rPr dirty="0" err="1"/>
              <a:t>אפשרויות</a:t>
            </a:r>
            <a:r>
              <a:rPr dirty="0"/>
              <a:t>, </a:t>
            </a:r>
            <a:r>
              <a:rPr dirty="0" err="1"/>
              <a:t>ומקבלים</a:t>
            </a:r>
            <a:r>
              <a:rPr dirty="0"/>
              <a:t> </a:t>
            </a:r>
            <a:r>
              <a:rPr dirty="0" err="1"/>
              <a:t>משוב</a:t>
            </a:r>
            <a:r>
              <a:rPr dirty="0"/>
              <a:t> </a:t>
            </a:r>
            <a:r>
              <a:rPr dirty="0" err="1"/>
              <a:t>רק</a:t>
            </a:r>
            <a:r>
              <a:rPr dirty="0"/>
              <a:t>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הבחירה</a:t>
            </a:r>
            <a:r>
              <a:rPr dirty="0"/>
              <a:t> </a:t>
            </a:r>
            <a:r>
              <a:rPr dirty="0" err="1"/>
              <a:t>שביצעו</a:t>
            </a:r>
            <a:r>
              <a:rPr dirty="0"/>
              <a:t> </a:t>
            </a:r>
            <a:r>
              <a:rPr dirty="0" err="1"/>
              <a:t>בכל</a:t>
            </a:r>
            <a:r>
              <a:rPr dirty="0"/>
              <a:t> </a:t>
            </a:r>
            <a:r>
              <a:rPr dirty="0" err="1"/>
              <a:t>ניסיון</a:t>
            </a:r>
            <a:r>
              <a:rPr dirty="0"/>
              <a:t> — </a:t>
            </a:r>
            <a:r>
              <a:rPr dirty="0" err="1"/>
              <a:t>לא</a:t>
            </a:r>
            <a:r>
              <a:rPr dirty="0"/>
              <a:t> </a:t>
            </a:r>
            <a:r>
              <a:rPr dirty="0" err="1"/>
              <a:t>יודעים</a:t>
            </a:r>
            <a:r>
              <a:rPr dirty="0"/>
              <a:t> </a:t>
            </a:r>
            <a:r>
              <a:rPr dirty="0" err="1"/>
              <a:t>מה</a:t>
            </a:r>
            <a:r>
              <a:rPr dirty="0"/>
              <a:t> </a:t>
            </a:r>
            <a:r>
              <a:rPr dirty="0" err="1"/>
              <a:t>היו</a:t>
            </a:r>
            <a:r>
              <a:rPr dirty="0"/>
              <a:t> </a:t>
            </a:r>
            <a:r>
              <a:rPr dirty="0" err="1"/>
              <a:t>מקבלים</a:t>
            </a:r>
            <a:r>
              <a:rPr dirty="0"/>
              <a:t> </a:t>
            </a:r>
            <a:r>
              <a:rPr dirty="0" err="1"/>
              <a:t>אילו</a:t>
            </a:r>
            <a:r>
              <a:rPr dirty="0"/>
              <a:t> </a:t>
            </a:r>
            <a:r>
              <a:rPr dirty="0" err="1"/>
              <a:t>בחרו</a:t>
            </a:r>
            <a:r>
              <a:rPr dirty="0"/>
              <a:t> </a:t>
            </a:r>
            <a:r>
              <a:rPr dirty="0" err="1"/>
              <a:t>אחרת</a:t>
            </a:r>
            <a:r>
              <a:rPr dirty="0"/>
              <a:t>. </a:t>
            </a:r>
            <a:r>
              <a:rPr dirty="0" err="1"/>
              <a:t>לוח</a:t>
            </a:r>
            <a:r>
              <a:rPr dirty="0"/>
              <a:t> </a:t>
            </a:r>
            <a:r>
              <a:rPr dirty="0" err="1"/>
              <a:t>התגמולים</a:t>
            </a:r>
            <a:r>
              <a:rPr dirty="0"/>
              <a:t> </a:t>
            </a:r>
            <a:r>
              <a:rPr dirty="0" err="1"/>
              <a:t>מהונדס</a:t>
            </a:r>
            <a:r>
              <a:rPr dirty="0"/>
              <a:t> </a:t>
            </a:r>
            <a:r>
              <a:rPr dirty="0" err="1"/>
              <a:t>מראש</a:t>
            </a:r>
            <a:r>
              <a:rPr dirty="0"/>
              <a:t> </a:t>
            </a:r>
            <a:r>
              <a:rPr dirty="0" err="1"/>
              <a:t>כדי</a:t>
            </a:r>
            <a:r>
              <a:rPr dirty="0"/>
              <a:t> </a:t>
            </a:r>
            <a:r>
              <a:rPr dirty="0" err="1"/>
              <a:t>להטות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הבחירות</a:t>
            </a:r>
            <a:r>
              <a:rPr dirty="0"/>
              <a:t> </a:t>
            </a:r>
            <a:r>
              <a:rPr dirty="0" err="1"/>
              <a:t>לכיוון</a:t>
            </a:r>
            <a:r>
              <a:rPr dirty="0"/>
              <a:t> </a:t>
            </a:r>
            <a:r>
              <a:rPr dirty="0" err="1"/>
              <a:t>מסוים</a:t>
            </a:r>
            <a:r>
              <a:rPr dirty="0"/>
              <a:t>, </a:t>
            </a:r>
            <a:r>
              <a:rPr dirty="0" err="1"/>
              <a:t>ומודל</a:t>
            </a:r>
            <a:r>
              <a:rPr dirty="0"/>
              <a:t> </a:t>
            </a:r>
            <a:r>
              <a:rPr dirty="0" err="1"/>
              <a:t>כמו</a:t>
            </a:r>
            <a:r>
              <a:rPr dirty="0"/>
              <a:t> CATIE </a:t>
            </a:r>
            <a:r>
              <a:rPr dirty="0" err="1"/>
              <a:t>קורא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כל</a:t>
            </a:r>
            <a:r>
              <a:rPr dirty="0"/>
              <a:t> </a:t>
            </a:r>
            <a:r>
              <a:rPr dirty="0" err="1"/>
              <a:t>הרצף</a:t>
            </a:r>
            <a:r>
              <a:rPr dirty="0"/>
              <a:t> </a:t>
            </a:r>
            <a:r>
              <a:rPr dirty="0" err="1"/>
              <a:t>שראה</a:t>
            </a:r>
            <a:r>
              <a:rPr dirty="0"/>
              <a:t> </a:t>
            </a:r>
            <a:r>
              <a:rPr dirty="0" err="1"/>
              <a:t>עד</a:t>
            </a:r>
            <a:r>
              <a:rPr dirty="0"/>
              <a:t> </a:t>
            </a:r>
            <a:r>
              <a:rPr dirty="0" err="1"/>
              <a:t>כה</a:t>
            </a:r>
            <a:r>
              <a:rPr dirty="0"/>
              <a:t> </a:t>
            </a:r>
            <a:r>
              <a:rPr dirty="0" err="1"/>
              <a:t>ומפיק</a:t>
            </a:r>
            <a:r>
              <a:rPr dirty="0"/>
              <a:t> </a:t>
            </a:r>
            <a:r>
              <a:rPr dirty="0" err="1"/>
              <a:t>הסתברות</a:t>
            </a:r>
            <a:r>
              <a:rPr dirty="0"/>
              <a:t> p </a:t>
            </a:r>
            <a:r>
              <a:rPr dirty="0" err="1"/>
              <a:t>לבחירה</a:t>
            </a:r>
            <a:r>
              <a:rPr dirty="0"/>
              <a:t> </a:t>
            </a:r>
            <a:r>
              <a:rPr dirty="0" err="1"/>
              <a:t>הבאה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</a:t>
            </a:r>
            <a:r>
              <a:rPr dirty="0" err="1"/>
              <a:t>המשתתף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ה-CATIE </a:t>
            </a:r>
            <a:r>
              <a:rPr dirty="0" err="1"/>
              <a:t>משלב</a:t>
            </a:r>
            <a:r>
              <a:rPr dirty="0"/>
              <a:t> </a:t>
            </a:r>
            <a:r>
              <a:rPr dirty="0" err="1"/>
              <a:t>ארבעה</a:t>
            </a:r>
            <a:r>
              <a:rPr dirty="0"/>
              <a:t> </a:t>
            </a:r>
            <a:r>
              <a:rPr dirty="0" err="1"/>
              <a:t>מנגנונים</a:t>
            </a:r>
            <a:r>
              <a:rPr dirty="0"/>
              <a:t> </a:t>
            </a:r>
            <a:r>
              <a:rPr dirty="0" err="1"/>
              <a:t>פשוטים</a:t>
            </a:r>
            <a:r>
              <a:rPr dirty="0"/>
              <a:t> — </a:t>
            </a:r>
            <a:r>
              <a:rPr dirty="0" err="1"/>
              <a:t>ממוצע</a:t>
            </a:r>
            <a:r>
              <a:rPr dirty="0"/>
              <a:t> </a:t>
            </a:r>
            <a:r>
              <a:rPr dirty="0" err="1"/>
              <a:t>מצטבר</a:t>
            </a:r>
            <a:r>
              <a:rPr dirty="0"/>
              <a:t>, </a:t>
            </a:r>
            <a:r>
              <a:rPr dirty="0" err="1"/>
              <a:t>מגמה</a:t>
            </a:r>
            <a:r>
              <a:rPr dirty="0"/>
              <a:t>, </a:t>
            </a:r>
            <a:r>
              <a:rPr dirty="0" err="1"/>
              <a:t>אינרציה</a:t>
            </a:r>
            <a:r>
              <a:rPr dirty="0"/>
              <a:t> </a:t>
            </a:r>
            <a:r>
              <a:rPr dirty="0" err="1"/>
              <a:t>ואקספלורציה</a:t>
            </a:r>
            <a:r>
              <a:rPr dirty="0"/>
              <a:t> — </a:t>
            </a:r>
            <a:r>
              <a:rPr dirty="0" err="1"/>
              <a:t>וכך</a:t>
            </a:r>
            <a:r>
              <a:rPr dirty="0"/>
              <a:t> </a:t>
            </a:r>
            <a:r>
              <a:rPr dirty="0" err="1"/>
              <a:t>הצליח</a:t>
            </a:r>
            <a:r>
              <a:rPr dirty="0"/>
              <a:t> </a:t>
            </a:r>
            <a:r>
              <a:rPr dirty="0" err="1"/>
              <a:t>להשיג</a:t>
            </a:r>
            <a:r>
              <a:rPr dirty="0"/>
              <a:t> </a:t>
            </a:r>
            <a:r>
              <a:rPr dirty="0" err="1"/>
              <a:t>הטיה</a:t>
            </a:r>
            <a:r>
              <a:rPr dirty="0"/>
              <a:t> </a:t>
            </a:r>
            <a:r>
              <a:rPr dirty="0" err="1"/>
              <a:t>ממוצעת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64.3% </a:t>
            </a:r>
            <a:r>
              <a:rPr dirty="0" err="1"/>
              <a:t>בבחירות</a:t>
            </a:r>
            <a:r>
              <a:rPr dirty="0"/>
              <a:t> </a:t>
            </a:r>
            <a:r>
              <a:rPr dirty="0" err="1"/>
              <a:t>המשתתפים</a:t>
            </a:r>
            <a:r>
              <a:rPr dirty="0"/>
              <a:t>, </a:t>
            </a:r>
            <a:r>
              <a:rPr dirty="0" err="1"/>
              <a:t>גבוה</a:t>
            </a:r>
            <a:r>
              <a:rPr dirty="0"/>
              <a:t> </a:t>
            </a:r>
            <a:r>
              <a:rPr dirty="0" err="1"/>
              <a:t>משמעותית</a:t>
            </a:r>
            <a:r>
              <a:rPr dirty="0"/>
              <a:t> </a:t>
            </a:r>
            <a:r>
              <a:rPr dirty="0" err="1"/>
              <a:t>ממודלי</a:t>
            </a:r>
            <a:r>
              <a:rPr dirty="0"/>
              <a:t> Q-Learning </a:t>
            </a:r>
            <a:r>
              <a:rPr dirty="0" err="1"/>
              <a:t>מתחרים</a:t>
            </a:r>
            <a:r>
              <a:rPr dirty="0"/>
              <a:t>. </a:t>
            </a:r>
            <a:r>
              <a:rPr dirty="0" err="1"/>
              <a:t>אבל</a:t>
            </a:r>
            <a:r>
              <a:rPr dirty="0"/>
              <a:t> </a:t>
            </a:r>
            <a:r>
              <a:rPr dirty="0" err="1"/>
              <a:t>הנקודה</a:t>
            </a:r>
            <a:r>
              <a:rPr dirty="0"/>
              <a:t> </a:t>
            </a:r>
            <a:r>
              <a:rPr dirty="0" err="1"/>
              <a:t>הקריטית</a:t>
            </a:r>
            <a:r>
              <a:rPr dirty="0"/>
              <a:t> </a:t>
            </a:r>
            <a:r>
              <a:rPr dirty="0" err="1"/>
              <a:t>להבנת</a:t>
            </a:r>
            <a:r>
              <a:rPr dirty="0"/>
              <a:t> </a:t>
            </a:r>
            <a:r>
              <a:rPr dirty="0" err="1"/>
              <a:t>כל</a:t>
            </a:r>
            <a:r>
              <a:rPr dirty="0"/>
              <a:t> </a:t>
            </a:r>
            <a:r>
              <a:rPr dirty="0" err="1"/>
              <a:t>המחקר</a:t>
            </a:r>
            <a:r>
              <a:rPr dirty="0"/>
              <a:t>: CATIE </a:t>
            </a:r>
            <a:r>
              <a:rPr dirty="0" err="1"/>
              <a:t>לא</a:t>
            </a:r>
            <a:r>
              <a:rPr dirty="0"/>
              <a:t> </a:t>
            </a:r>
            <a:r>
              <a:rPr dirty="0" err="1"/>
              <a:t>פולט</a:t>
            </a:r>
            <a:r>
              <a:rPr dirty="0"/>
              <a:t> </a:t>
            </a:r>
            <a:r>
              <a:rPr dirty="0" err="1"/>
              <a:t>בחירה</a:t>
            </a:r>
            <a:r>
              <a:rPr dirty="0"/>
              <a:t> </a:t>
            </a:r>
            <a:r>
              <a:rPr dirty="0" err="1"/>
              <a:t>בודדת</a:t>
            </a:r>
            <a:r>
              <a:rPr dirty="0"/>
              <a:t> — </a:t>
            </a:r>
            <a:r>
              <a:rPr dirty="0" err="1"/>
              <a:t>הוא</a:t>
            </a:r>
            <a:r>
              <a:rPr dirty="0"/>
              <a:t> </a:t>
            </a:r>
            <a:r>
              <a:rPr dirty="0" err="1"/>
              <a:t>פולט</a:t>
            </a:r>
            <a:r>
              <a:rPr dirty="0"/>
              <a:t> </a:t>
            </a:r>
            <a:r>
              <a:rPr dirty="0" err="1"/>
              <a:t>הסתברות</a:t>
            </a:r>
            <a:r>
              <a:rPr dirty="0"/>
              <a:t>, p, </a:t>
            </a:r>
            <a:r>
              <a:rPr dirty="0" err="1"/>
              <a:t>לבחירה</a:t>
            </a:r>
            <a:r>
              <a:rPr dirty="0"/>
              <a:t> </a:t>
            </a:r>
            <a:r>
              <a:rPr dirty="0" err="1"/>
              <a:t>הצפויה</a:t>
            </a:r>
            <a:r>
              <a:rPr dirty="0"/>
              <a:t>. </a:t>
            </a:r>
            <a:r>
              <a:rPr dirty="0" err="1"/>
              <a:t>וזו</a:t>
            </a:r>
            <a:r>
              <a:rPr dirty="0"/>
              <a:t> </a:t>
            </a:r>
            <a:r>
              <a:rPr dirty="0" err="1"/>
              <a:t>ההסתברות</a:t>
            </a:r>
            <a:r>
              <a:rPr dirty="0"/>
              <a:t> </a:t>
            </a:r>
            <a:r>
              <a:rPr dirty="0" err="1"/>
              <a:t>הזו</a:t>
            </a:r>
            <a:r>
              <a:rPr dirty="0"/>
              <a:t>, </a:t>
            </a:r>
            <a:r>
              <a:rPr dirty="0" err="1"/>
              <a:t>ולא</a:t>
            </a:r>
            <a:r>
              <a:rPr dirty="0"/>
              <a:t> </a:t>
            </a:r>
            <a:r>
              <a:rPr dirty="0" err="1"/>
              <a:t>רק</a:t>
            </a:r>
            <a:r>
              <a:rPr dirty="0"/>
              <a:t> </a:t>
            </a:r>
            <a:r>
              <a:rPr dirty="0" err="1"/>
              <a:t>הדיוק</a:t>
            </a:r>
            <a:r>
              <a:rPr dirty="0"/>
              <a:t> </a:t>
            </a:r>
            <a:r>
              <a:rPr dirty="0" err="1"/>
              <a:t>הממוצע</a:t>
            </a:r>
            <a:r>
              <a:rPr dirty="0"/>
              <a:t>, </a:t>
            </a:r>
            <a:r>
              <a:rPr dirty="0" err="1"/>
              <a:t>שאני</a:t>
            </a:r>
            <a:r>
              <a:rPr dirty="0"/>
              <a:t> </a:t>
            </a:r>
            <a:r>
              <a:rPr dirty="0" err="1"/>
              <a:t>בוחנת</a:t>
            </a:r>
            <a:r>
              <a:rPr dirty="0"/>
              <a:t> </a:t>
            </a:r>
            <a:r>
              <a:rPr dirty="0" err="1"/>
              <a:t>לאורך</a:t>
            </a:r>
            <a:r>
              <a:rPr dirty="0"/>
              <a:t> </a:t>
            </a:r>
            <a:r>
              <a:rPr dirty="0" err="1"/>
              <a:t>כל</a:t>
            </a:r>
            <a:r>
              <a:rPr dirty="0"/>
              <a:t> </a:t>
            </a:r>
            <a:r>
              <a:rPr dirty="0" err="1"/>
              <a:t>העבודה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התוצאה</a:t>
            </a:r>
            <a:r>
              <a:rPr dirty="0"/>
              <a:t> </a:t>
            </a:r>
            <a:r>
              <a:rPr dirty="0" err="1"/>
              <a:t>הזו</a:t>
            </a:r>
            <a:r>
              <a:rPr dirty="0"/>
              <a:t> </a:t>
            </a:r>
            <a:r>
              <a:rPr dirty="0" err="1"/>
              <a:t>אינה</a:t>
            </a:r>
            <a:r>
              <a:rPr dirty="0"/>
              <a:t> </a:t>
            </a:r>
            <a:r>
              <a:rPr dirty="0" err="1"/>
              <a:t>הערכה</a:t>
            </a:r>
            <a:r>
              <a:rPr dirty="0"/>
              <a:t> </a:t>
            </a:r>
            <a:r>
              <a:rPr dirty="0" err="1"/>
              <a:t>שלי</a:t>
            </a:r>
            <a:r>
              <a:rPr dirty="0"/>
              <a:t> — </a:t>
            </a:r>
            <a:r>
              <a:rPr dirty="0" err="1"/>
              <a:t>זה</a:t>
            </a:r>
            <a:r>
              <a:rPr dirty="0"/>
              <a:t> </a:t>
            </a:r>
            <a:r>
              <a:rPr dirty="0" err="1"/>
              <a:t>הגרף</a:t>
            </a:r>
            <a:r>
              <a:rPr dirty="0"/>
              <a:t> </a:t>
            </a:r>
            <a:r>
              <a:rPr dirty="0" err="1"/>
              <a:t>המקורי</a:t>
            </a:r>
            <a:r>
              <a:rPr dirty="0"/>
              <a:t> </a:t>
            </a:r>
            <a:r>
              <a:rPr dirty="0" err="1"/>
              <a:t>מהמאמר</a:t>
            </a:r>
            <a:r>
              <a:rPr dirty="0"/>
              <a:t> </a:t>
            </a:r>
            <a:r>
              <a:rPr dirty="0" err="1"/>
              <a:t>שפורסם</a:t>
            </a:r>
            <a:r>
              <a:rPr dirty="0"/>
              <a:t> ב-Nature Communications. </a:t>
            </a:r>
            <a:r>
              <a:rPr dirty="0" err="1"/>
              <a:t>לוח</a:t>
            </a:r>
            <a:r>
              <a:rPr dirty="0"/>
              <a:t> 1, </a:t>
            </a:r>
            <a:r>
              <a:rPr dirty="0" err="1"/>
              <a:t>זה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CATIE, </a:t>
            </a:r>
            <a:r>
              <a:rPr dirty="0" err="1"/>
              <a:t>ניצח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כל</a:t>
            </a:r>
            <a:r>
              <a:rPr dirty="0"/>
              <a:t> 10 </a:t>
            </a:r>
            <a:r>
              <a:rPr dirty="0" err="1"/>
              <a:t>הלוחות</a:t>
            </a:r>
            <a:r>
              <a:rPr dirty="0"/>
              <a:t> </a:t>
            </a:r>
            <a:r>
              <a:rPr dirty="0" err="1"/>
              <a:t>המתחרים</a:t>
            </a:r>
            <a:r>
              <a:rPr dirty="0"/>
              <a:t> </a:t>
            </a:r>
            <a:r>
              <a:rPr dirty="0" err="1"/>
              <a:t>בהפרש</a:t>
            </a:r>
            <a:r>
              <a:rPr dirty="0"/>
              <a:t> </a:t>
            </a:r>
            <a:r>
              <a:rPr dirty="0" err="1"/>
              <a:t>משמעותי</a:t>
            </a:r>
            <a:r>
              <a:rPr dirty="0"/>
              <a:t>. </a:t>
            </a:r>
            <a:r>
              <a:rPr dirty="0" err="1"/>
              <a:t>זה</a:t>
            </a:r>
            <a:r>
              <a:rPr dirty="0"/>
              <a:t> </a:t>
            </a:r>
            <a:r>
              <a:rPr dirty="0" err="1"/>
              <a:t>הבסיס</a:t>
            </a:r>
            <a:r>
              <a:rPr dirty="0"/>
              <a:t> </a:t>
            </a:r>
            <a:r>
              <a:rPr dirty="0" err="1"/>
              <a:t>שעליו</a:t>
            </a:r>
            <a:r>
              <a:rPr dirty="0"/>
              <a:t> </a:t>
            </a:r>
            <a:r>
              <a:rPr dirty="0" err="1"/>
              <a:t>כל</a:t>
            </a:r>
            <a:r>
              <a:rPr dirty="0"/>
              <a:t> </a:t>
            </a:r>
            <a:r>
              <a:rPr dirty="0" err="1"/>
              <a:t>הניתוח</a:t>
            </a:r>
            <a:r>
              <a:rPr dirty="0"/>
              <a:t> </a:t>
            </a:r>
            <a:r>
              <a:rPr dirty="0" err="1"/>
              <a:t>שלי</a:t>
            </a:r>
            <a:r>
              <a:rPr dirty="0"/>
              <a:t> </a:t>
            </a:r>
            <a:r>
              <a:rPr dirty="0" err="1"/>
              <a:t>בנוי</a:t>
            </a:r>
            <a:r>
              <a:rPr dirty="0"/>
              <a:t>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המנגנון</a:t>
            </a:r>
            <a:r>
              <a:rPr dirty="0"/>
              <a:t> </a:t>
            </a:r>
            <a:r>
              <a:rPr dirty="0" err="1"/>
              <a:t>הראשון</a:t>
            </a:r>
            <a:r>
              <a:rPr dirty="0"/>
              <a:t>: </a:t>
            </a:r>
            <a:r>
              <a:rPr dirty="0" err="1"/>
              <a:t>ממוצע</a:t>
            </a:r>
            <a:r>
              <a:rPr dirty="0"/>
              <a:t> </a:t>
            </a:r>
            <a:r>
              <a:rPr dirty="0" err="1"/>
              <a:t>מצטבר</a:t>
            </a:r>
            <a:r>
              <a:rPr dirty="0"/>
              <a:t>. CATIE </a:t>
            </a:r>
            <a:r>
              <a:rPr dirty="0" err="1"/>
              <a:t>עוקב</a:t>
            </a:r>
            <a:r>
              <a:rPr dirty="0"/>
              <a:t> </a:t>
            </a:r>
            <a:r>
              <a:rPr dirty="0" err="1"/>
              <a:t>אחר</a:t>
            </a:r>
            <a:r>
              <a:rPr dirty="0"/>
              <a:t> </a:t>
            </a:r>
            <a:r>
              <a:rPr dirty="0" err="1"/>
              <a:t>התגמול</a:t>
            </a:r>
            <a:r>
              <a:rPr dirty="0"/>
              <a:t> </a:t>
            </a:r>
            <a:r>
              <a:rPr dirty="0" err="1"/>
              <a:t>הממוצע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</a:t>
            </a:r>
            <a:r>
              <a:rPr dirty="0" err="1"/>
              <a:t>כל</a:t>
            </a:r>
            <a:r>
              <a:rPr dirty="0"/>
              <a:t> </a:t>
            </a:r>
            <a:r>
              <a:rPr dirty="0" err="1"/>
              <a:t>אפשרות</a:t>
            </a:r>
            <a:r>
              <a:rPr dirty="0"/>
              <a:t> </a:t>
            </a:r>
            <a:r>
              <a:rPr dirty="0" err="1"/>
              <a:t>לאורך</a:t>
            </a:r>
            <a:r>
              <a:rPr dirty="0"/>
              <a:t> </a:t>
            </a:r>
            <a:r>
              <a:rPr dirty="0" err="1"/>
              <a:t>כל</a:t>
            </a:r>
            <a:r>
              <a:rPr dirty="0"/>
              <a:t> </a:t>
            </a:r>
            <a:r>
              <a:rPr dirty="0" err="1"/>
              <a:t>הניסיונות</a:t>
            </a:r>
            <a:r>
              <a:rPr dirty="0"/>
              <a:t> </a:t>
            </a:r>
            <a:r>
              <a:rPr dirty="0" err="1"/>
              <a:t>הקודמים</a:t>
            </a:r>
            <a:r>
              <a:rPr dirty="0"/>
              <a:t> — </a:t>
            </a:r>
            <a:r>
              <a:rPr dirty="0" err="1"/>
              <a:t>אומדן</a:t>
            </a:r>
            <a:r>
              <a:rPr dirty="0"/>
              <a:t> </a:t>
            </a:r>
            <a:r>
              <a:rPr dirty="0" err="1"/>
              <a:t>לטווח</a:t>
            </a:r>
            <a:r>
              <a:rPr dirty="0"/>
              <a:t> </a:t>
            </a:r>
            <a:r>
              <a:rPr dirty="0" err="1"/>
              <a:t>הארוך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</a:t>
            </a:r>
            <a:r>
              <a:rPr dirty="0" err="1"/>
              <a:t>איזה</a:t>
            </a:r>
            <a:r>
              <a:rPr dirty="0"/>
              <a:t> </a:t>
            </a:r>
            <a:r>
              <a:rPr dirty="0" err="1"/>
              <a:t>צד</a:t>
            </a:r>
            <a:r>
              <a:rPr dirty="0"/>
              <a:t> </a:t>
            </a:r>
            <a:r>
              <a:rPr dirty="0" err="1"/>
              <a:t>משתלם</a:t>
            </a:r>
            <a:r>
              <a:rPr dirty="0"/>
              <a:t> </a:t>
            </a:r>
            <a:r>
              <a:rPr dirty="0" err="1"/>
              <a:t>יותר</a:t>
            </a:r>
            <a:r>
              <a:rPr dirty="0"/>
              <a:t>. </a:t>
            </a:r>
            <a:r>
              <a:rPr dirty="0" err="1"/>
              <a:t>זה</a:t>
            </a:r>
            <a:r>
              <a:rPr dirty="0"/>
              <a:t> </a:t>
            </a:r>
            <a:r>
              <a:rPr dirty="0" err="1"/>
              <a:t>המנגנון</a:t>
            </a:r>
            <a:r>
              <a:rPr dirty="0"/>
              <a:t> </a:t>
            </a:r>
            <a:r>
              <a:rPr dirty="0" err="1"/>
              <a:t>ה'איטי</a:t>
            </a:r>
            <a:r>
              <a:rPr dirty="0"/>
              <a:t>' </a:t>
            </a:r>
            <a:r>
              <a:rPr dirty="0" err="1"/>
              <a:t>שמבוסס</a:t>
            </a:r>
            <a:r>
              <a:rPr dirty="0"/>
              <a:t>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כל</a:t>
            </a:r>
            <a:r>
              <a:rPr dirty="0"/>
              <a:t> </a:t>
            </a:r>
            <a:r>
              <a:rPr dirty="0" err="1"/>
              <a:t>ההיסטוריה</a:t>
            </a:r>
            <a:r>
              <a:rPr dirty="0"/>
              <a:t>, </a:t>
            </a:r>
            <a:r>
              <a:rPr dirty="0" err="1"/>
              <a:t>ולא</a:t>
            </a:r>
            <a:r>
              <a:rPr dirty="0"/>
              <a:t> </a:t>
            </a:r>
            <a:r>
              <a:rPr dirty="0" err="1"/>
              <a:t>משתנה</a:t>
            </a:r>
            <a:r>
              <a:rPr dirty="0"/>
              <a:t> </a:t>
            </a:r>
            <a:r>
              <a:rPr dirty="0" err="1"/>
              <a:t>בקלות</a:t>
            </a:r>
            <a:r>
              <a:rPr dirty="0"/>
              <a:t> </a:t>
            </a:r>
            <a:r>
              <a:rPr dirty="0" err="1"/>
              <a:t>מטעות</a:t>
            </a:r>
            <a:r>
              <a:rPr dirty="0"/>
              <a:t> </a:t>
            </a:r>
            <a:r>
              <a:rPr dirty="0" err="1"/>
              <a:t>חד-פעמית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dirty="0" err="1"/>
              <a:t>המנגנון</a:t>
            </a:r>
            <a:r>
              <a:rPr dirty="0"/>
              <a:t> </a:t>
            </a:r>
            <a:r>
              <a:rPr dirty="0" err="1"/>
              <a:t>השני</a:t>
            </a:r>
            <a:r>
              <a:rPr dirty="0"/>
              <a:t>: </a:t>
            </a:r>
            <a:r>
              <a:rPr dirty="0" err="1"/>
              <a:t>מגמה</a:t>
            </a:r>
            <a:r>
              <a:rPr dirty="0"/>
              <a:t>. </a:t>
            </a:r>
            <a:r>
              <a:rPr dirty="0" err="1"/>
              <a:t>בניגוד</a:t>
            </a:r>
            <a:r>
              <a:rPr dirty="0"/>
              <a:t> </a:t>
            </a:r>
            <a:r>
              <a:rPr dirty="0" err="1"/>
              <a:t>לממוצע</a:t>
            </a:r>
            <a:r>
              <a:rPr dirty="0"/>
              <a:t> </a:t>
            </a:r>
            <a:r>
              <a:rPr dirty="0" err="1"/>
              <a:t>המצטבר</a:t>
            </a:r>
            <a:r>
              <a:rPr dirty="0"/>
              <a:t>, </a:t>
            </a:r>
            <a:r>
              <a:rPr dirty="0" err="1"/>
              <a:t>כאן</a:t>
            </a:r>
            <a:r>
              <a:rPr dirty="0"/>
              <a:t> </a:t>
            </a:r>
            <a:r>
              <a:rPr dirty="0" err="1"/>
              <a:t>יש</a:t>
            </a:r>
            <a:r>
              <a:rPr dirty="0"/>
              <a:t> </a:t>
            </a:r>
            <a:r>
              <a:rPr dirty="0" err="1"/>
              <a:t>משקל</a:t>
            </a:r>
            <a:r>
              <a:rPr dirty="0"/>
              <a:t> </a:t>
            </a:r>
            <a:r>
              <a:rPr dirty="0" err="1"/>
              <a:t>גבוה</a:t>
            </a:r>
            <a:r>
              <a:rPr dirty="0"/>
              <a:t> </a:t>
            </a:r>
            <a:r>
              <a:rPr dirty="0" err="1"/>
              <a:t>יותר</a:t>
            </a:r>
            <a:r>
              <a:rPr dirty="0"/>
              <a:t> </a:t>
            </a:r>
            <a:r>
              <a:rPr dirty="0" err="1"/>
              <a:t>לתוצאות</a:t>
            </a:r>
            <a:r>
              <a:rPr dirty="0"/>
              <a:t> </a:t>
            </a:r>
            <a:r>
              <a:rPr dirty="0" err="1"/>
              <a:t>האחרונות</a:t>
            </a:r>
            <a:r>
              <a:rPr dirty="0"/>
              <a:t> — </a:t>
            </a:r>
            <a:r>
              <a:rPr dirty="0" err="1"/>
              <a:t>כך</a:t>
            </a:r>
            <a:r>
              <a:rPr dirty="0"/>
              <a:t> </a:t>
            </a:r>
            <a:r>
              <a:rPr dirty="0" err="1"/>
              <a:t>שהמודל</a:t>
            </a:r>
            <a:r>
              <a:rPr dirty="0"/>
              <a:t> </a:t>
            </a:r>
            <a:r>
              <a:rPr dirty="0" err="1"/>
              <a:t>רגיש</a:t>
            </a:r>
            <a:r>
              <a:rPr dirty="0"/>
              <a:t> </a:t>
            </a:r>
            <a:r>
              <a:rPr dirty="0" err="1"/>
              <a:t>לשינויים</a:t>
            </a:r>
            <a:r>
              <a:rPr dirty="0"/>
              <a:t>: </a:t>
            </a:r>
            <a:r>
              <a:rPr dirty="0" err="1"/>
              <a:t>האם</a:t>
            </a:r>
            <a:r>
              <a:rPr dirty="0"/>
              <a:t> </a:t>
            </a:r>
            <a:r>
              <a:rPr dirty="0" err="1"/>
              <a:t>אפשרות</a:t>
            </a:r>
            <a:r>
              <a:rPr dirty="0"/>
              <a:t> </a:t>
            </a:r>
            <a:r>
              <a:rPr dirty="0" err="1"/>
              <a:t>נמצאת</a:t>
            </a:r>
            <a:r>
              <a:rPr dirty="0"/>
              <a:t> </a:t>
            </a:r>
            <a:r>
              <a:rPr dirty="0" err="1"/>
              <a:t>במגמת</a:t>
            </a:r>
            <a:r>
              <a:rPr dirty="0"/>
              <a:t> </a:t>
            </a:r>
            <a:r>
              <a:rPr dirty="0" err="1"/>
              <a:t>עלייה</a:t>
            </a:r>
            <a:r>
              <a:rPr dirty="0"/>
              <a:t> </a:t>
            </a:r>
            <a:r>
              <a:rPr dirty="0" err="1"/>
              <a:t>או</a:t>
            </a:r>
            <a:r>
              <a:rPr dirty="0"/>
              <a:t> </a:t>
            </a:r>
            <a:r>
              <a:rPr dirty="0" err="1"/>
              <a:t>ירידה</a:t>
            </a:r>
            <a:r>
              <a:rPr dirty="0"/>
              <a:t> </a:t>
            </a:r>
            <a:r>
              <a:rPr dirty="0" err="1"/>
              <a:t>ממש</a:t>
            </a:r>
            <a:r>
              <a:rPr dirty="0"/>
              <a:t> </a:t>
            </a:r>
            <a:r>
              <a:rPr dirty="0" err="1"/>
              <a:t>עכשיו</a:t>
            </a:r>
            <a:r>
              <a:rPr dirty="0"/>
              <a:t>, </a:t>
            </a:r>
            <a:r>
              <a:rPr dirty="0" err="1"/>
              <a:t>גם</a:t>
            </a:r>
            <a:r>
              <a:rPr dirty="0"/>
              <a:t> </a:t>
            </a:r>
            <a:r>
              <a:rPr dirty="0" err="1"/>
              <a:t>אם</a:t>
            </a:r>
            <a:r>
              <a:rPr dirty="0"/>
              <a:t> </a:t>
            </a:r>
            <a:r>
              <a:rPr dirty="0" err="1"/>
              <a:t>ההיסטוריה</a:t>
            </a:r>
            <a:r>
              <a:rPr dirty="0"/>
              <a:t> </a:t>
            </a:r>
            <a:r>
              <a:rPr dirty="0" err="1"/>
              <a:t>הרחוקה</a:t>
            </a:r>
            <a:r>
              <a:rPr dirty="0"/>
              <a:t> </a:t>
            </a:r>
            <a:r>
              <a:rPr dirty="0" err="1"/>
              <a:t>אומרת</a:t>
            </a:r>
            <a:r>
              <a:rPr dirty="0"/>
              <a:t> </a:t>
            </a:r>
            <a:r>
              <a:rPr dirty="0" err="1"/>
              <a:t>אחרת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המנגנון</a:t>
            </a:r>
            <a:r>
              <a:rPr dirty="0"/>
              <a:t> </a:t>
            </a:r>
            <a:r>
              <a:rPr dirty="0" err="1"/>
              <a:t>השלישי</a:t>
            </a:r>
            <a:r>
              <a:rPr dirty="0"/>
              <a:t>: </a:t>
            </a:r>
            <a:r>
              <a:rPr dirty="0" err="1"/>
              <a:t>אינרציה</a:t>
            </a:r>
            <a:r>
              <a:rPr dirty="0"/>
              <a:t> — </a:t>
            </a:r>
            <a:r>
              <a:rPr dirty="0" err="1"/>
              <a:t>נטייה</a:t>
            </a:r>
            <a:r>
              <a:rPr dirty="0"/>
              <a:t> </a:t>
            </a:r>
            <a:r>
              <a:rPr dirty="0" err="1"/>
              <a:t>לחזור</a:t>
            </a:r>
            <a:r>
              <a:rPr dirty="0"/>
              <a:t>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הבחירה</a:t>
            </a:r>
            <a:r>
              <a:rPr dirty="0"/>
              <a:t> </a:t>
            </a:r>
            <a:r>
              <a:rPr dirty="0" err="1"/>
              <a:t>הקודמת</a:t>
            </a:r>
            <a:r>
              <a:rPr dirty="0"/>
              <a:t>, </a:t>
            </a:r>
            <a:r>
              <a:rPr dirty="0" err="1"/>
              <a:t>להישאר</a:t>
            </a:r>
            <a:r>
              <a:rPr dirty="0"/>
              <a:t> </a:t>
            </a:r>
            <a:r>
              <a:rPr dirty="0" err="1"/>
              <a:t>באותו</a:t>
            </a:r>
            <a:r>
              <a:rPr dirty="0"/>
              <a:t> </a:t>
            </a:r>
            <a:r>
              <a:rPr dirty="0" err="1"/>
              <a:t>צד</a:t>
            </a:r>
            <a:r>
              <a:rPr dirty="0"/>
              <a:t> </a:t>
            </a:r>
            <a:r>
              <a:rPr dirty="0" err="1"/>
              <a:t>במקום</a:t>
            </a:r>
            <a:r>
              <a:rPr dirty="0"/>
              <a:t> </a:t>
            </a:r>
            <a:r>
              <a:rPr dirty="0" err="1"/>
              <a:t>להחליף</a:t>
            </a:r>
            <a:r>
              <a:rPr dirty="0"/>
              <a:t>, </a:t>
            </a:r>
            <a:r>
              <a:rPr dirty="0" err="1"/>
              <a:t>גם</a:t>
            </a:r>
            <a:r>
              <a:rPr dirty="0"/>
              <a:t> </a:t>
            </a:r>
            <a:r>
              <a:rPr dirty="0" err="1"/>
              <a:t>בלי</a:t>
            </a:r>
            <a:r>
              <a:rPr dirty="0"/>
              <a:t> </a:t>
            </a:r>
            <a:r>
              <a:rPr dirty="0" err="1"/>
              <a:t>קשר</a:t>
            </a:r>
            <a:r>
              <a:rPr dirty="0"/>
              <a:t> </a:t>
            </a:r>
            <a:r>
              <a:rPr dirty="0" err="1"/>
              <a:t>לתגמול</a:t>
            </a:r>
            <a:r>
              <a:rPr dirty="0"/>
              <a:t>. </a:t>
            </a:r>
            <a:r>
              <a:rPr dirty="0" err="1"/>
              <a:t>זה</a:t>
            </a:r>
            <a:r>
              <a:rPr dirty="0"/>
              <a:t> </a:t>
            </a:r>
            <a:r>
              <a:rPr dirty="0" err="1"/>
              <a:t>מנגנון</a:t>
            </a:r>
            <a:r>
              <a:rPr dirty="0"/>
              <a:t> </a:t>
            </a:r>
            <a:r>
              <a:rPr dirty="0" err="1"/>
              <a:t>שיחזור</a:t>
            </a:r>
            <a:r>
              <a:rPr dirty="0"/>
              <a:t> </a:t>
            </a:r>
            <a:r>
              <a:rPr dirty="0" err="1"/>
              <a:t>אצלנו</a:t>
            </a:r>
            <a:r>
              <a:rPr dirty="0"/>
              <a:t> </a:t>
            </a:r>
            <a:r>
              <a:rPr dirty="0" err="1"/>
              <a:t>בהמשך</a:t>
            </a:r>
            <a:r>
              <a:rPr dirty="0"/>
              <a:t>, </a:t>
            </a:r>
            <a:r>
              <a:rPr dirty="0" err="1"/>
              <a:t>כשנדבר</a:t>
            </a:r>
            <a:r>
              <a:rPr dirty="0"/>
              <a:t>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אחת</a:t>
            </a:r>
            <a:r>
              <a:rPr dirty="0"/>
              <a:t> </a:t>
            </a:r>
            <a:r>
              <a:rPr dirty="0" err="1"/>
              <a:t>התקלות</a:t>
            </a:r>
            <a:r>
              <a:rPr dirty="0"/>
              <a:t> </a:t>
            </a:r>
            <a:r>
              <a:rPr dirty="0" err="1"/>
              <a:t>המתודולוגיות</a:t>
            </a:r>
            <a:r>
              <a:rPr dirty="0"/>
              <a:t> </a:t>
            </a:r>
            <a:r>
              <a:rPr dirty="0" err="1"/>
              <a:t>המעניינות</a:t>
            </a:r>
            <a:r>
              <a:rPr dirty="0"/>
              <a:t> </a:t>
            </a:r>
            <a:r>
              <a:rPr dirty="0" err="1"/>
              <a:t>במחקר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והמנגנון</a:t>
            </a:r>
            <a:r>
              <a:rPr dirty="0"/>
              <a:t> </a:t>
            </a:r>
            <a:r>
              <a:rPr dirty="0" err="1"/>
              <a:t>הרביעי</a:t>
            </a:r>
            <a:r>
              <a:rPr dirty="0"/>
              <a:t>: </a:t>
            </a:r>
            <a:r>
              <a:rPr dirty="0" err="1"/>
              <a:t>אקספלורציה</a:t>
            </a:r>
            <a:r>
              <a:rPr dirty="0"/>
              <a:t> — </a:t>
            </a:r>
            <a:r>
              <a:rPr dirty="0" err="1"/>
              <a:t>סטייה</a:t>
            </a:r>
            <a:r>
              <a:rPr dirty="0"/>
              <a:t> </a:t>
            </a:r>
            <a:r>
              <a:rPr dirty="0" err="1"/>
              <a:t>מזדמנת</a:t>
            </a:r>
            <a:r>
              <a:rPr dirty="0"/>
              <a:t> </a:t>
            </a:r>
            <a:r>
              <a:rPr dirty="0" err="1"/>
              <a:t>ומכוונת</a:t>
            </a:r>
            <a:r>
              <a:rPr dirty="0"/>
              <a:t> </a:t>
            </a:r>
            <a:r>
              <a:rPr dirty="0" err="1"/>
              <a:t>מהאפשרות</a:t>
            </a:r>
            <a:r>
              <a:rPr dirty="0"/>
              <a:t> </a:t>
            </a:r>
            <a:r>
              <a:rPr dirty="0" err="1"/>
              <a:t>המועדפת</a:t>
            </a:r>
            <a:r>
              <a:rPr dirty="0"/>
              <a:t>, </a:t>
            </a:r>
            <a:r>
              <a:rPr dirty="0" err="1"/>
              <a:t>כאילו</a:t>
            </a:r>
            <a:r>
              <a:rPr dirty="0"/>
              <a:t> </a:t>
            </a:r>
            <a:r>
              <a:rPr dirty="0" err="1"/>
              <a:t>המודל</a:t>
            </a:r>
            <a:r>
              <a:rPr dirty="0"/>
              <a:t> '</a:t>
            </a:r>
            <a:r>
              <a:rPr dirty="0" err="1"/>
              <a:t>בודק</a:t>
            </a:r>
            <a:r>
              <a:rPr dirty="0"/>
              <a:t> </a:t>
            </a:r>
            <a:r>
              <a:rPr dirty="0" err="1"/>
              <a:t>לוודא</a:t>
            </a:r>
            <a:r>
              <a:rPr dirty="0"/>
              <a:t>' </a:t>
            </a:r>
            <a:r>
              <a:rPr dirty="0" err="1"/>
              <a:t>שהוא</a:t>
            </a:r>
            <a:r>
              <a:rPr dirty="0"/>
              <a:t> </a:t>
            </a:r>
            <a:r>
              <a:rPr dirty="0" err="1"/>
              <a:t>לא</a:t>
            </a:r>
            <a:r>
              <a:rPr dirty="0"/>
              <a:t> </a:t>
            </a:r>
            <a:r>
              <a:rPr dirty="0" err="1"/>
              <a:t>מפסיד</a:t>
            </a:r>
            <a:r>
              <a:rPr dirty="0"/>
              <a:t> </a:t>
            </a:r>
            <a:r>
              <a:rPr dirty="0" err="1"/>
              <a:t>הזדמנות</a:t>
            </a:r>
            <a:r>
              <a:rPr dirty="0"/>
              <a:t> </a:t>
            </a:r>
            <a:r>
              <a:rPr dirty="0" err="1"/>
              <a:t>בצד</a:t>
            </a:r>
            <a:r>
              <a:rPr dirty="0"/>
              <a:t> </a:t>
            </a:r>
            <a:r>
              <a:rPr dirty="0" err="1"/>
              <a:t>השני</a:t>
            </a:r>
            <a:r>
              <a:rPr dirty="0"/>
              <a:t>. </a:t>
            </a:r>
            <a:r>
              <a:rPr dirty="0" err="1"/>
              <a:t>ארבעת</a:t>
            </a:r>
            <a:r>
              <a:rPr dirty="0"/>
              <a:t> </a:t>
            </a:r>
            <a:r>
              <a:rPr dirty="0" err="1"/>
              <a:t>המנגנונים</a:t>
            </a:r>
            <a:r>
              <a:rPr dirty="0"/>
              <a:t> </a:t>
            </a:r>
            <a:r>
              <a:rPr dirty="0" err="1"/>
              <a:t>האלה</a:t>
            </a:r>
            <a:r>
              <a:rPr dirty="0"/>
              <a:t>, </a:t>
            </a:r>
            <a:r>
              <a:rPr dirty="0" err="1"/>
              <a:t>יחד</a:t>
            </a:r>
            <a:r>
              <a:rPr dirty="0"/>
              <a:t>, </a:t>
            </a:r>
            <a:r>
              <a:rPr dirty="0" err="1"/>
              <a:t>הם</a:t>
            </a:r>
            <a:r>
              <a:rPr dirty="0"/>
              <a:t> </a:t>
            </a:r>
            <a:r>
              <a:rPr dirty="0" err="1"/>
              <a:t>מה</a:t>
            </a:r>
            <a:r>
              <a:rPr dirty="0"/>
              <a:t> </a:t>
            </a:r>
            <a:r>
              <a:rPr dirty="0" err="1"/>
              <a:t>שהפיק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ה-p </a:t>
            </a:r>
            <a:r>
              <a:rPr dirty="0" err="1"/>
              <a:t>שבדקתי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כדי</a:t>
            </a:r>
            <a:r>
              <a:rPr dirty="0"/>
              <a:t> </a:t>
            </a:r>
            <a:r>
              <a:rPr dirty="0" err="1"/>
              <a:t>לבדוק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דיוק</a:t>
            </a:r>
            <a:r>
              <a:rPr dirty="0"/>
              <a:t> </a:t>
            </a:r>
            <a:r>
              <a:rPr dirty="0" err="1"/>
              <a:t>התחזיות</a:t>
            </a:r>
            <a:r>
              <a:rPr dirty="0"/>
              <a:t> </a:t>
            </a:r>
            <a:r>
              <a:rPr dirty="0" err="1"/>
              <a:t>בצורה</a:t>
            </a:r>
            <a:r>
              <a:rPr dirty="0"/>
              <a:t> </a:t>
            </a:r>
            <a:r>
              <a:rPr dirty="0" err="1"/>
              <a:t>שיטתית</a:t>
            </a:r>
            <a:r>
              <a:rPr dirty="0"/>
              <a:t>, </a:t>
            </a:r>
            <a:r>
              <a:rPr dirty="0" err="1"/>
              <a:t>הגדרתי</a:t>
            </a:r>
            <a:r>
              <a:rPr dirty="0"/>
              <a:t> '</a:t>
            </a:r>
            <a:r>
              <a:rPr dirty="0" err="1"/>
              <a:t>נקודת</a:t>
            </a:r>
            <a:r>
              <a:rPr dirty="0"/>
              <a:t> </a:t>
            </a:r>
            <a:r>
              <a:rPr dirty="0" err="1"/>
              <a:t>הפתעה</a:t>
            </a:r>
            <a:r>
              <a:rPr dirty="0"/>
              <a:t>': </a:t>
            </a:r>
            <a:r>
              <a:rPr dirty="0" err="1"/>
              <a:t>ניסיון</a:t>
            </a:r>
            <a:r>
              <a:rPr dirty="0"/>
              <a:t> </a:t>
            </a:r>
            <a:r>
              <a:rPr dirty="0" err="1"/>
              <a:t>שבו</a:t>
            </a:r>
            <a:r>
              <a:rPr dirty="0"/>
              <a:t> CATIE </a:t>
            </a:r>
            <a:r>
              <a:rPr dirty="0" err="1"/>
              <a:t>העריך</a:t>
            </a:r>
            <a:r>
              <a:rPr dirty="0"/>
              <a:t> </a:t>
            </a:r>
            <a:r>
              <a:rPr dirty="0" err="1"/>
              <a:t>הסתברות</a:t>
            </a:r>
            <a:r>
              <a:rPr dirty="0"/>
              <a:t> </a:t>
            </a:r>
            <a:r>
              <a:rPr dirty="0" err="1"/>
              <a:t>נמוכה</a:t>
            </a:r>
            <a:r>
              <a:rPr dirty="0"/>
              <a:t> מ-0.15 </a:t>
            </a:r>
            <a:r>
              <a:rPr dirty="0" err="1"/>
              <a:t>לבחירה</a:t>
            </a:r>
            <a:r>
              <a:rPr dirty="0"/>
              <a:t> </a:t>
            </a:r>
            <a:r>
              <a:rPr dirty="0" err="1"/>
              <a:t>שהמשתתף</a:t>
            </a:r>
            <a:r>
              <a:rPr dirty="0"/>
              <a:t> </a:t>
            </a:r>
            <a:r>
              <a:rPr dirty="0" err="1"/>
              <a:t>בפועל</a:t>
            </a:r>
            <a:r>
              <a:rPr dirty="0"/>
              <a:t> </a:t>
            </a:r>
            <a:r>
              <a:rPr dirty="0" err="1"/>
              <a:t>ביצע</a:t>
            </a:r>
            <a:r>
              <a:rPr dirty="0"/>
              <a:t>. </a:t>
            </a:r>
            <a:r>
              <a:rPr dirty="0" err="1"/>
              <a:t>עבדתי</a:t>
            </a:r>
            <a:r>
              <a:rPr dirty="0"/>
              <a:t>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סט</a:t>
            </a:r>
            <a:r>
              <a:rPr dirty="0"/>
              <a:t> </a:t>
            </a:r>
            <a:r>
              <a:rPr dirty="0" err="1"/>
              <a:t>נתונים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492 </a:t>
            </a:r>
            <a:r>
              <a:rPr dirty="0" err="1"/>
              <a:t>משתתפים</a:t>
            </a:r>
            <a:r>
              <a:rPr dirty="0"/>
              <a:t>, כ-49,200 </a:t>
            </a:r>
            <a:r>
              <a:rPr dirty="0" err="1"/>
              <a:t>ניסיונות</a:t>
            </a:r>
            <a:r>
              <a:rPr dirty="0"/>
              <a:t> </a:t>
            </a:r>
            <a:r>
              <a:rPr dirty="0" err="1"/>
              <a:t>בסך</a:t>
            </a:r>
            <a:r>
              <a:rPr dirty="0"/>
              <a:t> </a:t>
            </a:r>
            <a:r>
              <a:rPr dirty="0" err="1"/>
              <a:t>הכול</a:t>
            </a:r>
            <a:r>
              <a:rPr dirty="0"/>
              <a:t>, </a:t>
            </a:r>
            <a:r>
              <a:rPr dirty="0" err="1"/>
              <a:t>ומתוכם</a:t>
            </a:r>
            <a:r>
              <a:rPr dirty="0"/>
              <a:t> 4,454 — כ-9.1% — </a:t>
            </a:r>
            <a:r>
              <a:rPr dirty="0" err="1"/>
              <a:t>מסווגים</a:t>
            </a:r>
            <a:r>
              <a:rPr dirty="0"/>
              <a:t> </a:t>
            </a:r>
            <a:r>
              <a:rPr dirty="0" err="1"/>
              <a:t>כנקודות</a:t>
            </a:r>
            <a:r>
              <a:rPr dirty="0"/>
              <a:t> </a:t>
            </a:r>
            <a:r>
              <a:rPr dirty="0" err="1"/>
              <a:t>הפתעה</a:t>
            </a:r>
            <a:r>
              <a:rPr dirty="0"/>
              <a:t>. </a:t>
            </a:r>
            <a:r>
              <a:rPr dirty="0" err="1"/>
              <a:t>אלה</a:t>
            </a:r>
            <a:r>
              <a:rPr dirty="0"/>
              <a:t> </a:t>
            </a:r>
            <a:r>
              <a:rPr dirty="0" err="1"/>
              <a:t>הניסיונות</a:t>
            </a:r>
            <a:r>
              <a:rPr dirty="0"/>
              <a:t> </a:t>
            </a:r>
            <a:r>
              <a:rPr dirty="0" err="1"/>
              <a:t>שבהם</a:t>
            </a:r>
            <a:r>
              <a:rPr dirty="0"/>
              <a:t> </a:t>
            </a:r>
            <a:r>
              <a:rPr dirty="0" err="1"/>
              <a:t>המודל</a:t>
            </a:r>
            <a:r>
              <a:rPr dirty="0"/>
              <a:t> '</a:t>
            </a:r>
            <a:r>
              <a:rPr dirty="0" err="1"/>
              <a:t>טעה</a:t>
            </a:r>
            <a:r>
              <a:rPr dirty="0"/>
              <a:t>' </a:t>
            </a:r>
            <a:r>
              <a:rPr dirty="0" err="1"/>
              <a:t>בביטחון</a:t>
            </a:r>
            <a:r>
              <a:rPr dirty="0"/>
              <a:t> </a:t>
            </a:r>
            <a:r>
              <a:rPr dirty="0" err="1"/>
              <a:t>רב</a:t>
            </a:r>
            <a:r>
              <a:rPr dirty="0"/>
              <a:t>, </a:t>
            </a:r>
            <a:r>
              <a:rPr dirty="0" err="1"/>
              <a:t>וזה</a:t>
            </a:r>
            <a:r>
              <a:rPr dirty="0"/>
              <a:t> </a:t>
            </a:r>
            <a:r>
              <a:rPr dirty="0" err="1"/>
              <a:t>המוקד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</a:t>
            </a:r>
            <a:r>
              <a:rPr dirty="0" err="1"/>
              <a:t>כל</a:t>
            </a:r>
            <a:r>
              <a:rPr dirty="0"/>
              <a:t> </a:t>
            </a:r>
            <a:r>
              <a:rPr dirty="0" err="1"/>
              <a:t>הניתוח</a:t>
            </a:r>
            <a:r>
              <a:rPr dirty="0"/>
              <a:t> </a:t>
            </a:r>
            <a:r>
              <a:rPr dirty="0" err="1"/>
              <a:t>שמגיע</a:t>
            </a:r>
            <a:r>
              <a:rPr dirty="0"/>
              <a:t> </a:t>
            </a:r>
            <a:r>
              <a:rPr dirty="0" err="1"/>
              <a:t>עכשיו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ההשערה</a:t>
            </a:r>
            <a:r>
              <a:rPr dirty="0"/>
              <a:t> </a:t>
            </a:r>
            <a:r>
              <a:rPr dirty="0" err="1"/>
              <a:t>הראשונה</a:t>
            </a:r>
            <a:r>
              <a:rPr dirty="0"/>
              <a:t> </a:t>
            </a:r>
            <a:r>
              <a:rPr dirty="0" err="1"/>
              <a:t>שבדקתי</a:t>
            </a:r>
            <a:r>
              <a:rPr dirty="0"/>
              <a:t>: </a:t>
            </a:r>
            <a:r>
              <a:rPr dirty="0" err="1"/>
              <a:t>כשהמודל</a:t>
            </a:r>
            <a:r>
              <a:rPr dirty="0"/>
              <a:t> '</a:t>
            </a:r>
            <a:r>
              <a:rPr dirty="0" err="1"/>
              <a:t>מופתע</a:t>
            </a:r>
            <a:r>
              <a:rPr dirty="0"/>
              <a:t>', </a:t>
            </a:r>
            <a:r>
              <a:rPr dirty="0" err="1"/>
              <a:t>אולי</a:t>
            </a:r>
            <a:r>
              <a:rPr dirty="0"/>
              <a:t> </a:t>
            </a:r>
            <a:r>
              <a:rPr dirty="0" err="1"/>
              <a:t>גם</a:t>
            </a:r>
            <a:r>
              <a:rPr dirty="0"/>
              <a:t> </a:t>
            </a:r>
            <a:r>
              <a:rPr dirty="0" err="1"/>
              <a:t>המשתתף</a:t>
            </a:r>
            <a:r>
              <a:rPr dirty="0"/>
              <a:t> </a:t>
            </a:r>
            <a:r>
              <a:rPr dirty="0" err="1"/>
              <a:t>מתעכב</a:t>
            </a:r>
            <a:r>
              <a:rPr dirty="0"/>
              <a:t> </a:t>
            </a:r>
            <a:r>
              <a:rPr dirty="0" err="1"/>
              <a:t>לפני</a:t>
            </a:r>
            <a:r>
              <a:rPr dirty="0"/>
              <a:t> </a:t>
            </a:r>
            <a:r>
              <a:rPr dirty="0" err="1"/>
              <a:t>שהוא</a:t>
            </a:r>
            <a:r>
              <a:rPr dirty="0"/>
              <a:t> </a:t>
            </a:r>
            <a:r>
              <a:rPr dirty="0" err="1"/>
              <a:t>בוחר</a:t>
            </a:r>
            <a:r>
              <a:rPr dirty="0"/>
              <a:t> — </a:t>
            </a:r>
            <a:r>
              <a:rPr dirty="0" err="1"/>
              <a:t>ולכן</a:t>
            </a:r>
            <a:r>
              <a:rPr dirty="0"/>
              <a:t> </a:t>
            </a:r>
            <a:r>
              <a:rPr dirty="0" err="1"/>
              <a:t>זמן</a:t>
            </a:r>
            <a:r>
              <a:rPr dirty="0"/>
              <a:t> </a:t>
            </a:r>
            <a:r>
              <a:rPr dirty="0" err="1"/>
              <a:t>התגובה</a:t>
            </a:r>
            <a:r>
              <a:rPr dirty="0"/>
              <a:t> </a:t>
            </a:r>
            <a:r>
              <a:rPr dirty="0" err="1"/>
              <a:t>צפוי</a:t>
            </a:r>
            <a:r>
              <a:rPr dirty="0"/>
              <a:t> </a:t>
            </a:r>
            <a:r>
              <a:rPr dirty="0" err="1"/>
              <a:t>לעלות</a:t>
            </a:r>
            <a:r>
              <a:rPr dirty="0"/>
              <a:t> </a:t>
            </a:r>
            <a:r>
              <a:rPr dirty="0" err="1"/>
              <a:t>בניסיונות</a:t>
            </a:r>
            <a:r>
              <a:rPr dirty="0"/>
              <a:t> </a:t>
            </a:r>
            <a:r>
              <a:rPr dirty="0" err="1"/>
              <a:t>הפתעה</a:t>
            </a:r>
            <a:r>
              <a:rPr dirty="0"/>
              <a:t>. </a:t>
            </a:r>
            <a:r>
              <a:rPr dirty="0" err="1"/>
              <a:t>בסף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10%, </a:t>
            </a:r>
            <a:r>
              <a:rPr dirty="0" err="1"/>
              <a:t>אכן</a:t>
            </a:r>
            <a:r>
              <a:rPr dirty="0"/>
              <a:t> </a:t>
            </a:r>
            <a:r>
              <a:rPr dirty="0" err="1"/>
              <a:t>ראינו</a:t>
            </a:r>
            <a:r>
              <a:rPr dirty="0"/>
              <a:t> </a:t>
            </a:r>
            <a:r>
              <a:rPr dirty="0" err="1"/>
              <a:t>הבדל</a:t>
            </a:r>
            <a:r>
              <a:rPr dirty="0"/>
              <a:t>: </a:t>
            </a:r>
            <a:r>
              <a:rPr dirty="0" err="1"/>
              <a:t>ניסיונות</a:t>
            </a:r>
            <a:r>
              <a:rPr dirty="0"/>
              <a:t> </a:t>
            </a:r>
            <a:r>
              <a:rPr dirty="0" err="1"/>
              <a:t>הפתעה</a:t>
            </a:r>
            <a:r>
              <a:rPr dirty="0"/>
              <a:t> </a:t>
            </a:r>
            <a:r>
              <a:rPr dirty="0" err="1"/>
              <a:t>היו</a:t>
            </a:r>
            <a:r>
              <a:rPr dirty="0"/>
              <a:t> </a:t>
            </a:r>
            <a:r>
              <a:rPr dirty="0" err="1"/>
              <a:t>הכי</a:t>
            </a:r>
            <a:r>
              <a:rPr dirty="0"/>
              <a:t> </a:t>
            </a:r>
            <a:r>
              <a:rPr dirty="0" err="1"/>
              <a:t>איטיים</a:t>
            </a:r>
            <a:r>
              <a:rPr dirty="0"/>
              <a:t>, </a:t>
            </a:r>
            <a:r>
              <a:rPr dirty="0" err="1"/>
              <a:t>וניסיונות</a:t>
            </a:r>
            <a:r>
              <a:rPr dirty="0"/>
              <a:t> '</a:t>
            </a:r>
            <a:r>
              <a:rPr dirty="0" err="1"/>
              <a:t>אוטופילוט</a:t>
            </a:r>
            <a:r>
              <a:rPr dirty="0"/>
              <a:t>' — </a:t>
            </a:r>
            <a:r>
              <a:rPr dirty="0" err="1"/>
              <a:t>שבהם</a:t>
            </a:r>
            <a:r>
              <a:rPr dirty="0"/>
              <a:t> CATIE </a:t>
            </a:r>
            <a:r>
              <a:rPr dirty="0" err="1"/>
              <a:t>היה</a:t>
            </a:r>
            <a:r>
              <a:rPr dirty="0"/>
              <a:t> </a:t>
            </a:r>
            <a:r>
              <a:rPr dirty="0" err="1"/>
              <a:t>בטוח</a:t>
            </a:r>
            <a:r>
              <a:rPr dirty="0"/>
              <a:t> </a:t>
            </a:r>
            <a:r>
              <a:rPr dirty="0" err="1"/>
              <a:t>מאוד</a:t>
            </a:r>
            <a:r>
              <a:rPr dirty="0"/>
              <a:t> — </a:t>
            </a:r>
            <a:r>
              <a:rPr dirty="0" err="1"/>
              <a:t>היו</a:t>
            </a:r>
            <a:r>
              <a:rPr dirty="0"/>
              <a:t> </a:t>
            </a:r>
            <a:r>
              <a:rPr dirty="0" err="1"/>
              <a:t>הכי</a:t>
            </a:r>
            <a:r>
              <a:rPr dirty="0"/>
              <a:t> </a:t>
            </a:r>
            <a:r>
              <a:rPr dirty="0" err="1"/>
              <a:t>מהירים</a:t>
            </a:r>
            <a:r>
              <a:rPr dirty="0"/>
              <a:t>. </a:t>
            </a:r>
            <a:r>
              <a:rPr dirty="0" err="1"/>
              <a:t>ההבדל</a:t>
            </a:r>
            <a:r>
              <a:rPr dirty="0"/>
              <a:t> </a:t>
            </a:r>
            <a:r>
              <a:rPr dirty="0" err="1"/>
              <a:t>קטן</a:t>
            </a:r>
            <a:r>
              <a:rPr dirty="0"/>
              <a:t> </a:t>
            </a:r>
            <a:r>
              <a:rPr dirty="0" err="1"/>
              <a:t>אך</a:t>
            </a:r>
            <a:r>
              <a:rPr dirty="0"/>
              <a:t> </a:t>
            </a:r>
            <a:r>
              <a:rPr dirty="0" err="1"/>
              <a:t>עקבי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אבל</a:t>
            </a:r>
            <a:r>
              <a:rPr dirty="0"/>
              <a:t> </a:t>
            </a:r>
            <a:r>
              <a:rPr dirty="0" err="1"/>
              <a:t>כשהחמרתי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הסף</a:t>
            </a:r>
            <a:r>
              <a:rPr dirty="0"/>
              <a:t> ל-5%, </a:t>
            </a:r>
            <a:r>
              <a:rPr dirty="0" err="1"/>
              <a:t>קיבלתי</a:t>
            </a:r>
            <a:r>
              <a:rPr dirty="0"/>
              <a:t> </a:t>
            </a:r>
            <a:r>
              <a:rPr dirty="0" err="1"/>
              <a:t>תבנית</a:t>
            </a:r>
            <a:r>
              <a:rPr dirty="0"/>
              <a:t> </a:t>
            </a:r>
            <a:r>
              <a:rPr dirty="0" err="1"/>
              <a:t>דרמטית</a:t>
            </a:r>
            <a:r>
              <a:rPr dirty="0"/>
              <a:t> </a:t>
            </a:r>
            <a:r>
              <a:rPr dirty="0" err="1"/>
              <a:t>בצורת</a:t>
            </a:r>
            <a:r>
              <a:rPr dirty="0"/>
              <a:t> U — </a:t>
            </a:r>
            <a:r>
              <a:rPr dirty="0" err="1"/>
              <a:t>שבמבט</a:t>
            </a:r>
            <a:r>
              <a:rPr dirty="0"/>
              <a:t> </a:t>
            </a:r>
            <a:r>
              <a:rPr dirty="0" err="1"/>
              <a:t>ראשון</a:t>
            </a:r>
            <a:r>
              <a:rPr dirty="0"/>
              <a:t> </a:t>
            </a:r>
            <a:r>
              <a:rPr dirty="0" err="1"/>
              <a:t>נראתה</a:t>
            </a:r>
            <a:r>
              <a:rPr dirty="0"/>
              <a:t> </a:t>
            </a:r>
            <a:r>
              <a:rPr dirty="0" err="1"/>
              <a:t>כתגלית</a:t>
            </a:r>
            <a:r>
              <a:rPr dirty="0"/>
              <a:t> </a:t>
            </a:r>
            <a:r>
              <a:rPr dirty="0" err="1"/>
              <a:t>מרשימה</a:t>
            </a:r>
            <a:r>
              <a:rPr dirty="0"/>
              <a:t>. </a:t>
            </a:r>
            <a:r>
              <a:rPr dirty="0" err="1"/>
              <a:t>בדיקה</a:t>
            </a:r>
            <a:r>
              <a:rPr dirty="0"/>
              <a:t> </a:t>
            </a:r>
            <a:r>
              <a:rPr dirty="0" err="1"/>
              <a:t>סטטיסטית</a:t>
            </a:r>
            <a:r>
              <a:rPr dirty="0"/>
              <a:t> </a:t>
            </a:r>
            <a:r>
              <a:rPr dirty="0" err="1"/>
              <a:t>קפדנית</a:t>
            </a:r>
            <a:r>
              <a:rPr dirty="0"/>
              <a:t> </a:t>
            </a:r>
            <a:r>
              <a:rPr dirty="0" err="1"/>
              <a:t>יותר</a:t>
            </a:r>
            <a:r>
              <a:rPr dirty="0"/>
              <a:t> </a:t>
            </a:r>
            <a:r>
              <a:rPr dirty="0" err="1"/>
              <a:t>חשפה</a:t>
            </a:r>
            <a:r>
              <a:rPr dirty="0"/>
              <a:t> </a:t>
            </a:r>
            <a:r>
              <a:rPr dirty="0" err="1"/>
              <a:t>שזה</a:t>
            </a:r>
            <a:r>
              <a:rPr dirty="0"/>
              <a:t> </a:t>
            </a:r>
            <a:r>
              <a:rPr dirty="0" err="1"/>
              <a:t>ארטיפקט</a:t>
            </a:r>
            <a:r>
              <a:rPr dirty="0"/>
              <a:t>: </a:t>
            </a:r>
            <a:r>
              <a:rPr dirty="0" err="1"/>
              <a:t>בקבוצות</a:t>
            </a:r>
            <a:r>
              <a:rPr dirty="0"/>
              <a:t> </a:t>
            </a:r>
            <a:r>
              <a:rPr dirty="0" err="1"/>
              <a:t>הקטנות</a:t>
            </a:r>
            <a:r>
              <a:rPr dirty="0"/>
              <a:t> </a:t>
            </a:r>
            <a:r>
              <a:rPr dirty="0" err="1"/>
              <a:t>האלה</a:t>
            </a:r>
            <a:r>
              <a:rPr dirty="0"/>
              <a:t> — </a:t>
            </a:r>
            <a:r>
              <a:rPr dirty="0" err="1"/>
              <a:t>רק</a:t>
            </a:r>
            <a:r>
              <a:rPr dirty="0"/>
              <a:t> 195 ו-509 </a:t>
            </a:r>
            <a:r>
              <a:rPr dirty="0" err="1"/>
              <a:t>ניסיונות</a:t>
            </a:r>
            <a:r>
              <a:rPr dirty="0"/>
              <a:t> — </a:t>
            </a:r>
            <a:r>
              <a:rPr dirty="0" err="1"/>
              <a:t>משתתפים</a:t>
            </a:r>
            <a:r>
              <a:rPr dirty="0"/>
              <a:t> </a:t>
            </a:r>
            <a:r>
              <a:rPr dirty="0" err="1"/>
              <a:t>עם</a:t>
            </a:r>
            <a:r>
              <a:rPr dirty="0"/>
              <a:t> </a:t>
            </a:r>
            <a:r>
              <a:rPr dirty="0" err="1"/>
              <a:t>שונות</a:t>
            </a:r>
            <a:r>
              <a:rPr dirty="0"/>
              <a:t> </a:t>
            </a:r>
            <a:r>
              <a:rPr dirty="0" err="1"/>
              <a:t>אישית</a:t>
            </a:r>
            <a:r>
              <a:rPr dirty="0"/>
              <a:t> </a:t>
            </a:r>
            <a:r>
              <a:rPr dirty="0" err="1"/>
              <a:t>נמוכה</a:t>
            </a:r>
            <a:r>
              <a:rPr dirty="0"/>
              <a:t> </a:t>
            </a:r>
            <a:r>
              <a:rPr dirty="0" err="1"/>
              <a:t>בזמן</a:t>
            </a:r>
            <a:r>
              <a:rPr dirty="0"/>
              <a:t> </a:t>
            </a:r>
            <a:r>
              <a:rPr dirty="0" err="1"/>
              <a:t>תגובה</a:t>
            </a:r>
            <a:r>
              <a:rPr dirty="0"/>
              <a:t> </a:t>
            </a:r>
            <a:r>
              <a:rPr dirty="0" err="1"/>
              <a:t>מקבלים</a:t>
            </a:r>
            <a:r>
              <a:rPr dirty="0"/>
              <a:t> z-score </a:t>
            </a:r>
            <a:r>
              <a:rPr dirty="0" err="1"/>
              <a:t>מנופח</a:t>
            </a:r>
            <a:r>
              <a:rPr dirty="0"/>
              <a:t>, </a:t>
            </a:r>
            <a:r>
              <a:rPr dirty="0" err="1"/>
              <a:t>ובנוסף</a:t>
            </a:r>
            <a:r>
              <a:rPr dirty="0"/>
              <a:t> </a:t>
            </a:r>
            <a:r>
              <a:rPr dirty="0" err="1"/>
              <a:t>קיימת</a:t>
            </a:r>
            <a:r>
              <a:rPr dirty="0"/>
              <a:t> </a:t>
            </a:r>
            <a:r>
              <a:rPr dirty="0" err="1"/>
              <a:t>רצפה</a:t>
            </a:r>
            <a:r>
              <a:rPr dirty="0"/>
              <a:t> </a:t>
            </a:r>
            <a:r>
              <a:rPr dirty="0" err="1"/>
              <a:t>טכנית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1.5 </a:t>
            </a:r>
            <a:r>
              <a:rPr dirty="0" err="1"/>
              <a:t>שניות</a:t>
            </a:r>
            <a:r>
              <a:rPr dirty="0"/>
              <a:t> </a:t>
            </a:r>
            <a:r>
              <a:rPr dirty="0" err="1"/>
              <a:t>במדידה</a:t>
            </a:r>
            <a:r>
              <a:rPr dirty="0"/>
              <a:t> </a:t>
            </a:r>
            <a:r>
              <a:rPr dirty="0" err="1"/>
              <a:t>עצמה</a:t>
            </a:r>
            <a:r>
              <a:rPr dirty="0"/>
              <a:t> </a:t>
            </a:r>
            <a:r>
              <a:rPr dirty="0" err="1"/>
              <a:t>שמעוותת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התוצאה</a:t>
            </a:r>
            <a:r>
              <a:rPr dirty="0"/>
              <a:t>. </a:t>
            </a:r>
            <a:r>
              <a:rPr dirty="0" err="1"/>
              <a:t>המסקנה</a:t>
            </a:r>
            <a:r>
              <a:rPr dirty="0"/>
              <a:t>: </a:t>
            </a:r>
            <a:r>
              <a:rPr dirty="0" err="1"/>
              <a:t>זמן</a:t>
            </a:r>
            <a:r>
              <a:rPr dirty="0"/>
              <a:t> </a:t>
            </a:r>
            <a:r>
              <a:rPr dirty="0" err="1"/>
              <a:t>תגובה</a:t>
            </a:r>
            <a:r>
              <a:rPr dirty="0"/>
              <a:t> </a:t>
            </a:r>
            <a:r>
              <a:rPr dirty="0" err="1"/>
              <a:t>לא</a:t>
            </a:r>
            <a:r>
              <a:rPr dirty="0"/>
              <a:t> </a:t>
            </a:r>
            <a:r>
              <a:rPr dirty="0" err="1"/>
              <a:t>מהווה</a:t>
            </a:r>
            <a:r>
              <a:rPr dirty="0"/>
              <a:t> </a:t>
            </a:r>
            <a:r>
              <a:rPr dirty="0" err="1"/>
              <a:t>מדד</a:t>
            </a:r>
            <a:r>
              <a:rPr dirty="0"/>
              <a:t> </a:t>
            </a:r>
            <a:r>
              <a:rPr dirty="0" err="1"/>
              <a:t>תקף</a:t>
            </a:r>
            <a:r>
              <a:rPr dirty="0"/>
              <a:t> </a:t>
            </a:r>
            <a:r>
              <a:rPr dirty="0" err="1"/>
              <a:t>לניתוח</a:t>
            </a:r>
            <a:r>
              <a:rPr dirty="0"/>
              <a:t> </a:t>
            </a:r>
            <a:r>
              <a:rPr dirty="0" err="1"/>
              <a:t>הזה</a:t>
            </a:r>
            <a:r>
              <a:rPr dirty="0"/>
              <a:t>. </a:t>
            </a:r>
            <a:r>
              <a:rPr dirty="0" err="1"/>
              <a:t>פסלנו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הכיוון</a:t>
            </a:r>
            <a:r>
              <a:rPr dirty="0"/>
              <a:t>, </a:t>
            </a:r>
            <a:r>
              <a:rPr dirty="0" err="1"/>
              <a:t>אבל</a:t>
            </a:r>
            <a:r>
              <a:rPr dirty="0"/>
              <a:t>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בסיס</a:t>
            </a:r>
            <a:r>
              <a:rPr dirty="0"/>
              <a:t> </a:t>
            </a:r>
            <a:r>
              <a:rPr dirty="0" err="1"/>
              <a:t>נתונים</a:t>
            </a:r>
            <a:r>
              <a:rPr dirty="0"/>
              <a:t> — </a:t>
            </a:r>
            <a:r>
              <a:rPr dirty="0" err="1"/>
              <a:t>לא</a:t>
            </a:r>
            <a:r>
              <a:rPr dirty="0"/>
              <a:t> </a:t>
            </a:r>
            <a:r>
              <a:rPr dirty="0" err="1"/>
              <a:t>ניחוש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בהמשך</a:t>
            </a:r>
            <a:r>
              <a:rPr dirty="0"/>
              <a:t> </a:t>
            </a:r>
            <a:r>
              <a:rPr dirty="0" err="1"/>
              <a:t>בדקתי</a:t>
            </a:r>
            <a:r>
              <a:rPr dirty="0"/>
              <a:t> </a:t>
            </a:r>
            <a:r>
              <a:rPr dirty="0" err="1"/>
              <a:t>תכונות</a:t>
            </a:r>
            <a:r>
              <a:rPr dirty="0"/>
              <a:t> </a:t>
            </a:r>
            <a:r>
              <a:rPr dirty="0" err="1"/>
              <a:t>התנהגותיות</a:t>
            </a:r>
            <a:r>
              <a:rPr dirty="0"/>
              <a:t> </a:t>
            </a:r>
            <a:r>
              <a:rPr dirty="0" err="1"/>
              <a:t>נוספות</a:t>
            </a:r>
            <a:r>
              <a:rPr dirty="0"/>
              <a:t>, </a:t>
            </a:r>
            <a:r>
              <a:rPr dirty="0" err="1"/>
              <a:t>ומצאתי</a:t>
            </a:r>
            <a:r>
              <a:rPr dirty="0"/>
              <a:t> </a:t>
            </a:r>
            <a:r>
              <a:rPr dirty="0" err="1"/>
              <a:t>קשר</a:t>
            </a:r>
            <a:r>
              <a:rPr dirty="0"/>
              <a:t> </a:t>
            </a:r>
            <a:r>
              <a:rPr dirty="0" err="1"/>
              <a:t>חזק</a:t>
            </a:r>
            <a:r>
              <a:rPr dirty="0"/>
              <a:t> </a:t>
            </a:r>
            <a:r>
              <a:rPr dirty="0" err="1"/>
              <a:t>במיוחד</a:t>
            </a:r>
            <a:r>
              <a:rPr dirty="0"/>
              <a:t>: </a:t>
            </a:r>
            <a:r>
              <a:rPr dirty="0" err="1"/>
              <a:t>מעבר</a:t>
            </a:r>
            <a:r>
              <a:rPr dirty="0"/>
              <a:t> </a:t>
            </a:r>
            <a:r>
              <a:rPr dirty="0" err="1"/>
              <a:t>צד</a:t>
            </a:r>
            <a:r>
              <a:rPr dirty="0"/>
              <a:t> </a:t>
            </a:r>
            <a:r>
              <a:rPr dirty="0" err="1"/>
              <a:t>פיזי</a:t>
            </a:r>
            <a:r>
              <a:rPr dirty="0"/>
              <a:t>, </a:t>
            </a:r>
            <a:r>
              <a:rPr dirty="0" err="1"/>
              <a:t>רגע</a:t>
            </a:r>
            <a:r>
              <a:rPr dirty="0"/>
              <a:t> </a:t>
            </a:r>
            <a:r>
              <a:rPr dirty="0" err="1"/>
              <a:t>לפני</a:t>
            </a:r>
            <a:r>
              <a:rPr dirty="0"/>
              <a:t> </a:t>
            </a:r>
            <a:r>
              <a:rPr dirty="0" err="1"/>
              <a:t>הבחירה</a:t>
            </a:r>
            <a:r>
              <a:rPr dirty="0"/>
              <a:t> </a:t>
            </a:r>
            <a:r>
              <a:rPr dirty="0" err="1"/>
              <a:t>הנוכחית</a:t>
            </a:r>
            <a:r>
              <a:rPr dirty="0"/>
              <a:t>, </a:t>
            </a:r>
            <a:r>
              <a:rPr dirty="0" err="1"/>
              <a:t>מקושר</a:t>
            </a:r>
            <a:r>
              <a:rPr dirty="0"/>
              <a:t> </a:t>
            </a:r>
            <a:r>
              <a:rPr dirty="0" err="1"/>
              <a:t>לנקודות</a:t>
            </a:r>
            <a:r>
              <a:rPr dirty="0"/>
              <a:t> </a:t>
            </a:r>
            <a:r>
              <a:rPr dirty="0" err="1"/>
              <a:t>הפתעה</a:t>
            </a:r>
            <a:r>
              <a:rPr dirty="0"/>
              <a:t> </a:t>
            </a:r>
            <a:r>
              <a:rPr dirty="0" err="1"/>
              <a:t>בעוצמת</a:t>
            </a:r>
            <a:r>
              <a:rPr dirty="0"/>
              <a:t> </a:t>
            </a:r>
            <a:r>
              <a:rPr dirty="0" err="1"/>
              <a:t>אפקט</a:t>
            </a:r>
            <a:r>
              <a:rPr dirty="0"/>
              <a:t> </a:t>
            </a:r>
            <a:r>
              <a:rPr dirty="0" err="1"/>
              <a:t>גבוהה</a:t>
            </a:r>
            <a:r>
              <a:rPr dirty="0"/>
              <a:t> </a:t>
            </a:r>
            <a:r>
              <a:rPr dirty="0" err="1"/>
              <a:t>ביותר</a:t>
            </a:r>
            <a:r>
              <a:rPr dirty="0"/>
              <a:t> — Cohen's d </a:t>
            </a:r>
            <a:r>
              <a:rPr dirty="0" err="1"/>
              <a:t>של</a:t>
            </a:r>
            <a:r>
              <a:rPr dirty="0"/>
              <a:t> 2.15. </a:t>
            </a:r>
            <a:r>
              <a:rPr dirty="0" err="1"/>
              <a:t>נשמע</a:t>
            </a:r>
            <a:r>
              <a:rPr dirty="0"/>
              <a:t> </a:t>
            </a:r>
            <a:r>
              <a:rPr dirty="0" err="1"/>
              <a:t>כמו</a:t>
            </a:r>
            <a:r>
              <a:rPr dirty="0"/>
              <a:t> </a:t>
            </a:r>
            <a:r>
              <a:rPr dirty="0" err="1"/>
              <a:t>תגלית</a:t>
            </a:r>
            <a:r>
              <a:rPr dirty="0"/>
              <a:t>. </a:t>
            </a:r>
            <a:r>
              <a:rPr dirty="0" err="1"/>
              <a:t>אבל</a:t>
            </a:r>
            <a:r>
              <a:rPr dirty="0"/>
              <a:t> </a:t>
            </a:r>
            <a:r>
              <a:rPr dirty="0" err="1"/>
              <a:t>בעקבות</a:t>
            </a:r>
            <a:r>
              <a:rPr dirty="0"/>
              <a:t> </a:t>
            </a:r>
            <a:r>
              <a:rPr dirty="0" err="1"/>
              <a:t>דיון</a:t>
            </a:r>
            <a:r>
              <a:rPr dirty="0"/>
              <a:t> </a:t>
            </a:r>
            <a:r>
              <a:rPr dirty="0" err="1"/>
              <a:t>עם</a:t>
            </a:r>
            <a:r>
              <a:rPr dirty="0"/>
              <a:t> </a:t>
            </a:r>
            <a:r>
              <a:rPr dirty="0" err="1"/>
              <a:t>המנחה</a:t>
            </a:r>
            <a:r>
              <a:rPr dirty="0"/>
              <a:t> </a:t>
            </a:r>
            <a:r>
              <a:rPr dirty="0" err="1"/>
              <a:t>שלי</a:t>
            </a:r>
            <a:r>
              <a:rPr dirty="0"/>
              <a:t> </a:t>
            </a:r>
            <a:r>
              <a:rPr dirty="0" err="1"/>
              <a:t>הבנו</a:t>
            </a:r>
            <a:r>
              <a:rPr dirty="0"/>
              <a:t> </a:t>
            </a:r>
            <a:r>
              <a:rPr dirty="0" err="1"/>
              <a:t>שזו</a:t>
            </a:r>
            <a:r>
              <a:rPr dirty="0"/>
              <a:t> </a:t>
            </a:r>
            <a:r>
              <a:rPr dirty="0" err="1"/>
              <a:t>לא</a:t>
            </a:r>
            <a:r>
              <a:rPr dirty="0"/>
              <a:t> </a:t>
            </a:r>
            <a:r>
              <a:rPr dirty="0" err="1"/>
              <a:t>תגלית</a:t>
            </a:r>
            <a:r>
              <a:rPr dirty="0"/>
              <a:t> </a:t>
            </a:r>
            <a:r>
              <a:rPr dirty="0" err="1"/>
              <a:t>אמפירית</a:t>
            </a:r>
            <a:r>
              <a:rPr dirty="0"/>
              <a:t> — </a:t>
            </a:r>
            <a:r>
              <a:rPr dirty="0" err="1"/>
              <a:t>זו</a:t>
            </a:r>
            <a:r>
              <a:rPr dirty="0"/>
              <a:t> </a:t>
            </a:r>
            <a:r>
              <a:rPr dirty="0" err="1"/>
              <a:t>תוצאה</a:t>
            </a:r>
            <a:r>
              <a:rPr dirty="0"/>
              <a:t> </a:t>
            </a:r>
            <a:r>
              <a:rPr dirty="0" err="1"/>
              <a:t>מובנית</a:t>
            </a:r>
            <a:r>
              <a:rPr dirty="0"/>
              <a:t>, </a:t>
            </a:r>
            <a:r>
              <a:rPr dirty="0" err="1"/>
              <a:t>וזה</a:t>
            </a:r>
            <a:r>
              <a:rPr dirty="0"/>
              <a:t> </a:t>
            </a:r>
            <a:r>
              <a:rPr dirty="0" err="1"/>
              <a:t>חוזר</a:t>
            </a:r>
            <a:r>
              <a:rPr dirty="0"/>
              <a:t> </a:t>
            </a:r>
            <a:r>
              <a:rPr dirty="0" err="1"/>
              <a:t>למנגנון</a:t>
            </a:r>
            <a:r>
              <a:rPr dirty="0"/>
              <a:t> </a:t>
            </a:r>
            <a:r>
              <a:rPr dirty="0" err="1"/>
              <a:t>האינרציה</a:t>
            </a:r>
            <a:r>
              <a:rPr dirty="0"/>
              <a:t> </a:t>
            </a:r>
            <a:r>
              <a:rPr dirty="0" err="1"/>
              <a:t>שהזכרתי</a:t>
            </a:r>
            <a:r>
              <a:rPr dirty="0"/>
              <a:t> </a:t>
            </a:r>
            <a:r>
              <a:rPr dirty="0" err="1"/>
              <a:t>קודם</a:t>
            </a:r>
            <a:r>
              <a:rPr dirty="0"/>
              <a:t>: CATIE </a:t>
            </a:r>
            <a:r>
              <a:rPr dirty="0" err="1"/>
              <a:t>מוגדר</a:t>
            </a:r>
            <a:r>
              <a:rPr dirty="0"/>
              <a:t> </a:t>
            </a:r>
            <a:r>
              <a:rPr dirty="0" err="1"/>
              <a:t>כך</a:t>
            </a:r>
            <a:r>
              <a:rPr dirty="0"/>
              <a:t> </a:t>
            </a:r>
            <a:r>
              <a:rPr dirty="0" err="1"/>
              <a:t>שמעבר</a:t>
            </a:r>
            <a:r>
              <a:rPr dirty="0"/>
              <a:t> </a:t>
            </a:r>
            <a:r>
              <a:rPr dirty="0" err="1"/>
              <a:t>צד</a:t>
            </a:r>
            <a:r>
              <a:rPr dirty="0"/>
              <a:t> </a:t>
            </a:r>
            <a:r>
              <a:rPr dirty="0" err="1"/>
              <a:t>מקבל</a:t>
            </a:r>
            <a:r>
              <a:rPr dirty="0"/>
              <a:t> </a:t>
            </a:r>
            <a:r>
              <a:rPr dirty="0" err="1"/>
              <a:t>הסתברות</a:t>
            </a:r>
            <a:r>
              <a:rPr dirty="0"/>
              <a:t> </a:t>
            </a:r>
            <a:r>
              <a:rPr dirty="0" err="1"/>
              <a:t>נמוכה</a:t>
            </a:r>
            <a:r>
              <a:rPr dirty="0"/>
              <a:t> </a:t>
            </a:r>
            <a:r>
              <a:rPr dirty="0" err="1"/>
              <a:t>מעצם</a:t>
            </a:r>
            <a:r>
              <a:rPr dirty="0"/>
              <a:t> </a:t>
            </a:r>
            <a:r>
              <a:rPr dirty="0" err="1"/>
              <a:t>ההגדרה</a:t>
            </a:r>
            <a:r>
              <a:rPr dirty="0"/>
              <a:t>. </a:t>
            </a:r>
            <a:r>
              <a:rPr dirty="0" err="1"/>
              <a:t>כל</a:t>
            </a:r>
            <a:r>
              <a:rPr dirty="0"/>
              <a:t> </a:t>
            </a:r>
            <a:r>
              <a:rPr dirty="0" err="1"/>
              <a:t>תכונה</a:t>
            </a:r>
            <a:r>
              <a:rPr dirty="0"/>
              <a:t> </a:t>
            </a:r>
            <a:r>
              <a:rPr dirty="0" err="1"/>
              <a:t>שמבוססת</a:t>
            </a:r>
            <a:r>
              <a:rPr dirty="0"/>
              <a:t>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הבחירה</a:t>
            </a:r>
            <a:r>
              <a:rPr dirty="0"/>
              <a:t> </a:t>
            </a:r>
            <a:r>
              <a:rPr dirty="0" err="1"/>
              <a:t>הנוכחית</a:t>
            </a:r>
            <a:r>
              <a:rPr dirty="0"/>
              <a:t> </a:t>
            </a:r>
            <a:r>
              <a:rPr dirty="0" err="1"/>
              <a:t>תיתן</a:t>
            </a:r>
            <a:r>
              <a:rPr dirty="0"/>
              <a:t> </a:t>
            </a:r>
            <a:r>
              <a:rPr dirty="0" err="1"/>
              <a:t>תוצאה</a:t>
            </a:r>
            <a:r>
              <a:rPr dirty="0"/>
              <a:t> </a:t>
            </a:r>
            <a:r>
              <a:rPr dirty="0" err="1"/>
              <a:t>מעגלית</a:t>
            </a:r>
            <a:r>
              <a:rPr dirty="0"/>
              <a:t> </a:t>
            </a:r>
            <a:r>
              <a:rPr dirty="0" err="1"/>
              <a:t>כזו</a:t>
            </a:r>
            <a:r>
              <a:rPr dirty="0"/>
              <a:t>. </a:t>
            </a:r>
            <a:r>
              <a:rPr dirty="0" err="1"/>
              <a:t>זו</a:t>
            </a:r>
            <a:r>
              <a:rPr dirty="0"/>
              <a:t> </a:t>
            </a:r>
            <a:r>
              <a:rPr dirty="0" err="1"/>
              <a:t>לא</a:t>
            </a:r>
            <a:r>
              <a:rPr dirty="0"/>
              <a:t> </a:t>
            </a:r>
            <a:r>
              <a:rPr dirty="0" err="1"/>
              <a:t>הייתה</a:t>
            </a:r>
            <a:r>
              <a:rPr dirty="0"/>
              <a:t> </a:t>
            </a:r>
            <a:r>
              <a:rPr dirty="0" err="1"/>
              <a:t>טעות</a:t>
            </a:r>
            <a:r>
              <a:rPr dirty="0"/>
              <a:t> — </a:t>
            </a:r>
            <a:r>
              <a:rPr dirty="0" err="1"/>
              <a:t>זו</a:t>
            </a:r>
            <a:r>
              <a:rPr dirty="0"/>
              <a:t> </a:t>
            </a:r>
            <a:r>
              <a:rPr dirty="0" err="1"/>
              <a:t>תובנה</a:t>
            </a:r>
            <a:r>
              <a:rPr dirty="0"/>
              <a:t> </a:t>
            </a:r>
            <a:r>
              <a:rPr dirty="0" err="1"/>
              <a:t>שהובילה</a:t>
            </a:r>
            <a:r>
              <a:rPr dirty="0"/>
              <a:t> </a:t>
            </a:r>
            <a:r>
              <a:rPr dirty="0" err="1"/>
              <a:t>לקריטריון</a:t>
            </a:r>
            <a:r>
              <a:rPr dirty="0"/>
              <a:t> </a:t>
            </a:r>
            <a:r>
              <a:rPr dirty="0" err="1"/>
              <a:t>הכלה</a:t>
            </a:r>
            <a:r>
              <a:rPr dirty="0"/>
              <a:t> </a:t>
            </a:r>
            <a:r>
              <a:rPr dirty="0" err="1"/>
              <a:t>ברור</a:t>
            </a:r>
            <a:r>
              <a:rPr dirty="0"/>
              <a:t> </a:t>
            </a:r>
            <a:r>
              <a:rPr dirty="0" err="1"/>
              <a:t>שהנחה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כל</a:t>
            </a:r>
            <a:r>
              <a:rPr dirty="0"/>
              <a:t> </a:t>
            </a:r>
            <a:r>
              <a:rPr dirty="0" err="1"/>
              <a:t>מה</a:t>
            </a:r>
            <a:r>
              <a:rPr dirty="0"/>
              <a:t> </a:t>
            </a:r>
            <a:r>
              <a:rPr dirty="0" err="1"/>
              <a:t>שבא</a:t>
            </a:r>
            <a:r>
              <a:rPr dirty="0"/>
              <a:t> </a:t>
            </a:r>
            <a:r>
              <a:rPr dirty="0" err="1"/>
              <a:t>אחרי</a:t>
            </a:r>
            <a:r>
              <a:rPr dirty="0"/>
              <a:t>: </a:t>
            </a:r>
            <a:r>
              <a:rPr dirty="0" err="1"/>
              <a:t>לנתח</a:t>
            </a:r>
            <a:r>
              <a:rPr dirty="0"/>
              <a:t> </a:t>
            </a:r>
            <a:r>
              <a:rPr dirty="0" err="1"/>
              <a:t>רק</a:t>
            </a:r>
            <a:r>
              <a:rPr dirty="0"/>
              <a:t> </a:t>
            </a:r>
            <a:r>
              <a:rPr dirty="0" err="1"/>
              <a:t>תכונות</a:t>
            </a:r>
            <a:r>
              <a:rPr dirty="0"/>
              <a:t> </a:t>
            </a:r>
            <a:r>
              <a:rPr dirty="0" err="1"/>
              <a:t>שאינן</a:t>
            </a:r>
            <a:r>
              <a:rPr dirty="0"/>
              <a:t> </a:t>
            </a:r>
            <a:r>
              <a:rPr dirty="0" err="1"/>
              <a:t>תלויות</a:t>
            </a:r>
            <a:r>
              <a:rPr dirty="0"/>
              <a:t> </a:t>
            </a:r>
            <a:r>
              <a:rPr dirty="0" err="1"/>
              <a:t>בבחירה</a:t>
            </a:r>
            <a:r>
              <a:rPr dirty="0"/>
              <a:t> </a:t>
            </a:r>
            <a:r>
              <a:rPr dirty="0" err="1"/>
              <a:t>הנוכחית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בעקבות</a:t>
            </a:r>
            <a:r>
              <a:rPr dirty="0"/>
              <a:t> </a:t>
            </a:r>
            <a:r>
              <a:rPr dirty="0" err="1"/>
              <a:t>שתי</a:t>
            </a:r>
            <a:r>
              <a:rPr dirty="0"/>
              <a:t> </a:t>
            </a:r>
            <a:r>
              <a:rPr dirty="0" err="1"/>
              <a:t>ההשערות</a:t>
            </a:r>
            <a:r>
              <a:rPr dirty="0"/>
              <a:t> </a:t>
            </a:r>
            <a:r>
              <a:rPr dirty="0" err="1"/>
              <a:t>שנפסלו</a:t>
            </a:r>
            <a:r>
              <a:rPr dirty="0"/>
              <a:t>, </a:t>
            </a:r>
            <a:r>
              <a:rPr dirty="0" err="1"/>
              <a:t>שינינו</a:t>
            </a:r>
            <a:r>
              <a:rPr dirty="0"/>
              <a:t> </a:t>
            </a:r>
            <a:r>
              <a:rPr dirty="0" err="1"/>
              <a:t>גישה</a:t>
            </a:r>
            <a:r>
              <a:rPr dirty="0"/>
              <a:t>: </a:t>
            </a:r>
            <a:r>
              <a:rPr dirty="0" err="1"/>
              <a:t>במקום</a:t>
            </a:r>
            <a:r>
              <a:rPr dirty="0"/>
              <a:t> </a:t>
            </a:r>
            <a:r>
              <a:rPr dirty="0" err="1"/>
              <a:t>לחפש</a:t>
            </a:r>
            <a:r>
              <a:rPr dirty="0"/>
              <a:t> </a:t>
            </a:r>
            <a:r>
              <a:rPr dirty="0" err="1"/>
              <a:t>עוד</a:t>
            </a:r>
            <a:r>
              <a:rPr dirty="0"/>
              <a:t> </a:t>
            </a:r>
            <a:r>
              <a:rPr dirty="0" err="1"/>
              <a:t>תכונות</a:t>
            </a:r>
            <a:r>
              <a:rPr dirty="0"/>
              <a:t>, </a:t>
            </a:r>
            <a:r>
              <a:rPr dirty="0" err="1"/>
              <a:t>בחנו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ה-p </a:t>
            </a:r>
            <a:r>
              <a:rPr dirty="0" err="1"/>
              <a:t>של</a:t>
            </a:r>
            <a:r>
              <a:rPr dirty="0"/>
              <a:t> CATIE </a:t>
            </a:r>
            <a:r>
              <a:rPr dirty="0" err="1"/>
              <a:t>כאובייקט</a:t>
            </a:r>
            <a:r>
              <a:rPr dirty="0"/>
              <a:t> </a:t>
            </a:r>
            <a:r>
              <a:rPr dirty="0" err="1"/>
              <a:t>מתמטי</a:t>
            </a:r>
            <a:r>
              <a:rPr dirty="0"/>
              <a:t> </a:t>
            </a:r>
            <a:r>
              <a:rPr dirty="0" err="1"/>
              <a:t>בפני</a:t>
            </a:r>
            <a:r>
              <a:rPr dirty="0"/>
              <a:t> </a:t>
            </a:r>
            <a:r>
              <a:rPr dirty="0" err="1"/>
              <a:t>עצמו</a:t>
            </a:r>
            <a:r>
              <a:rPr dirty="0"/>
              <a:t> — </a:t>
            </a:r>
            <a:r>
              <a:rPr dirty="0" err="1"/>
              <a:t>בלי</a:t>
            </a:r>
            <a:r>
              <a:rPr dirty="0"/>
              <a:t> </a:t>
            </a:r>
            <a:r>
              <a:rPr dirty="0" err="1"/>
              <a:t>שום</a:t>
            </a:r>
            <a:r>
              <a:rPr dirty="0"/>
              <a:t> </a:t>
            </a:r>
            <a:r>
              <a:rPr dirty="0" err="1"/>
              <a:t>תלות</a:t>
            </a:r>
            <a:r>
              <a:rPr dirty="0"/>
              <a:t> </a:t>
            </a:r>
            <a:r>
              <a:rPr dirty="0" err="1"/>
              <a:t>בבחירה</a:t>
            </a:r>
            <a:r>
              <a:rPr dirty="0"/>
              <a:t> </a:t>
            </a:r>
            <a:r>
              <a:rPr dirty="0" err="1"/>
              <a:t>הנוכחית</a:t>
            </a:r>
            <a:r>
              <a:rPr dirty="0"/>
              <a:t>. </a:t>
            </a:r>
            <a:r>
              <a:rPr dirty="0" err="1"/>
              <a:t>בנינו</a:t>
            </a:r>
            <a:r>
              <a:rPr dirty="0"/>
              <a:t> </a:t>
            </a:r>
            <a:r>
              <a:rPr dirty="0" err="1"/>
              <a:t>עקומת</a:t>
            </a:r>
            <a:r>
              <a:rPr dirty="0"/>
              <a:t> </a:t>
            </a:r>
            <a:r>
              <a:rPr dirty="0" err="1"/>
              <a:t>כיול</a:t>
            </a:r>
            <a:r>
              <a:rPr dirty="0"/>
              <a:t> </a:t>
            </a:r>
            <a:r>
              <a:rPr dirty="0" err="1"/>
              <a:t>קלאסית</a:t>
            </a:r>
            <a:r>
              <a:rPr dirty="0"/>
              <a:t>: </a:t>
            </a:r>
            <a:r>
              <a:rPr dirty="0" err="1"/>
              <a:t>מחלקים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התחזיות</a:t>
            </a:r>
            <a:r>
              <a:rPr dirty="0"/>
              <a:t> </a:t>
            </a:r>
            <a:r>
              <a:rPr dirty="0" err="1"/>
              <a:t>ל'דליים</a:t>
            </a:r>
            <a:r>
              <a:rPr dirty="0"/>
              <a:t>' </a:t>
            </a:r>
            <a:r>
              <a:rPr dirty="0" err="1"/>
              <a:t>ובודקים</a:t>
            </a:r>
            <a:r>
              <a:rPr dirty="0"/>
              <a:t> </a:t>
            </a:r>
            <a:r>
              <a:rPr dirty="0" err="1"/>
              <a:t>אם</a:t>
            </a:r>
            <a:r>
              <a:rPr dirty="0"/>
              <a:t> </a:t>
            </a:r>
            <a:r>
              <a:rPr dirty="0" err="1"/>
              <a:t>ההסתברות</a:t>
            </a:r>
            <a:r>
              <a:rPr dirty="0"/>
              <a:t> </a:t>
            </a:r>
            <a:r>
              <a:rPr dirty="0" err="1"/>
              <a:t>האמפירית</a:t>
            </a:r>
            <a:r>
              <a:rPr dirty="0"/>
              <a:t> </a:t>
            </a:r>
            <a:r>
              <a:rPr dirty="0" err="1"/>
              <a:t>בכל</a:t>
            </a:r>
            <a:r>
              <a:rPr dirty="0"/>
              <a:t> </a:t>
            </a:r>
            <a:r>
              <a:rPr dirty="0" err="1"/>
              <a:t>דלי</a:t>
            </a:r>
            <a:r>
              <a:rPr dirty="0"/>
              <a:t> </a:t>
            </a:r>
            <a:r>
              <a:rPr dirty="0" err="1"/>
              <a:t>תואמת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מה</a:t>
            </a:r>
            <a:r>
              <a:rPr dirty="0"/>
              <a:t> </a:t>
            </a:r>
            <a:r>
              <a:rPr dirty="0" err="1"/>
              <a:t>שהמודל</a:t>
            </a:r>
            <a:r>
              <a:rPr dirty="0"/>
              <a:t> </a:t>
            </a:r>
            <a:r>
              <a:rPr dirty="0" err="1"/>
              <a:t>הצהיר</a:t>
            </a:r>
            <a:r>
              <a:rPr dirty="0"/>
              <a:t>. </a:t>
            </a:r>
            <a:r>
              <a:rPr dirty="0" err="1"/>
              <a:t>התוצאה</a:t>
            </a:r>
            <a:r>
              <a:rPr dirty="0"/>
              <a:t> </a:t>
            </a:r>
            <a:r>
              <a:rPr dirty="0" err="1"/>
              <a:t>לא</a:t>
            </a:r>
            <a:r>
              <a:rPr dirty="0"/>
              <a:t> </a:t>
            </a:r>
            <a:r>
              <a:rPr dirty="0" err="1"/>
              <a:t>הייתה</a:t>
            </a:r>
            <a:r>
              <a:rPr dirty="0"/>
              <a:t> </a:t>
            </a:r>
            <a:r>
              <a:rPr dirty="0" err="1"/>
              <a:t>כיול</a:t>
            </a:r>
            <a:r>
              <a:rPr dirty="0"/>
              <a:t> </a:t>
            </a:r>
            <a:r>
              <a:rPr dirty="0" err="1"/>
              <a:t>אחיד</a:t>
            </a:r>
            <a:r>
              <a:rPr dirty="0"/>
              <a:t> — </a:t>
            </a:r>
            <a:r>
              <a:rPr dirty="0" err="1"/>
              <a:t>העקומה</a:t>
            </a:r>
            <a:r>
              <a:rPr dirty="0"/>
              <a:t> </a:t>
            </a:r>
            <a:r>
              <a:rPr dirty="0" err="1"/>
              <a:t>לא</a:t>
            </a:r>
            <a:r>
              <a:rPr dirty="0"/>
              <a:t> </a:t>
            </a:r>
            <a:r>
              <a:rPr dirty="0" err="1"/>
              <a:t>מונוטונית</a:t>
            </a:r>
            <a:r>
              <a:rPr dirty="0"/>
              <a:t>: </a:t>
            </a:r>
            <a:r>
              <a:rPr dirty="0" err="1"/>
              <a:t>יש</a:t>
            </a:r>
            <a:r>
              <a:rPr dirty="0"/>
              <a:t> </a:t>
            </a:r>
            <a:r>
              <a:rPr dirty="0" err="1"/>
              <a:t>טווחי</a:t>
            </a:r>
            <a:r>
              <a:rPr dirty="0"/>
              <a:t> </a:t>
            </a:r>
            <a:r>
              <a:rPr dirty="0" err="1"/>
              <a:t>ביטחון</a:t>
            </a:r>
            <a:r>
              <a:rPr dirty="0"/>
              <a:t> </a:t>
            </a:r>
            <a:r>
              <a:rPr dirty="0" err="1"/>
              <a:t>שבהם</a:t>
            </a:r>
            <a:r>
              <a:rPr dirty="0"/>
              <a:t> CATIE </a:t>
            </a:r>
            <a:r>
              <a:rPr dirty="0" err="1"/>
              <a:t>מתחת</a:t>
            </a:r>
            <a:r>
              <a:rPr dirty="0"/>
              <a:t> </a:t>
            </a:r>
            <a:r>
              <a:rPr dirty="0" err="1"/>
              <a:t>לביטחון</a:t>
            </a:r>
            <a:r>
              <a:rPr dirty="0"/>
              <a:t> </a:t>
            </a:r>
            <a:r>
              <a:rPr dirty="0" err="1"/>
              <a:t>הראוי</a:t>
            </a:r>
            <a:r>
              <a:rPr dirty="0"/>
              <a:t>, </a:t>
            </a:r>
            <a:r>
              <a:rPr dirty="0" err="1"/>
              <a:t>ואחרים</a:t>
            </a:r>
            <a:r>
              <a:rPr dirty="0"/>
              <a:t> </a:t>
            </a:r>
            <a:r>
              <a:rPr dirty="0" err="1"/>
              <a:t>שבהם</a:t>
            </a:r>
            <a:r>
              <a:rPr dirty="0"/>
              <a:t> </a:t>
            </a:r>
            <a:r>
              <a:rPr dirty="0" err="1"/>
              <a:t>הוא</a:t>
            </a:r>
            <a:r>
              <a:rPr dirty="0"/>
              <a:t> </a:t>
            </a:r>
            <a:r>
              <a:rPr dirty="0" err="1"/>
              <a:t>מעליו</a:t>
            </a:r>
            <a:r>
              <a:rPr dirty="0"/>
              <a:t>. </a:t>
            </a:r>
            <a:r>
              <a:rPr dirty="0" err="1"/>
              <a:t>זו</a:t>
            </a:r>
            <a:r>
              <a:rPr dirty="0"/>
              <a:t> </a:t>
            </a:r>
            <a:r>
              <a:rPr dirty="0" err="1"/>
              <a:t>תבנית</a:t>
            </a:r>
            <a:r>
              <a:rPr dirty="0"/>
              <a:t> </a:t>
            </a:r>
            <a:r>
              <a:rPr dirty="0" err="1"/>
              <a:t>מובנית</a:t>
            </a:r>
            <a:r>
              <a:rPr dirty="0"/>
              <a:t>, </a:t>
            </a:r>
            <a:r>
              <a:rPr dirty="0" err="1"/>
              <a:t>לא</a:t>
            </a:r>
            <a:r>
              <a:rPr dirty="0"/>
              <a:t> </a:t>
            </a:r>
            <a:r>
              <a:rPr dirty="0" err="1"/>
              <a:t>רעש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במקביל</a:t>
            </a:r>
            <a:r>
              <a:rPr dirty="0"/>
              <a:t>, </a:t>
            </a:r>
            <a:r>
              <a:rPr dirty="0" err="1"/>
              <a:t>בדקתי</a:t>
            </a:r>
            <a:r>
              <a:rPr dirty="0"/>
              <a:t> </a:t>
            </a:r>
            <a:r>
              <a:rPr dirty="0" err="1"/>
              <a:t>אם</a:t>
            </a:r>
            <a:r>
              <a:rPr dirty="0"/>
              <a:t> </a:t>
            </a:r>
            <a:r>
              <a:rPr dirty="0" err="1"/>
              <a:t>הביטחון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</a:t>
            </a:r>
            <a:r>
              <a:rPr dirty="0" err="1"/>
              <a:t>המודל</a:t>
            </a:r>
            <a:r>
              <a:rPr dirty="0"/>
              <a:t> </a:t>
            </a:r>
            <a:r>
              <a:rPr dirty="0" err="1"/>
              <a:t>משתנה</a:t>
            </a:r>
            <a:r>
              <a:rPr dirty="0"/>
              <a:t> </a:t>
            </a:r>
            <a:r>
              <a:rPr dirty="0" err="1"/>
              <a:t>כתלות</a:t>
            </a:r>
            <a:r>
              <a:rPr dirty="0"/>
              <a:t> </a:t>
            </a:r>
            <a:r>
              <a:rPr dirty="0" err="1"/>
              <a:t>במספר</a:t>
            </a:r>
            <a:r>
              <a:rPr dirty="0"/>
              <a:t> </a:t>
            </a:r>
            <a:r>
              <a:rPr dirty="0" err="1"/>
              <a:t>הניסיון</a:t>
            </a:r>
            <a:r>
              <a:rPr dirty="0"/>
              <a:t>, </a:t>
            </a:r>
            <a:r>
              <a:rPr dirty="0" err="1"/>
              <a:t>בנפרד</a:t>
            </a:r>
            <a:r>
              <a:rPr dirty="0"/>
              <a:t> </a:t>
            </a:r>
            <a:r>
              <a:rPr dirty="0" err="1"/>
              <a:t>לכל</a:t>
            </a:r>
            <a:r>
              <a:rPr dirty="0"/>
              <a:t> </a:t>
            </a:r>
            <a:r>
              <a:rPr dirty="0" err="1"/>
              <a:t>לוח</a:t>
            </a:r>
            <a:r>
              <a:rPr dirty="0"/>
              <a:t> </a:t>
            </a:r>
            <a:r>
              <a:rPr dirty="0" err="1"/>
              <a:t>תגמולים</a:t>
            </a:r>
            <a:r>
              <a:rPr dirty="0"/>
              <a:t> — </a:t>
            </a:r>
            <a:r>
              <a:rPr dirty="0" err="1"/>
              <a:t>כדי</a:t>
            </a:r>
            <a:r>
              <a:rPr dirty="0"/>
              <a:t> </a:t>
            </a:r>
            <a:r>
              <a:rPr dirty="0" err="1"/>
              <a:t>לבדוק</a:t>
            </a:r>
            <a:r>
              <a:rPr dirty="0"/>
              <a:t> </a:t>
            </a:r>
            <a:r>
              <a:rPr dirty="0" err="1"/>
              <a:t>אם</a:t>
            </a:r>
            <a:r>
              <a:rPr dirty="0"/>
              <a:t> </a:t>
            </a:r>
            <a:r>
              <a:rPr dirty="0" err="1"/>
              <a:t>יש</a:t>
            </a:r>
            <a:r>
              <a:rPr dirty="0"/>
              <a:t> </a:t>
            </a:r>
            <a:r>
              <a:rPr dirty="0" err="1"/>
              <a:t>סחיפה</a:t>
            </a:r>
            <a:r>
              <a:rPr dirty="0"/>
              <a:t> </a:t>
            </a:r>
            <a:r>
              <a:rPr dirty="0" err="1"/>
              <a:t>שיטתית</a:t>
            </a:r>
            <a:r>
              <a:rPr dirty="0"/>
              <a:t> </a:t>
            </a:r>
            <a:r>
              <a:rPr dirty="0" err="1"/>
              <a:t>בביטחון</a:t>
            </a:r>
            <a:r>
              <a:rPr dirty="0"/>
              <a:t> </a:t>
            </a:r>
            <a:r>
              <a:rPr dirty="0" err="1"/>
              <a:t>המודל</a:t>
            </a:r>
            <a:r>
              <a:rPr dirty="0"/>
              <a:t> </a:t>
            </a:r>
            <a:r>
              <a:rPr dirty="0" err="1"/>
              <a:t>במהלך</a:t>
            </a:r>
            <a:r>
              <a:rPr dirty="0"/>
              <a:t> </a:t>
            </a:r>
            <a:r>
              <a:rPr dirty="0" err="1"/>
              <a:t>הסשן</a:t>
            </a:r>
            <a:r>
              <a:rPr dirty="0"/>
              <a:t>, </a:t>
            </a:r>
            <a:r>
              <a:rPr dirty="0" err="1"/>
              <a:t>או</a:t>
            </a:r>
            <a:r>
              <a:rPr dirty="0"/>
              <a:t> </a:t>
            </a:r>
            <a:r>
              <a:rPr dirty="0" err="1"/>
              <a:t>שהוא</a:t>
            </a:r>
            <a:r>
              <a:rPr dirty="0"/>
              <a:t> </a:t>
            </a:r>
            <a:r>
              <a:rPr dirty="0" err="1"/>
              <a:t>נשאר</a:t>
            </a:r>
            <a:r>
              <a:rPr dirty="0"/>
              <a:t> </a:t>
            </a:r>
            <a:r>
              <a:rPr dirty="0" err="1"/>
              <a:t>יציב</a:t>
            </a:r>
            <a:r>
              <a:rPr dirty="0"/>
              <a:t> </a:t>
            </a:r>
            <a:r>
              <a:rPr dirty="0" err="1"/>
              <a:t>לאורך</a:t>
            </a:r>
            <a:r>
              <a:rPr dirty="0"/>
              <a:t> </a:t>
            </a:r>
            <a:r>
              <a:rPr dirty="0" err="1"/>
              <a:t>כל</a:t>
            </a:r>
            <a:r>
              <a:rPr dirty="0"/>
              <a:t> 100 </a:t>
            </a:r>
            <a:r>
              <a:rPr dirty="0" err="1"/>
              <a:t>הניסיונות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כשמתמקדים</a:t>
            </a:r>
            <a:r>
              <a:rPr dirty="0"/>
              <a:t> </a:t>
            </a:r>
            <a:r>
              <a:rPr dirty="0" err="1"/>
              <a:t>רק</a:t>
            </a:r>
            <a:r>
              <a:rPr dirty="0"/>
              <a:t> </a:t>
            </a:r>
            <a:r>
              <a:rPr dirty="0" err="1"/>
              <a:t>בתחזיות</a:t>
            </a:r>
            <a:r>
              <a:rPr dirty="0"/>
              <a:t> </a:t>
            </a:r>
            <a:r>
              <a:rPr dirty="0" err="1"/>
              <a:t>הבטוחות</a:t>
            </a:r>
            <a:r>
              <a:rPr dirty="0"/>
              <a:t> </a:t>
            </a:r>
            <a:r>
              <a:rPr dirty="0" err="1"/>
              <a:t>ביותר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CATIE — </a:t>
            </a:r>
            <a:r>
              <a:rPr dirty="0" err="1"/>
              <a:t>מעל</a:t>
            </a:r>
            <a:r>
              <a:rPr dirty="0"/>
              <a:t> 0.85 — </a:t>
            </a:r>
            <a:r>
              <a:rPr dirty="0" err="1"/>
              <a:t>רואים</a:t>
            </a:r>
            <a:r>
              <a:rPr dirty="0"/>
              <a:t> </a:t>
            </a:r>
            <a:r>
              <a:rPr dirty="0" err="1"/>
              <a:t>מגמה</a:t>
            </a:r>
            <a:r>
              <a:rPr dirty="0"/>
              <a:t> </a:t>
            </a:r>
            <a:r>
              <a:rPr dirty="0" err="1"/>
              <a:t>ברורה</a:t>
            </a:r>
            <a:r>
              <a:rPr dirty="0"/>
              <a:t>: </a:t>
            </a:r>
            <a:r>
              <a:rPr dirty="0" err="1"/>
              <a:t>ההסתברות</a:t>
            </a:r>
            <a:r>
              <a:rPr dirty="0"/>
              <a:t> </a:t>
            </a:r>
            <a:r>
              <a:rPr dirty="0" err="1"/>
              <a:t>האמפירית</a:t>
            </a:r>
            <a:r>
              <a:rPr dirty="0"/>
              <a:t> </a:t>
            </a:r>
            <a:r>
              <a:rPr dirty="0" err="1"/>
              <a:t>בפועל</a:t>
            </a:r>
            <a:r>
              <a:rPr dirty="0"/>
              <a:t> </a:t>
            </a:r>
            <a:r>
              <a:rPr dirty="0" err="1"/>
              <a:t>נמוכה</a:t>
            </a:r>
            <a:r>
              <a:rPr dirty="0"/>
              <a:t> </a:t>
            </a:r>
            <a:r>
              <a:rPr dirty="0" err="1"/>
              <a:t>משמעותית</a:t>
            </a:r>
            <a:r>
              <a:rPr dirty="0"/>
              <a:t> </a:t>
            </a:r>
            <a:r>
              <a:rPr dirty="0" err="1"/>
              <a:t>מההסתברות</a:t>
            </a:r>
            <a:r>
              <a:rPr dirty="0"/>
              <a:t> </a:t>
            </a:r>
            <a:r>
              <a:rPr dirty="0" err="1"/>
              <a:t>שהמודל</a:t>
            </a:r>
            <a:r>
              <a:rPr dirty="0"/>
              <a:t> </a:t>
            </a:r>
            <a:r>
              <a:rPr dirty="0" err="1"/>
              <a:t>מצהיר</a:t>
            </a:r>
            <a:r>
              <a:rPr dirty="0"/>
              <a:t> </a:t>
            </a:r>
            <a:r>
              <a:rPr dirty="0" err="1"/>
              <a:t>עליה</a:t>
            </a:r>
            <a:r>
              <a:rPr dirty="0"/>
              <a:t>. </a:t>
            </a:r>
            <a:r>
              <a:rPr dirty="0" err="1"/>
              <a:t>במילים</a:t>
            </a:r>
            <a:r>
              <a:rPr dirty="0"/>
              <a:t> </a:t>
            </a:r>
            <a:r>
              <a:rPr dirty="0" err="1"/>
              <a:t>אחרות</a:t>
            </a:r>
            <a:r>
              <a:rPr dirty="0"/>
              <a:t>, </a:t>
            </a:r>
            <a:r>
              <a:rPr dirty="0" err="1"/>
              <a:t>המודל</a:t>
            </a:r>
            <a:r>
              <a:rPr dirty="0"/>
              <a:t> '</a:t>
            </a:r>
            <a:r>
              <a:rPr dirty="0" err="1"/>
              <a:t>בטוח</a:t>
            </a:r>
            <a:r>
              <a:rPr dirty="0"/>
              <a:t> </a:t>
            </a:r>
            <a:r>
              <a:rPr dirty="0" err="1"/>
              <a:t>יותר</a:t>
            </a:r>
            <a:r>
              <a:rPr dirty="0"/>
              <a:t> </a:t>
            </a:r>
            <a:r>
              <a:rPr dirty="0" err="1"/>
              <a:t>ממה</a:t>
            </a:r>
            <a:r>
              <a:rPr dirty="0"/>
              <a:t> </a:t>
            </a:r>
            <a:r>
              <a:rPr dirty="0" err="1"/>
              <a:t>שהוא</a:t>
            </a:r>
            <a:r>
              <a:rPr dirty="0"/>
              <a:t> </a:t>
            </a:r>
            <a:r>
              <a:rPr dirty="0" err="1"/>
              <a:t>צריך</a:t>
            </a:r>
            <a:r>
              <a:rPr dirty="0"/>
              <a:t> </a:t>
            </a:r>
            <a:r>
              <a:rPr dirty="0" err="1"/>
              <a:t>להיות</a:t>
            </a:r>
            <a:r>
              <a:rPr dirty="0"/>
              <a:t>' </a:t>
            </a:r>
            <a:r>
              <a:rPr dirty="0" err="1"/>
              <a:t>בדיוק</a:t>
            </a:r>
            <a:r>
              <a:rPr dirty="0"/>
              <a:t> </a:t>
            </a:r>
            <a:r>
              <a:rPr dirty="0" err="1"/>
              <a:t>כשהביטחון</a:t>
            </a:r>
            <a:r>
              <a:rPr dirty="0"/>
              <a:t> </a:t>
            </a:r>
            <a:r>
              <a:rPr dirty="0" err="1"/>
              <a:t>שלו</a:t>
            </a:r>
            <a:r>
              <a:rPr dirty="0"/>
              <a:t> </a:t>
            </a:r>
            <a:r>
              <a:rPr dirty="0" err="1"/>
              <a:t>הכי</a:t>
            </a:r>
            <a:r>
              <a:rPr dirty="0"/>
              <a:t> </a:t>
            </a:r>
            <a:r>
              <a:rPr dirty="0" err="1"/>
              <a:t>גבוה</a:t>
            </a:r>
            <a:r>
              <a:rPr dirty="0"/>
              <a:t>. </a:t>
            </a:r>
            <a:r>
              <a:rPr dirty="0" err="1"/>
              <a:t>זו</a:t>
            </a:r>
            <a:r>
              <a:rPr dirty="0"/>
              <a:t> </a:t>
            </a:r>
            <a:r>
              <a:rPr dirty="0" err="1"/>
              <a:t>תוצאה</a:t>
            </a:r>
            <a:r>
              <a:rPr dirty="0"/>
              <a:t> </a:t>
            </a:r>
            <a:r>
              <a:rPr dirty="0" err="1"/>
              <a:t>מעודדת</a:t>
            </a:r>
            <a:r>
              <a:rPr dirty="0"/>
              <a:t>, </a:t>
            </a:r>
            <a:r>
              <a:rPr dirty="0" err="1"/>
              <a:t>כי</a:t>
            </a:r>
            <a:r>
              <a:rPr dirty="0"/>
              <a:t> </a:t>
            </a:r>
            <a:r>
              <a:rPr dirty="0" err="1"/>
              <a:t>היא</a:t>
            </a:r>
            <a:r>
              <a:rPr dirty="0"/>
              <a:t> </a:t>
            </a:r>
            <a:r>
              <a:rPr dirty="0" err="1"/>
              <a:t>מצביעה</a:t>
            </a:r>
            <a:r>
              <a:rPr dirty="0"/>
              <a:t>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פתרון</a:t>
            </a:r>
            <a:r>
              <a:rPr dirty="0"/>
              <a:t> </a:t>
            </a:r>
            <a:r>
              <a:rPr dirty="0" err="1"/>
              <a:t>פשוט</a:t>
            </a:r>
            <a:r>
              <a:rPr dirty="0"/>
              <a:t> </a:t>
            </a:r>
            <a:r>
              <a:rPr dirty="0" err="1"/>
              <a:t>יחסית</a:t>
            </a:r>
            <a:r>
              <a:rPr dirty="0"/>
              <a:t>: </a:t>
            </a:r>
            <a:r>
              <a:rPr dirty="0" err="1"/>
              <a:t>לא</a:t>
            </a:r>
            <a:r>
              <a:rPr dirty="0"/>
              <a:t> </a:t>
            </a:r>
            <a:r>
              <a:rPr dirty="0" err="1"/>
              <a:t>בהכרח</a:t>
            </a:r>
            <a:r>
              <a:rPr dirty="0"/>
              <a:t> </a:t>
            </a:r>
            <a:r>
              <a:rPr dirty="0" err="1"/>
              <a:t>צריך</a:t>
            </a:r>
            <a:r>
              <a:rPr dirty="0"/>
              <a:t> </a:t>
            </a:r>
            <a:r>
              <a:rPr dirty="0" err="1"/>
              <a:t>מודל</a:t>
            </a:r>
            <a:r>
              <a:rPr dirty="0"/>
              <a:t> </a:t>
            </a:r>
            <a:r>
              <a:rPr dirty="0" err="1"/>
              <a:t>חדש</a:t>
            </a:r>
            <a:r>
              <a:rPr dirty="0"/>
              <a:t> — </a:t>
            </a:r>
            <a:r>
              <a:rPr dirty="0" err="1"/>
              <a:t>אולי</a:t>
            </a:r>
            <a:r>
              <a:rPr dirty="0"/>
              <a:t> </a:t>
            </a:r>
            <a:r>
              <a:rPr dirty="0" err="1"/>
              <a:t>מספיק</a:t>
            </a:r>
            <a:r>
              <a:rPr dirty="0"/>
              <a:t> </a:t>
            </a:r>
            <a:r>
              <a:rPr dirty="0" err="1"/>
              <a:t>להחיל</a:t>
            </a:r>
            <a:r>
              <a:rPr dirty="0"/>
              <a:t> </a:t>
            </a:r>
            <a:r>
              <a:rPr dirty="0" err="1"/>
              <a:t>טרנספורמציה</a:t>
            </a:r>
            <a:r>
              <a:rPr dirty="0"/>
              <a:t> </a:t>
            </a:r>
            <a:r>
              <a:rPr dirty="0" err="1"/>
              <a:t>מתמטית</a:t>
            </a:r>
            <a:r>
              <a:rPr dirty="0"/>
              <a:t> </a:t>
            </a:r>
            <a:r>
              <a:rPr dirty="0" err="1"/>
              <a:t>שתכווץ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הטווח</a:t>
            </a:r>
            <a:r>
              <a:rPr dirty="0"/>
              <a:t> </a:t>
            </a:r>
            <a:r>
              <a:rPr dirty="0" err="1"/>
              <a:t>הקיצוני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p, </a:t>
            </a:r>
            <a:r>
              <a:rPr dirty="0" err="1"/>
              <a:t>כך</a:t>
            </a:r>
            <a:r>
              <a:rPr dirty="0"/>
              <a:t> </a:t>
            </a:r>
            <a:r>
              <a:rPr dirty="0" err="1"/>
              <a:t>שיתאם</a:t>
            </a:r>
            <a:r>
              <a:rPr dirty="0"/>
              <a:t> </a:t>
            </a:r>
            <a:r>
              <a:rPr dirty="0" err="1"/>
              <a:t>להתנהגות</a:t>
            </a:r>
            <a:r>
              <a:rPr dirty="0"/>
              <a:t> </a:t>
            </a:r>
            <a:r>
              <a:rPr dirty="0" err="1"/>
              <a:t>האמיתית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לפני</a:t>
            </a:r>
            <a:r>
              <a:rPr dirty="0"/>
              <a:t> </a:t>
            </a:r>
            <a:r>
              <a:rPr dirty="0" err="1"/>
              <a:t>שאני</a:t>
            </a:r>
            <a:r>
              <a:rPr dirty="0"/>
              <a:t> </a:t>
            </a:r>
            <a:r>
              <a:rPr dirty="0" err="1"/>
              <a:t>עוברת</a:t>
            </a:r>
            <a:r>
              <a:rPr dirty="0"/>
              <a:t> </a:t>
            </a:r>
            <a:r>
              <a:rPr dirty="0" err="1"/>
              <a:t>לכיוונים</a:t>
            </a:r>
            <a:r>
              <a:rPr dirty="0"/>
              <a:t> </a:t>
            </a:r>
            <a:r>
              <a:rPr dirty="0" err="1"/>
              <a:t>הבאים</a:t>
            </a:r>
            <a:r>
              <a:rPr dirty="0"/>
              <a:t>, </a:t>
            </a:r>
            <a:r>
              <a:rPr dirty="0" err="1"/>
              <a:t>הנה</a:t>
            </a:r>
            <a:r>
              <a:rPr dirty="0"/>
              <a:t> </a:t>
            </a:r>
            <a:r>
              <a:rPr dirty="0" err="1"/>
              <a:t>שלושה</a:t>
            </a:r>
            <a:r>
              <a:rPr dirty="0"/>
              <a:t> </a:t>
            </a:r>
            <a:r>
              <a:rPr dirty="0" err="1"/>
              <a:t>דברים</a:t>
            </a:r>
            <a:r>
              <a:rPr dirty="0"/>
              <a:t> </a:t>
            </a:r>
            <a:r>
              <a:rPr dirty="0" err="1"/>
              <a:t>שאנחנו</a:t>
            </a:r>
            <a:r>
              <a:rPr dirty="0"/>
              <a:t> </a:t>
            </a:r>
            <a:r>
              <a:rPr dirty="0" err="1"/>
              <a:t>יודעים</a:t>
            </a:r>
            <a:r>
              <a:rPr dirty="0"/>
              <a:t> </a:t>
            </a:r>
            <a:r>
              <a:rPr dirty="0" err="1"/>
              <a:t>היום</a:t>
            </a:r>
            <a:r>
              <a:rPr dirty="0"/>
              <a:t> </a:t>
            </a:r>
            <a:r>
              <a:rPr dirty="0" err="1"/>
              <a:t>שלא</a:t>
            </a:r>
            <a:r>
              <a:rPr dirty="0"/>
              <a:t> </a:t>
            </a:r>
            <a:r>
              <a:rPr dirty="0" err="1"/>
              <a:t>ידענו</a:t>
            </a:r>
            <a:r>
              <a:rPr dirty="0"/>
              <a:t> </a:t>
            </a:r>
            <a:r>
              <a:rPr dirty="0" err="1"/>
              <a:t>בתחילת</a:t>
            </a:r>
            <a:r>
              <a:rPr dirty="0"/>
              <a:t> </a:t>
            </a:r>
            <a:r>
              <a:rPr dirty="0" err="1"/>
              <a:t>המחקר</a:t>
            </a:r>
            <a:r>
              <a:rPr dirty="0"/>
              <a:t>. </a:t>
            </a:r>
            <a:r>
              <a:rPr dirty="0" err="1"/>
              <a:t>ראשית</a:t>
            </a:r>
            <a:r>
              <a:rPr dirty="0"/>
              <a:t>, </a:t>
            </a:r>
            <a:r>
              <a:rPr dirty="0" err="1"/>
              <a:t>זמן</a:t>
            </a:r>
            <a:r>
              <a:rPr dirty="0"/>
              <a:t> </a:t>
            </a:r>
            <a:r>
              <a:rPr dirty="0" err="1"/>
              <a:t>תגובה</a:t>
            </a:r>
            <a:r>
              <a:rPr dirty="0"/>
              <a:t> </a:t>
            </a:r>
            <a:r>
              <a:rPr dirty="0" err="1"/>
              <a:t>הראה</a:t>
            </a:r>
            <a:r>
              <a:rPr dirty="0"/>
              <a:t> </a:t>
            </a:r>
            <a:r>
              <a:rPr dirty="0" err="1"/>
              <a:t>תבנית</a:t>
            </a:r>
            <a:r>
              <a:rPr dirty="0"/>
              <a:t> </a:t>
            </a:r>
            <a:r>
              <a:rPr dirty="0" err="1"/>
              <a:t>דרמטית</a:t>
            </a:r>
            <a:r>
              <a:rPr dirty="0"/>
              <a:t> </a:t>
            </a:r>
            <a:r>
              <a:rPr dirty="0" err="1"/>
              <a:t>שהתגלתה</a:t>
            </a:r>
            <a:r>
              <a:rPr dirty="0"/>
              <a:t> </a:t>
            </a:r>
            <a:r>
              <a:rPr dirty="0" err="1"/>
              <a:t>כארטיפקט</a:t>
            </a:r>
            <a:r>
              <a:rPr dirty="0"/>
              <a:t> </a:t>
            </a:r>
            <a:r>
              <a:rPr dirty="0" err="1"/>
              <a:t>מדידה</a:t>
            </a:r>
            <a:r>
              <a:rPr dirty="0"/>
              <a:t> — </a:t>
            </a:r>
            <a:r>
              <a:rPr dirty="0" err="1"/>
              <a:t>ופסלנו</a:t>
            </a:r>
            <a:r>
              <a:rPr dirty="0"/>
              <a:t> </a:t>
            </a:r>
            <a:r>
              <a:rPr dirty="0" err="1"/>
              <a:t>אותה</a:t>
            </a:r>
            <a:r>
              <a:rPr dirty="0"/>
              <a:t>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בסיס</a:t>
            </a:r>
            <a:r>
              <a:rPr dirty="0"/>
              <a:t> </a:t>
            </a:r>
            <a:r>
              <a:rPr dirty="0" err="1"/>
              <a:t>נתונים</a:t>
            </a:r>
            <a:r>
              <a:rPr dirty="0"/>
              <a:t>. </a:t>
            </a:r>
            <a:r>
              <a:rPr dirty="0" err="1"/>
              <a:t>שנית</a:t>
            </a:r>
            <a:r>
              <a:rPr dirty="0"/>
              <a:t>, </a:t>
            </a:r>
            <a:r>
              <a:rPr dirty="0" err="1"/>
              <a:t>הקשר</a:t>
            </a:r>
            <a:r>
              <a:rPr dirty="0"/>
              <a:t> </a:t>
            </a:r>
            <a:r>
              <a:rPr dirty="0" err="1"/>
              <a:t>ההתנהגותי</a:t>
            </a:r>
            <a:r>
              <a:rPr dirty="0"/>
              <a:t> </a:t>
            </a:r>
            <a:r>
              <a:rPr dirty="0" err="1"/>
              <a:t>החזק</a:t>
            </a:r>
            <a:r>
              <a:rPr dirty="0"/>
              <a:t> </a:t>
            </a:r>
            <a:r>
              <a:rPr dirty="0" err="1"/>
              <a:t>ביותר</a:t>
            </a:r>
            <a:r>
              <a:rPr dirty="0"/>
              <a:t> </a:t>
            </a:r>
            <a:r>
              <a:rPr dirty="0" err="1"/>
              <a:t>שמצאנו</a:t>
            </a:r>
            <a:r>
              <a:rPr dirty="0"/>
              <a:t> </a:t>
            </a:r>
            <a:r>
              <a:rPr dirty="0" err="1"/>
              <a:t>התגלה</a:t>
            </a:r>
            <a:r>
              <a:rPr dirty="0"/>
              <a:t> </a:t>
            </a:r>
            <a:r>
              <a:rPr dirty="0" err="1"/>
              <a:t>כתוצאה</a:t>
            </a:r>
            <a:r>
              <a:rPr dirty="0"/>
              <a:t> </a:t>
            </a:r>
            <a:r>
              <a:rPr dirty="0" err="1"/>
              <a:t>מעגלית</a:t>
            </a:r>
            <a:r>
              <a:rPr dirty="0"/>
              <a:t> </a:t>
            </a:r>
            <a:r>
              <a:rPr dirty="0" err="1"/>
              <a:t>מובנית</a:t>
            </a:r>
            <a:r>
              <a:rPr dirty="0"/>
              <a:t> </a:t>
            </a:r>
            <a:r>
              <a:rPr dirty="0" err="1"/>
              <a:t>במודל</a:t>
            </a:r>
            <a:r>
              <a:rPr dirty="0"/>
              <a:t> — </a:t>
            </a:r>
            <a:r>
              <a:rPr dirty="0" err="1"/>
              <a:t>ותפסנו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זה</a:t>
            </a:r>
            <a:r>
              <a:rPr dirty="0"/>
              <a:t> </a:t>
            </a:r>
            <a:r>
              <a:rPr dirty="0" err="1"/>
              <a:t>לפני</a:t>
            </a:r>
            <a:r>
              <a:rPr dirty="0"/>
              <a:t> </a:t>
            </a:r>
            <a:r>
              <a:rPr dirty="0" err="1"/>
              <a:t>שהפך</a:t>
            </a:r>
            <a:r>
              <a:rPr dirty="0"/>
              <a:t> </a:t>
            </a:r>
            <a:r>
              <a:rPr dirty="0" err="1"/>
              <a:t>לממצא</a:t>
            </a:r>
            <a:r>
              <a:rPr dirty="0"/>
              <a:t> </a:t>
            </a:r>
            <a:r>
              <a:rPr dirty="0" err="1"/>
              <a:t>שגוי</a:t>
            </a:r>
            <a:r>
              <a:rPr dirty="0"/>
              <a:t>. </a:t>
            </a:r>
            <a:r>
              <a:rPr dirty="0" err="1"/>
              <a:t>ושלישית</a:t>
            </a:r>
            <a:r>
              <a:rPr dirty="0"/>
              <a:t>, ה-p </a:t>
            </a:r>
            <a:r>
              <a:rPr dirty="0" err="1"/>
              <a:t>של</a:t>
            </a:r>
            <a:r>
              <a:rPr dirty="0"/>
              <a:t> CATIE </a:t>
            </a:r>
            <a:r>
              <a:rPr dirty="0" err="1"/>
              <a:t>אינו</a:t>
            </a:r>
            <a:r>
              <a:rPr dirty="0"/>
              <a:t> </a:t>
            </a:r>
            <a:r>
              <a:rPr dirty="0" err="1"/>
              <a:t>מכויל</a:t>
            </a:r>
            <a:r>
              <a:rPr dirty="0"/>
              <a:t> </a:t>
            </a:r>
            <a:r>
              <a:rPr dirty="0" err="1"/>
              <a:t>באופן</a:t>
            </a:r>
            <a:r>
              <a:rPr dirty="0"/>
              <a:t> </a:t>
            </a:r>
            <a:r>
              <a:rPr dirty="0" err="1"/>
              <a:t>אחיד</a:t>
            </a:r>
            <a:r>
              <a:rPr dirty="0"/>
              <a:t>: </a:t>
            </a:r>
            <a:r>
              <a:rPr dirty="0" err="1"/>
              <a:t>יש</a:t>
            </a:r>
            <a:r>
              <a:rPr dirty="0"/>
              <a:t> </a:t>
            </a:r>
            <a:r>
              <a:rPr dirty="0" err="1"/>
              <a:t>לו</a:t>
            </a:r>
            <a:r>
              <a:rPr dirty="0"/>
              <a:t> </a:t>
            </a:r>
            <a:r>
              <a:rPr dirty="0" err="1"/>
              <a:t>אזורי</a:t>
            </a:r>
            <a:r>
              <a:rPr dirty="0"/>
              <a:t> </a:t>
            </a:r>
            <a:r>
              <a:rPr dirty="0" err="1"/>
              <a:t>ביטחון-יתר</a:t>
            </a:r>
            <a:r>
              <a:rPr dirty="0"/>
              <a:t> </a:t>
            </a:r>
            <a:r>
              <a:rPr dirty="0" err="1"/>
              <a:t>ספציפיים</a:t>
            </a:r>
            <a:r>
              <a:rPr dirty="0"/>
              <a:t>, </a:t>
            </a:r>
            <a:r>
              <a:rPr dirty="0" err="1"/>
              <a:t>ויש</a:t>
            </a:r>
            <a:r>
              <a:rPr dirty="0"/>
              <a:t> </a:t>
            </a:r>
            <a:r>
              <a:rPr dirty="0" err="1"/>
              <a:t>כיוון</a:t>
            </a:r>
            <a:r>
              <a:rPr dirty="0"/>
              <a:t> </a:t>
            </a:r>
            <a:r>
              <a:rPr dirty="0" err="1"/>
              <a:t>פתרון</a:t>
            </a:r>
            <a:r>
              <a:rPr dirty="0"/>
              <a:t> </a:t>
            </a:r>
            <a:r>
              <a:rPr dirty="0" err="1"/>
              <a:t>מתמטי</a:t>
            </a:r>
            <a:r>
              <a:rPr dirty="0"/>
              <a:t> </a:t>
            </a:r>
            <a:r>
              <a:rPr dirty="0" err="1"/>
              <a:t>פשוט</a:t>
            </a:r>
            <a:r>
              <a:rPr dirty="0"/>
              <a:t> </a:t>
            </a:r>
            <a:r>
              <a:rPr dirty="0" err="1"/>
              <a:t>יחסית</a:t>
            </a:r>
            <a:r>
              <a:rPr dirty="0"/>
              <a:t>. </a:t>
            </a:r>
            <a:r>
              <a:rPr dirty="0" err="1"/>
              <a:t>זו</a:t>
            </a:r>
            <a:r>
              <a:rPr dirty="0"/>
              <a:t> </a:t>
            </a:r>
            <a:r>
              <a:rPr dirty="0" err="1"/>
              <a:t>לא</a:t>
            </a:r>
            <a:r>
              <a:rPr dirty="0"/>
              <a:t> </a:t>
            </a:r>
            <a:r>
              <a:rPr dirty="0" err="1"/>
              <a:t>רק</a:t>
            </a:r>
            <a:r>
              <a:rPr dirty="0"/>
              <a:t> </a:t>
            </a:r>
            <a:r>
              <a:rPr dirty="0" err="1"/>
              <a:t>רשימה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</a:t>
            </a:r>
            <a:r>
              <a:rPr dirty="0" err="1"/>
              <a:t>מה</a:t>
            </a:r>
            <a:r>
              <a:rPr dirty="0"/>
              <a:t> </a:t>
            </a:r>
            <a:r>
              <a:rPr dirty="0" err="1"/>
              <a:t>שלא</a:t>
            </a:r>
            <a:r>
              <a:rPr dirty="0"/>
              <a:t> </a:t>
            </a:r>
            <a:r>
              <a:rPr dirty="0" err="1"/>
              <a:t>עבד</a:t>
            </a:r>
            <a:r>
              <a:rPr dirty="0"/>
              <a:t> — </a:t>
            </a:r>
            <a:r>
              <a:rPr dirty="0" err="1"/>
              <a:t>זו</a:t>
            </a:r>
            <a:r>
              <a:rPr dirty="0"/>
              <a:t> </a:t>
            </a:r>
            <a:r>
              <a:rPr dirty="0" err="1"/>
              <a:t>תמונה</a:t>
            </a:r>
            <a:r>
              <a:rPr dirty="0"/>
              <a:t> </a:t>
            </a:r>
            <a:r>
              <a:rPr dirty="0" err="1"/>
              <a:t>הרבה</a:t>
            </a:r>
            <a:r>
              <a:rPr dirty="0"/>
              <a:t> </a:t>
            </a:r>
            <a:r>
              <a:rPr dirty="0" err="1"/>
              <a:t>יותר</a:t>
            </a:r>
            <a:r>
              <a:rPr dirty="0"/>
              <a:t> </a:t>
            </a:r>
            <a:r>
              <a:rPr dirty="0" err="1"/>
              <a:t>ברורה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</a:t>
            </a:r>
            <a:r>
              <a:rPr dirty="0" err="1"/>
              <a:t>איך</a:t>
            </a:r>
            <a:r>
              <a:rPr dirty="0"/>
              <a:t> </a:t>
            </a:r>
            <a:r>
              <a:rPr dirty="0" err="1"/>
              <a:t>המודל</a:t>
            </a:r>
            <a:r>
              <a:rPr dirty="0"/>
              <a:t> </a:t>
            </a:r>
            <a:r>
              <a:rPr dirty="0" err="1"/>
              <a:t>הזה</a:t>
            </a:r>
            <a:r>
              <a:rPr dirty="0"/>
              <a:t> </a:t>
            </a:r>
            <a:r>
              <a:rPr dirty="0" err="1"/>
              <a:t>מתפקד</a:t>
            </a:r>
            <a:r>
              <a:rPr dirty="0"/>
              <a:t> </a:t>
            </a:r>
            <a:r>
              <a:rPr dirty="0" err="1"/>
              <a:t>באמת</a:t>
            </a:r>
            <a:r>
              <a:rPr dirty="0"/>
              <a:t>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קדימה</a:t>
            </a:r>
            <a:r>
              <a:rPr dirty="0"/>
              <a:t>, </a:t>
            </a:r>
            <a:r>
              <a:rPr dirty="0" err="1"/>
              <a:t>שלושה</a:t>
            </a:r>
            <a:r>
              <a:rPr dirty="0"/>
              <a:t> </a:t>
            </a:r>
            <a:r>
              <a:rPr dirty="0" err="1"/>
              <a:t>כיוונים</a:t>
            </a:r>
            <a:r>
              <a:rPr dirty="0"/>
              <a:t> </a:t>
            </a:r>
            <a:r>
              <a:rPr dirty="0" err="1"/>
              <a:t>להמשך</a:t>
            </a:r>
            <a:r>
              <a:rPr dirty="0"/>
              <a:t>: </a:t>
            </a:r>
            <a:r>
              <a:rPr dirty="0" err="1"/>
              <a:t>ראשית</a:t>
            </a:r>
            <a:r>
              <a:rPr dirty="0"/>
              <a:t>, </a:t>
            </a:r>
            <a:r>
              <a:rPr dirty="0" err="1"/>
              <a:t>גרדיאנט</a:t>
            </a:r>
            <a:r>
              <a:rPr dirty="0"/>
              <a:t> </a:t>
            </a:r>
            <a:r>
              <a:rPr dirty="0" err="1"/>
              <a:t>דיסנט</a:t>
            </a:r>
            <a:r>
              <a:rPr dirty="0"/>
              <a:t>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הפרמטרים</a:t>
            </a:r>
            <a:r>
              <a:rPr dirty="0"/>
              <a:t> </a:t>
            </a:r>
            <a:r>
              <a:rPr dirty="0" err="1"/>
              <a:t>המקוריים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CATIE, </a:t>
            </a:r>
            <a:r>
              <a:rPr dirty="0" err="1"/>
              <a:t>לכיוונון</a:t>
            </a:r>
            <a:r>
              <a:rPr dirty="0"/>
              <a:t> </a:t>
            </a:r>
            <a:r>
              <a:rPr dirty="0" err="1"/>
              <a:t>מחדש</a:t>
            </a:r>
            <a:r>
              <a:rPr dirty="0"/>
              <a:t> </a:t>
            </a:r>
            <a:r>
              <a:rPr dirty="0" err="1"/>
              <a:t>שמותאם</a:t>
            </a:r>
            <a:r>
              <a:rPr dirty="0"/>
              <a:t> </a:t>
            </a:r>
            <a:r>
              <a:rPr dirty="0" err="1"/>
              <a:t>ספציפית</a:t>
            </a:r>
            <a:r>
              <a:rPr dirty="0"/>
              <a:t> </a:t>
            </a:r>
            <a:r>
              <a:rPr dirty="0" err="1"/>
              <a:t>לדאטה</a:t>
            </a:r>
            <a:r>
              <a:rPr dirty="0"/>
              <a:t> </a:t>
            </a:r>
            <a:r>
              <a:rPr dirty="0" err="1"/>
              <a:t>שלנו</a:t>
            </a:r>
            <a:r>
              <a:rPr dirty="0"/>
              <a:t>. </a:t>
            </a:r>
            <a:r>
              <a:rPr dirty="0" err="1"/>
              <a:t>שנית</a:t>
            </a:r>
            <a:r>
              <a:rPr dirty="0"/>
              <a:t>, </a:t>
            </a:r>
            <a:r>
              <a:rPr dirty="0" err="1"/>
              <a:t>אימון</a:t>
            </a:r>
            <a:r>
              <a:rPr dirty="0"/>
              <a:t> </a:t>
            </a:r>
            <a:r>
              <a:rPr dirty="0" err="1"/>
              <a:t>רשת</a:t>
            </a:r>
            <a:r>
              <a:rPr dirty="0"/>
              <a:t> </a:t>
            </a:r>
            <a:r>
              <a:rPr dirty="0" err="1"/>
              <a:t>נוירונים</a:t>
            </a:r>
            <a:r>
              <a:rPr dirty="0"/>
              <a:t>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תכונות</a:t>
            </a:r>
            <a:r>
              <a:rPr dirty="0"/>
              <a:t> </a:t>
            </a:r>
            <a:r>
              <a:rPr dirty="0" err="1"/>
              <a:t>היסטוריות</a:t>
            </a:r>
            <a:r>
              <a:rPr dirty="0"/>
              <a:t> </a:t>
            </a:r>
            <a:r>
              <a:rPr dirty="0" err="1"/>
              <a:t>שתוכננו</a:t>
            </a:r>
            <a:r>
              <a:rPr dirty="0"/>
              <a:t> </a:t>
            </a:r>
            <a:r>
              <a:rPr dirty="0" err="1"/>
              <a:t>מחדש</a:t>
            </a:r>
            <a:r>
              <a:rPr dirty="0"/>
              <a:t> </a:t>
            </a:r>
            <a:r>
              <a:rPr dirty="0" err="1"/>
              <a:t>כך</a:t>
            </a:r>
            <a:r>
              <a:rPr dirty="0"/>
              <a:t> </a:t>
            </a:r>
            <a:r>
              <a:rPr dirty="0" err="1"/>
              <a:t>שאינן</a:t>
            </a:r>
            <a:r>
              <a:rPr dirty="0"/>
              <a:t> </a:t>
            </a:r>
            <a:r>
              <a:rPr dirty="0" err="1"/>
              <a:t>תלויות</a:t>
            </a:r>
            <a:r>
              <a:rPr dirty="0"/>
              <a:t> </a:t>
            </a:r>
            <a:r>
              <a:rPr dirty="0" err="1"/>
              <a:t>בבחירה</a:t>
            </a:r>
            <a:r>
              <a:rPr dirty="0"/>
              <a:t> </a:t>
            </a:r>
            <a:r>
              <a:rPr dirty="0" err="1"/>
              <a:t>הנוכחית</a:t>
            </a:r>
            <a:r>
              <a:rPr dirty="0"/>
              <a:t> — </a:t>
            </a:r>
            <a:r>
              <a:rPr dirty="0" err="1"/>
              <a:t>נמנעות</a:t>
            </a:r>
            <a:r>
              <a:rPr dirty="0"/>
              <a:t> </a:t>
            </a:r>
            <a:r>
              <a:rPr dirty="0" err="1"/>
              <a:t>מהבעיה</a:t>
            </a:r>
            <a:r>
              <a:rPr dirty="0"/>
              <a:t> </a:t>
            </a:r>
            <a:r>
              <a:rPr dirty="0" err="1"/>
              <a:t>המעגלית</a:t>
            </a:r>
            <a:r>
              <a:rPr dirty="0"/>
              <a:t> </a:t>
            </a:r>
            <a:r>
              <a:rPr dirty="0" err="1"/>
              <a:t>שזיהינו</a:t>
            </a:r>
            <a:r>
              <a:rPr dirty="0"/>
              <a:t>. </a:t>
            </a:r>
            <a:r>
              <a:rPr dirty="0" err="1"/>
              <a:t>ושלישית</a:t>
            </a:r>
            <a:r>
              <a:rPr dirty="0"/>
              <a:t>, </a:t>
            </a:r>
            <a:r>
              <a:rPr dirty="0" err="1"/>
              <a:t>בחינה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</a:t>
            </a:r>
            <a:r>
              <a:rPr dirty="0" err="1"/>
              <a:t>מודל</a:t>
            </a:r>
            <a:r>
              <a:rPr dirty="0"/>
              <a:t> </a:t>
            </a:r>
            <a:r>
              <a:rPr dirty="0" err="1"/>
              <a:t>שפה</a:t>
            </a:r>
            <a:r>
              <a:rPr dirty="0"/>
              <a:t> </a:t>
            </a:r>
            <a:r>
              <a:rPr dirty="0" err="1"/>
              <a:t>גדול</a:t>
            </a:r>
            <a:r>
              <a:rPr dirty="0"/>
              <a:t> </a:t>
            </a:r>
            <a:r>
              <a:rPr dirty="0" err="1"/>
              <a:t>שיוכל</a:t>
            </a:r>
            <a:r>
              <a:rPr dirty="0"/>
              <a:t> </a:t>
            </a:r>
            <a:r>
              <a:rPr dirty="0" err="1"/>
              <a:t>לייצר</a:t>
            </a:r>
            <a:r>
              <a:rPr dirty="0"/>
              <a:t> </a:t>
            </a:r>
            <a:r>
              <a:rPr dirty="0" err="1"/>
              <a:t>תכונות</a:t>
            </a:r>
            <a:r>
              <a:rPr dirty="0"/>
              <a:t> </a:t>
            </a:r>
            <a:r>
              <a:rPr dirty="0" err="1"/>
              <a:t>חדשות</a:t>
            </a:r>
            <a:r>
              <a:rPr dirty="0"/>
              <a:t> </a:t>
            </a:r>
            <a:r>
              <a:rPr dirty="0" err="1"/>
              <a:t>באופן</a:t>
            </a:r>
            <a:r>
              <a:rPr dirty="0"/>
              <a:t> </a:t>
            </a:r>
            <a:r>
              <a:rPr dirty="0" err="1"/>
              <a:t>אוטונומי</a:t>
            </a:r>
            <a:r>
              <a:rPr dirty="0"/>
              <a:t>, </a:t>
            </a:r>
            <a:r>
              <a:rPr dirty="0" err="1"/>
              <a:t>תוך</a:t>
            </a:r>
            <a:r>
              <a:rPr dirty="0"/>
              <a:t> </a:t>
            </a:r>
            <a:r>
              <a:rPr dirty="0" err="1"/>
              <a:t>התמודדות</a:t>
            </a:r>
            <a:r>
              <a:rPr dirty="0"/>
              <a:t> </a:t>
            </a:r>
            <a:r>
              <a:rPr dirty="0" err="1"/>
              <a:t>כנה</a:t>
            </a:r>
            <a:r>
              <a:rPr dirty="0"/>
              <a:t> </a:t>
            </a:r>
            <a:r>
              <a:rPr dirty="0" err="1"/>
              <a:t>עם</a:t>
            </a:r>
            <a:r>
              <a:rPr dirty="0"/>
              <a:t> </a:t>
            </a:r>
            <a:r>
              <a:rPr dirty="0" err="1"/>
              <a:t>השאלה</a:t>
            </a:r>
            <a:r>
              <a:rPr dirty="0"/>
              <a:t> </a:t>
            </a:r>
            <a:r>
              <a:rPr dirty="0" err="1"/>
              <a:t>אם</a:t>
            </a:r>
            <a:r>
              <a:rPr dirty="0"/>
              <a:t> </a:t>
            </a:r>
            <a:r>
              <a:rPr dirty="0" err="1"/>
              <a:t>יש</a:t>
            </a:r>
            <a:r>
              <a:rPr dirty="0"/>
              <a:t> </a:t>
            </a:r>
            <a:r>
              <a:rPr dirty="0" err="1"/>
              <a:t>לנו</a:t>
            </a:r>
            <a:r>
              <a:rPr dirty="0"/>
              <a:t> </a:t>
            </a:r>
            <a:r>
              <a:rPr dirty="0" err="1"/>
              <a:t>מספיק</a:t>
            </a:r>
            <a:r>
              <a:rPr dirty="0"/>
              <a:t> </a:t>
            </a:r>
            <a:r>
              <a:rPr dirty="0" err="1"/>
              <a:t>דאטה</a:t>
            </a:r>
            <a:r>
              <a:rPr dirty="0"/>
              <a:t> </a:t>
            </a:r>
            <a:r>
              <a:rPr dirty="0" err="1"/>
              <a:t>לכך</a:t>
            </a:r>
            <a:r>
              <a:rPr dirty="0"/>
              <a:t>. </a:t>
            </a:r>
            <a:r>
              <a:rPr dirty="0" err="1"/>
              <a:t>לסיכום</a:t>
            </a:r>
            <a:r>
              <a:rPr dirty="0"/>
              <a:t>: </a:t>
            </a:r>
            <a:r>
              <a:rPr dirty="0" err="1"/>
              <a:t>דיוק</a:t>
            </a:r>
            <a:r>
              <a:rPr dirty="0"/>
              <a:t> </a:t>
            </a:r>
            <a:r>
              <a:rPr dirty="0" err="1"/>
              <a:t>ממוצע</a:t>
            </a:r>
            <a:r>
              <a:rPr dirty="0"/>
              <a:t>, </a:t>
            </a:r>
            <a:r>
              <a:rPr dirty="0" err="1"/>
              <a:t>כמו</a:t>
            </a:r>
            <a:r>
              <a:rPr dirty="0"/>
              <a:t> 64.3% </a:t>
            </a:r>
            <a:r>
              <a:rPr dirty="0" err="1"/>
              <a:t>הטיה</a:t>
            </a:r>
            <a:r>
              <a:rPr dirty="0"/>
              <a:t>, </a:t>
            </a:r>
            <a:r>
              <a:rPr dirty="0" err="1"/>
              <a:t>לא</a:t>
            </a:r>
            <a:r>
              <a:rPr dirty="0"/>
              <a:t> </a:t>
            </a:r>
            <a:r>
              <a:rPr dirty="0" err="1"/>
              <a:t>מספר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כל</a:t>
            </a:r>
            <a:r>
              <a:rPr dirty="0"/>
              <a:t> </a:t>
            </a:r>
            <a:r>
              <a:rPr dirty="0" err="1"/>
              <a:t>הסיפור</a:t>
            </a:r>
            <a:r>
              <a:rPr dirty="0"/>
              <a:t>. </a:t>
            </a:r>
            <a:r>
              <a:rPr dirty="0" err="1"/>
              <a:t>כדי</a:t>
            </a:r>
            <a:r>
              <a:rPr dirty="0"/>
              <a:t> </a:t>
            </a:r>
            <a:r>
              <a:rPr dirty="0" err="1"/>
              <a:t>להבין</a:t>
            </a:r>
            <a:r>
              <a:rPr dirty="0"/>
              <a:t> </a:t>
            </a:r>
            <a:r>
              <a:rPr dirty="0" err="1"/>
              <a:t>באמת</a:t>
            </a:r>
            <a:r>
              <a:rPr dirty="0"/>
              <a:t> </a:t>
            </a:r>
            <a:r>
              <a:rPr dirty="0" err="1"/>
              <a:t>מודל</a:t>
            </a:r>
            <a:r>
              <a:rPr dirty="0"/>
              <a:t> </a:t>
            </a:r>
            <a:r>
              <a:rPr dirty="0" err="1"/>
              <a:t>החלטות</a:t>
            </a:r>
            <a:r>
              <a:rPr dirty="0"/>
              <a:t>, </a:t>
            </a:r>
            <a:r>
              <a:rPr dirty="0" err="1"/>
              <a:t>צריך</a:t>
            </a:r>
            <a:r>
              <a:rPr dirty="0"/>
              <a:t> </a:t>
            </a:r>
            <a:r>
              <a:rPr dirty="0" err="1"/>
              <a:t>לבדוק</a:t>
            </a:r>
            <a:r>
              <a:rPr dirty="0"/>
              <a:t> </a:t>
            </a:r>
            <a:r>
              <a:rPr dirty="0" err="1"/>
              <a:t>לא</a:t>
            </a:r>
            <a:r>
              <a:rPr dirty="0"/>
              <a:t> </a:t>
            </a:r>
            <a:r>
              <a:rPr dirty="0" err="1"/>
              <a:t>רק</a:t>
            </a:r>
            <a:r>
              <a:rPr dirty="0"/>
              <a:t> </a:t>
            </a:r>
            <a:r>
              <a:rPr dirty="0" err="1"/>
              <a:t>אם</a:t>
            </a:r>
            <a:r>
              <a:rPr dirty="0"/>
              <a:t> </a:t>
            </a:r>
            <a:r>
              <a:rPr dirty="0" err="1"/>
              <a:t>הוא</a:t>
            </a:r>
            <a:r>
              <a:rPr dirty="0"/>
              <a:t> </a:t>
            </a:r>
            <a:r>
              <a:rPr dirty="0" err="1"/>
              <a:t>מדויק</a:t>
            </a:r>
            <a:r>
              <a:rPr dirty="0"/>
              <a:t> — </a:t>
            </a:r>
            <a:r>
              <a:rPr dirty="0" err="1"/>
              <a:t>אלא</a:t>
            </a:r>
            <a:r>
              <a:rPr dirty="0"/>
              <a:t> </a:t>
            </a:r>
            <a:r>
              <a:rPr dirty="0" err="1"/>
              <a:t>מתי</a:t>
            </a:r>
            <a:r>
              <a:rPr dirty="0"/>
              <a:t> </a:t>
            </a:r>
            <a:r>
              <a:rPr dirty="0" err="1"/>
              <a:t>ולמה</a:t>
            </a:r>
            <a:r>
              <a:rPr dirty="0"/>
              <a:t> </a:t>
            </a:r>
            <a:r>
              <a:rPr dirty="0" err="1"/>
              <a:t>הוא</a:t>
            </a:r>
            <a:r>
              <a:rPr dirty="0"/>
              <a:t> </a:t>
            </a:r>
            <a:r>
              <a:rPr dirty="0" err="1"/>
              <a:t>לא</a:t>
            </a:r>
            <a:r>
              <a:rPr dirty="0"/>
              <a:t>. </a:t>
            </a:r>
            <a:r>
              <a:rPr dirty="0" err="1"/>
              <a:t>וזה</a:t>
            </a:r>
            <a:r>
              <a:rPr dirty="0"/>
              <a:t> </a:t>
            </a:r>
            <a:r>
              <a:rPr dirty="0" err="1"/>
              <a:t>הכיוון</a:t>
            </a:r>
            <a:r>
              <a:rPr dirty="0"/>
              <a:t> </a:t>
            </a:r>
            <a:r>
              <a:rPr dirty="0" err="1"/>
              <a:t>שאני</a:t>
            </a:r>
            <a:r>
              <a:rPr dirty="0"/>
              <a:t> </a:t>
            </a:r>
            <a:r>
              <a:rPr dirty="0" err="1"/>
              <a:t>ממשיכה</a:t>
            </a:r>
            <a:r>
              <a:rPr dirty="0"/>
              <a:t> </a:t>
            </a:r>
            <a:r>
              <a:rPr dirty="0" err="1"/>
              <a:t>לפתח</a:t>
            </a:r>
            <a:r>
              <a:rPr dirty="0"/>
              <a:t>. </a:t>
            </a:r>
            <a:r>
              <a:rPr dirty="0" err="1"/>
              <a:t>תודה</a:t>
            </a:r>
            <a:r>
              <a:rPr dirty="0"/>
              <a:t> </a:t>
            </a:r>
            <a:r>
              <a:rPr dirty="0" err="1"/>
              <a:t>רבה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svg"/><Relationship Id="rId4" Type="http://schemas.openxmlformats.org/officeDocument/2006/relationships/image" Target="../media/image19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EC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683" y="2555564"/>
            <a:ext cx="9876839" cy="325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kern="0" spc="375" dirty="0">
                <a:solidFill>
                  <a:srgbClr val="B3402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CATIE · PROBABILITY CALIBRATION</a:t>
            </a:r>
            <a:endParaRPr lang="en-US" sz="1875" dirty="0"/>
          </a:p>
        </p:txBody>
      </p:sp>
      <p:sp>
        <p:nvSpPr>
          <p:cNvPr id="3" name="Text 1"/>
          <p:cNvSpPr/>
          <p:nvPr/>
        </p:nvSpPr>
        <p:spPr>
          <a:xfrm>
            <a:off x="1047683" y="3148046"/>
            <a:ext cx="7058903" cy="2498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6150" b="1" kern="0" spc="-135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Calibrating CATIE’s Prediction Probabilities</a:t>
            </a:r>
            <a:endParaRPr lang="en-US" sz="6150" dirty="0"/>
          </a:p>
        </p:txBody>
      </p:sp>
      <p:sp>
        <p:nvSpPr>
          <p:cNvPr id="4" name="Text 2"/>
          <p:cNvSpPr/>
          <p:nvPr/>
        </p:nvSpPr>
        <p:spPr>
          <a:xfrm>
            <a:off x="1047683" y="6126881"/>
            <a:ext cx="9876839" cy="4473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700" dirty="0">
                <a:solidFill>
                  <a:srgbClr val="7C73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From Behavioral Analysis to Mathematical Correction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1047683" y="6664869"/>
            <a:ext cx="6644387" cy="9525"/>
          </a:xfrm>
          <a:prstGeom prst="rect">
            <a:avLst/>
          </a:prstGeom>
          <a:solidFill>
            <a:srgbClr val="D8CDB8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6" name="Text 4"/>
          <p:cNvSpPr/>
          <p:nvPr/>
        </p:nvSpPr>
        <p:spPr>
          <a:xfrm>
            <a:off x="1047683" y="6921944"/>
            <a:ext cx="10871289" cy="13811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2400" dirty="0">
                <a:solidFill>
                  <a:srgbClr val="9A917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Shir Holzman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2400" dirty="0">
                <a:solidFill>
                  <a:srgbClr val="9A917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Supervised research: Prof. Yonatan Loewenstein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11918972" y="3857625"/>
            <a:ext cx="1181067" cy="1181067"/>
          </a:xfrm>
          <a:prstGeom prst="roundRect">
            <a:avLst>
              <a:gd name="adj" fmla="val 12904"/>
            </a:avLst>
          </a:prstGeom>
          <a:solidFill>
            <a:srgbClr val="FBF8F2"/>
          </a:solidFill>
          <a:ln w="19183">
            <a:solidFill>
              <a:srgbClr val="2F6B7A"/>
            </a:solidFill>
            <a:prstDash val="solid"/>
          </a:ln>
          <a:effectLst>
            <a:outerShdw blurRad="209550" dist="57150" dir="5400000" algn="bl" rotWithShape="0">
              <a:srgbClr val="463723">
                <a:alpha val="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8" name="Text 6"/>
          <p:cNvSpPr/>
          <p:nvPr/>
        </p:nvSpPr>
        <p:spPr>
          <a:xfrm>
            <a:off x="11900056" y="3876808"/>
            <a:ext cx="1218900" cy="1180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2F6B7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L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11918972" y="5248208"/>
            <a:ext cx="1181067" cy="1181067"/>
          </a:xfrm>
          <a:prstGeom prst="roundRect">
            <a:avLst>
              <a:gd name="adj" fmla="val 12904"/>
            </a:avLst>
          </a:prstGeom>
          <a:solidFill>
            <a:srgbClr val="FBF8F2"/>
          </a:solidFill>
          <a:ln w="19183">
            <a:solidFill>
              <a:srgbClr val="B3402F"/>
            </a:solidFill>
            <a:prstDash val="solid"/>
          </a:ln>
          <a:effectLst>
            <a:outerShdw blurRad="209550" dist="57150" dir="5400000" algn="bl" rotWithShape="0">
              <a:srgbClr val="463723">
                <a:alpha val="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0" name="Text 8"/>
          <p:cNvSpPr/>
          <p:nvPr/>
        </p:nvSpPr>
        <p:spPr>
          <a:xfrm>
            <a:off x="11900056" y="5267391"/>
            <a:ext cx="1218900" cy="1180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B3402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R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3423855" y="4894018"/>
            <a:ext cx="495333" cy="5368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300" dirty="0">
                <a:solidFill>
                  <a:srgbClr val="BFA06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→</a:t>
            </a:r>
            <a:endParaRPr lang="en-US" sz="3300" dirty="0"/>
          </a:p>
        </p:txBody>
      </p:sp>
      <p:sp>
        <p:nvSpPr>
          <p:cNvPr id="12" name="Shape 10"/>
          <p:cNvSpPr/>
          <p:nvPr/>
        </p:nvSpPr>
        <p:spPr>
          <a:xfrm>
            <a:off x="14166805" y="3932859"/>
            <a:ext cx="1981167" cy="1981167"/>
          </a:xfrm>
          <a:prstGeom prst="ellipse">
            <a:avLst/>
          </a:prstGeom>
          <a:solidFill>
            <a:srgbClr val="FBF8F2"/>
          </a:solidFill>
          <a:ln w="31972">
            <a:solidFill>
              <a:srgbClr val="B3402F"/>
            </a:solidFill>
            <a:prstDash val="solid"/>
          </a:ln>
          <a:effectLst>
            <a:outerShdw blurRad="323850" dist="95250" dir="5400000" algn="bl" rotWithShape="0">
              <a:srgbClr val="B3402F">
                <a:alpha val="1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3" name="Text 11"/>
          <p:cNvSpPr/>
          <p:nvPr/>
        </p:nvSpPr>
        <p:spPr>
          <a:xfrm>
            <a:off x="14160677" y="3964831"/>
            <a:ext cx="1993423" cy="19553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7200" b="1" i="1" dirty="0">
                <a:solidFill>
                  <a:srgbClr val="B3402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</a:t>
            </a:r>
            <a:endParaRPr lang="en-US" sz="7200" dirty="0"/>
          </a:p>
        </p:txBody>
      </p:sp>
      <p:sp>
        <p:nvSpPr>
          <p:cNvPr id="14" name="Text 12"/>
          <p:cNvSpPr/>
          <p:nvPr/>
        </p:nvSpPr>
        <p:spPr>
          <a:xfrm>
            <a:off x="14491321" y="6085476"/>
            <a:ext cx="1465348" cy="3066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52" dirty="0">
                <a:solidFill>
                  <a:srgbClr val="9A917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P(CHOICE)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90532" y="914400"/>
            <a:ext cx="54864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75" b="1" dirty="0">
                <a:solidFill>
                  <a:srgbClr val="B3402F"/>
                </a:solidFill>
                <a:latin typeface="Fira Sans"/>
              </a:rPr>
              <a:t>WHY THIS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90532" y="1335432"/>
            <a:ext cx="146304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900" b="1" dirty="0">
                <a:solidFill>
                  <a:srgbClr val="2A2520"/>
                </a:solidFill>
                <a:latin typeface="Fira Sans"/>
              </a:rPr>
              <a:t>Accuracy on average isn’t enough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0532" y="2834640"/>
            <a:ext cx="15087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700" b="1">
                <a:solidFill>
                  <a:srgbClr val="2A2520"/>
                </a:solidFill>
                <a:latin typeface="Fira Sans"/>
              </a:rPr>
              <a:t>Decision-support systems act on a model’s stated confidence — not just its accuracy.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532" y="4114800"/>
            <a:ext cx="15087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25" b="0">
                <a:solidFill>
                  <a:srgbClr val="2A2520"/>
                </a:solidFill>
                <a:latin typeface="Fira Sans"/>
              </a:rPr>
              <a:t>Confident-but-wrong predictions are a known failure mode across modern ML — not unique to CATIE.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532" y="5394960"/>
            <a:ext cx="15087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25" b="0">
                <a:solidFill>
                  <a:srgbClr val="7C7363"/>
                </a:solidFill>
                <a:latin typeface="Fira Sans"/>
              </a:rPr>
              <a:t>CATIE already won its competition. The harder question is whether its confidence can be trusted trial-by-trial.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EC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533" y="914400"/>
            <a:ext cx="8243997" cy="325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kern="0" spc="300" dirty="0">
                <a:solidFill>
                  <a:srgbClr val="B3402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THE PARADIGM</a:t>
            </a:r>
            <a:endParaRPr lang="en-US" sz="1875" dirty="0"/>
          </a:p>
        </p:txBody>
      </p:sp>
      <p:sp>
        <p:nvSpPr>
          <p:cNvPr id="3" name="Text 1"/>
          <p:cNvSpPr/>
          <p:nvPr/>
        </p:nvSpPr>
        <p:spPr>
          <a:xfrm>
            <a:off x="990533" y="1335432"/>
            <a:ext cx="8243997" cy="5828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900" b="1" kern="0" spc="-58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How the choice engineering works</a:t>
            </a:r>
            <a:endParaRPr lang="en-US" sz="3900" dirty="0"/>
          </a:p>
        </p:txBody>
      </p:sp>
      <p:sp>
        <p:nvSpPr>
          <p:cNvPr id="4" name="Shape 2"/>
          <p:cNvSpPr/>
          <p:nvPr/>
        </p:nvSpPr>
        <p:spPr>
          <a:xfrm>
            <a:off x="990533" y="3635619"/>
            <a:ext cx="2773873" cy="4762433"/>
          </a:xfrm>
          <a:prstGeom prst="roundRect">
            <a:avLst>
              <a:gd name="adj" fmla="val 5494"/>
            </a:avLst>
          </a:prstGeom>
          <a:solidFill>
            <a:srgbClr val="FBF8F2"/>
          </a:solidFill>
          <a:ln w="6394">
            <a:solidFill>
              <a:srgbClr val="E4DBC9"/>
            </a:solidFill>
            <a:prstDash val="solid"/>
          </a:ln>
          <a:effectLst>
            <a:outerShdw blurRad="228600" dist="57150" dir="5400000" algn="bl" rotWithShape="0">
              <a:srgbClr val="463723">
                <a:alpha val="5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77370" y="5094543"/>
            <a:ext cx="800100" cy="8001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88248" y="5989859"/>
            <a:ext cx="2578344" cy="332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Engineered schedule</a:t>
            </a:r>
            <a:endParaRPr lang="en-US" sz="1950" dirty="0"/>
          </a:p>
        </p:txBody>
      </p:sp>
      <p:sp>
        <p:nvSpPr>
          <p:cNvPr id="7" name="Text 4"/>
          <p:cNvSpPr/>
          <p:nvPr/>
        </p:nvSpPr>
        <p:spPr>
          <a:xfrm>
            <a:off x="1130278" y="6379219"/>
            <a:ext cx="2494384" cy="655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800" dirty="0">
                <a:solidFill>
                  <a:srgbClr val="897F6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rewards are tuned in advance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3916740" y="5831398"/>
            <a:ext cx="350410" cy="4089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BFA06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→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4373773" y="3635619"/>
            <a:ext cx="2773973" cy="4762433"/>
          </a:xfrm>
          <a:prstGeom prst="roundRect">
            <a:avLst>
              <a:gd name="adj" fmla="val 5494"/>
            </a:avLst>
          </a:prstGeom>
          <a:solidFill>
            <a:srgbClr val="FBF8F2"/>
          </a:solidFill>
          <a:ln w="6394">
            <a:solidFill>
              <a:srgbClr val="E4DBC9"/>
            </a:solidFill>
            <a:prstDash val="solid"/>
          </a:ln>
          <a:effectLst>
            <a:outerShdw blurRad="228600" dist="57150" dir="5400000" algn="bl" rotWithShape="0">
              <a:srgbClr val="463723">
                <a:alpha val="5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22643" y="5065968"/>
            <a:ext cx="876233" cy="8001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003967" y="5989859"/>
            <a:ext cx="1513486" cy="332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Two options</a:t>
            </a:r>
            <a:endParaRPr lang="en-US" sz="1950" dirty="0"/>
          </a:p>
        </p:txBody>
      </p:sp>
      <p:sp>
        <p:nvSpPr>
          <p:cNvPr id="12" name="Text 8"/>
          <p:cNvSpPr/>
          <p:nvPr/>
        </p:nvSpPr>
        <p:spPr>
          <a:xfrm>
            <a:off x="4513518" y="6379219"/>
            <a:ext cx="2494484" cy="655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800" dirty="0">
                <a:solidFill>
                  <a:srgbClr val="897F6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 biased vs. unbiased arm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7300080" y="5831398"/>
            <a:ext cx="350410" cy="4089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BFA06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→</a:t>
            </a:r>
            <a:endParaRPr lang="en-US" sz="2400" dirty="0"/>
          </a:p>
        </p:txBody>
      </p:sp>
      <p:sp>
        <p:nvSpPr>
          <p:cNvPr id="14" name="Shape 10"/>
          <p:cNvSpPr/>
          <p:nvPr/>
        </p:nvSpPr>
        <p:spPr>
          <a:xfrm>
            <a:off x="7757113" y="3635619"/>
            <a:ext cx="2773873" cy="4762433"/>
          </a:xfrm>
          <a:prstGeom prst="roundRect">
            <a:avLst>
              <a:gd name="adj" fmla="val 5494"/>
            </a:avLst>
          </a:prstGeom>
          <a:solidFill>
            <a:srgbClr val="FBF8F2"/>
          </a:solidFill>
          <a:ln w="6394">
            <a:solidFill>
              <a:srgbClr val="E4DBC9"/>
            </a:solidFill>
            <a:prstDash val="solid"/>
          </a:ln>
          <a:effectLst>
            <a:outerShdw blurRad="228600" dist="57150" dir="5400000" algn="bl" rotWithShape="0">
              <a:srgbClr val="463723">
                <a:alpha val="5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05883" y="4854553"/>
            <a:ext cx="876233" cy="8001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426543" y="5835594"/>
            <a:ext cx="1435014" cy="332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100 choices</a:t>
            </a:r>
            <a:endParaRPr lang="en-US" sz="1950" dirty="0"/>
          </a:p>
        </p:txBody>
      </p:sp>
      <p:sp>
        <p:nvSpPr>
          <p:cNvPr id="17" name="Text 12"/>
          <p:cNvSpPr/>
          <p:nvPr/>
        </p:nvSpPr>
        <p:spPr>
          <a:xfrm>
            <a:off x="7896858" y="6282104"/>
            <a:ext cx="2494384" cy="9636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800" dirty="0">
                <a:solidFill>
                  <a:srgbClr val="897F6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partial feedback: only the chosen reward is shown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10683320" y="5831398"/>
            <a:ext cx="350410" cy="4089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BFA06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→</a:t>
            </a:r>
            <a:endParaRPr lang="en-US" sz="2400" dirty="0"/>
          </a:p>
        </p:txBody>
      </p:sp>
      <p:sp>
        <p:nvSpPr>
          <p:cNvPr id="19" name="Shape 14"/>
          <p:cNvSpPr/>
          <p:nvPr/>
        </p:nvSpPr>
        <p:spPr>
          <a:xfrm>
            <a:off x="11140354" y="3635619"/>
            <a:ext cx="2773873" cy="4762433"/>
          </a:xfrm>
          <a:prstGeom prst="roundRect">
            <a:avLst>
              <a:gd name="adj" fmla="val 5494"/>
            </a:avLst>
          </a:prstGeom>
          <a:solidFill>
            <a:srgbClr val="FBF8F2"/>
          </a:solidFill>
          <a:ln w="6394">
            <a:solidFill>
              <a:srgbClr val="E4DBC9"/>
            </a:solidFill>
            <a:prstDash val="solid"/>
          </a:ln>
          <a:effectLst>
            <a:outerShdw blurRad="228600" dist="57150" dir="5400000" algn="bl" rotWithShape="0">
              <a:srgbClr val="463723">
                <a:alpha val="5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051056" y="5008818"/>
            <a:ext cx="952467" cy="8001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1578105" y="5989859"/>
            <a:ext cx="1898369" cy="332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CATIE models it</a:t>
            </a:r>
            <a:endParaRPr lang="en-US" sz="1950" dirty="0"/>
          </a:p>
        </p:txBody>
      </p:sp>
      <p:sp>
        <p:nvSpPr>
          <p:cNvPr id="22" name="Text 16"/>
          <p:cNvSpPr/>
          <p:nvPr/>
        </p:nvSpPr>
        <p:spPr>
          <a:xfrm>
            <a:off x="11280098" y="6436369"/>
            <a:ext cx="2494384" cy="655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800" dirty="0">
                <a:solidFill>
                  <a:srgbClr val="897F6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reads the whole sequence</a:t>
            </a:r>
            <a:endParaRPr lang="en-US" sz="1800" dirty="0"/>
          </a:p>
        </p:txBody>
      </p:sp>
      <p:sp>
        <p:nvSpPr>
          <p:cNvPr id="23" name="Text 17"/>
          <p:cNvSpPr/>
          <p:nvPr/>
        </p:nvSpPr>
        <p:spPr>
          <a:xfrm>
            <a:off x="14066560" y="5831398"/>
            <a:ext cx="350410" cy="4089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BFA06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→</a:t>
            </a:r>
            <a:endParaRPr lang="en-US" sz="2400" dirty="0"/>
          </a:p>
        </p:txBody>
      </p:sp>
      <p:sp>
        <p:nvSpPr>
          <p:cNvPr id="24" name="Shape 18"/>
          <p:cNvSpPr/>
          <p:nvPr/>
        </p:nvSpPr>
        <p:spPr>
          <a:xfrm>
            <a:off x="14523594" y="3635619"/>
            <a:ext cx="2773873" cy="4762433"/>
          </a:xfrm>
          <a:prstGeom prst="roundRect">
            <a:avLst>
              <a:gd name="adj" fmla="val 5494"/>
            </a:avLst>
          </a:prstGeom>
          <a:solidFill>
            <a:srgbClr val="FBF8F2"/>
          </a:solidFill>
          <a:ln w="6394">
            <a:solidFill>
              <a:srgbClr val="E9CABF"/>
            </a:solidFill>
            <a:prstDash val="solid"/>
          </a:ln>
          <a:effectLst>
            <a:outerShdw blurRad="228600" dist="57150" dir="5400000" algn="bl" rotWithShape="0">
              <a:srgbClr val="B3402F">
                <a:alpha val="7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5510430" y="5163083"/>
            <a:ext cx="800100" cy="80010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5114991" y="6144124"/>
            <a:ext cx="1591078" cy="332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Probability p</a:t>
            </a:r>
            <a:endParaRPr lang="en-US" sz="1950" dirty="0"/>
          </a:p>
        </p:txBody>
      </p:sp>
      <p:sp>
        <p:nvSpPr>
          <p:cNvPr id="27" name="Text 20"/>
          <p:cNvSpPr/>
          <p:nvPr/>
        </p:nvSpPr>
        <p:spPr>
          <a:xfrm>
            <a:off x="14852210" y="6590634"/>
            <a:ext cx="2116638" cy="3466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800" dirty="0">
                <a:solidFill>
                  <a:srgbClr val="897F6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 (the next choice)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EC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533" y="914400"/>
            <a:ext cx="7648539" cy="325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kern="0" spc="300" dirty="0">
                <a:solidFill>
                  <a:srgbClr val="B3402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THE MODEL</a:t>
            </a:r>
            <a:endParaRPr lang="en-US" sz="1875" dirty="0"/>
          </a:p>
        </p:txBody>
      </p:sp>
      <p:sp>
        <p:nvSpPr>
          <p:cNvPr id="3" name="Text 1"/>
          <p:cNvSpPr/>
          <p:nvPr/>
        </p:nvSpPr>
        <p:spPr>
          <a:xfrm>
            <a:off x="990533" y="1335432"/>
            <a:ext cx="7161813" cy="11275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900" b="1" kern="0" spc="-58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CATIE won the Choice Engineering Competition</a:t>
            </a:r>
            <a:endParaRPr lang="en-US" sz="3900" dirty="0"/>
          </a:p>
        </p:txBody>
      </p:sp>
      <p:sp>
        <p:nvSpPr>
          <p:cNvPr id="4" name="Text 2"/>
          <p:cNvSpPr/>
          <p:nvPr/>
        </p:nvSpPr>
        <p:spPr>
          <a:xfrm>
            <a:off x="990533" y="4384963"/>
            <a:ext cx="8198937" cy="10743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85000"/>
              </a:lnSpc>
              <a:buNone/>
            </a:pPr>
            <a:r>
              <a:rPr lang="en-US" sz="9600" b="1" kern="0" spc="-192" dirty="0">
                <a:solidFill>
                  <a:srgbClr val="B3402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64.3%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990533" y="5573624"/>
            <a:ext cx="3147398" cy="9972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7C73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choice bias: top of the leaderboard, well above Q-Learning rivals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90533" y="6818534"/>
            <a:ext cx="639307" cy="3066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B3402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CATIE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56613" y="6818534"/>
            <a:ext cx="701053" cy="3066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B3402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64.3%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90533" y="7163233"/>
            <a:ext cx="4190933" cy="247583"/>
          </a:xfrm>
          <a:prstGeom prst="roundRect">
            <a:avLst>
              <a:gd name="adj" fmla="val 23083"/>
            </a:avLst>
          </a:prstGeom>
          <a:solidFill>
            <a:srgbClr val="E7DECD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9" name="Shape 7"/>
          <p:cNvSpPr/>
          <p:nvPr/>
        </p:nvSpPr>
        <p:spPr>
          <a:xfrm>
            <a:off x="990533" y="7163233"/>
            <a:ext cx="3855627" cy="247583"/>
          </a:xfrm>
          <a:prstGeom prst="roundRect">
            <a:avLst>
              <a:gd name="adj" fmla="val 23083"/>
            </a:avLst>
          </a:prstGeom>
          <a:solidFill>
            <a:srgbClr val="B3402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0" name="Text 8"/>
          <p:cNvSpPr/>
          <p:nvPr/>
        </p:nvSpPr>
        <p:spPr>
          <a:xfrm>
            <a:off x="990533" y="7563183"/>
            <a:ext cx="2256106" cy="3066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897F6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Q-Learning variants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335407" y="7563183"/>
            <a:ext cx="922260" cy="3066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A99E89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↓ lower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90533" y="7907881"/>
            <a:ext cx="4190933" cy="247583"/>
          </a:xfrm>
          <a:prstGeom prst="roundRect">
            <a:avLst>
              <a:gd name="adj" fmla="val 23083"/>
            </a:avLst>
          </a:prstGeom>
          <a:solidFill>
            <a:srgbClr val="E7DECD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3" name="Shape 11"/>
          <p:cNvSpPr/>
          <p:nvPr/>
        </p:nvSpPr>
        <p:spPr>
          <a:xfrm>
            <a:off x="990533" y="7907881"/>
            <a:ext cx="2304983" cy="247583"/>
          </a:xfrm>
          <a:prstGeom prst="roundRect">
            <a:avLst>
              <a:gd name="adj" fmla="val 23083"/>
            </a:avLst>
          </a:prstGeom>
          <a:solidFill>
            <a:srgbClr val="C3B9A6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4" name="Text 12"/>
          <p:cNvSpPr/>
          <p:nvPr/>
        </p:nvSpPr>
        <p:spPr>
          <a:xfrm>
            <a:off x="9015612" y="4974548"/>
            <a:ext cx="9110040" cy="3514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Four mechanisms, working together</a:t>
            </a:r>
            <a:endParaRPr lang="en-US" sz="2025" dirty="0"/>
          </a:p>
        </p:txBody>
      </p:sp>
      <p:sp>
        <p:nvSpPr>
          <p:cNvPr id="15" name="Shape 13"/>
          <p:cNvSpPr/>
          <p:nvPr/>
        </p:nvSpPr>
        <p:spPr>
          <a:xfrm>
            <a:off x="9015612" y="5459324"/>
            <a:ext cx="4074235" cy="643437"/>
          </a:xfrm>
          <a:prstGeom prst="roundRect">
            <a:avLst>
              <a:gd name="adj" fmla="val 17764"/>
            </a:avLst>
          </a:prstGeom>
          <a:solidFill>
            <a:srgbClr val="FBF8F2"/>
          </a:solidFill>
          <a:ln w="6394">
            <a:solidFill>
              <a:srgbClr val="E4DBC9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6" name="Text 14"/>
          <p:cNvSpPr/>
          <p:nvPr/>
        </p:nvSpPr>
        <p:spPr>
          <a:xfrm>
            <a:off x="9231557" y="5637168"/>
            <a:ext cx="3764574" cy="325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3F3A32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Cumulative average</a:t>
            </a:r>
            <a:endParaRPr lang="en-US" sz="1875" dirty="0"/>
          </a:p>
        </p:txBody>
      </p:sp>
      <p:sp>
        <p:nvSpPr>
          <p:cNvPr id="17" name="Shape 15"/>
          <p:cNvSpPr/>
          <p:nvPr/>
        </p:nvSpPr>
        <p:spPr>
          <a:xfrm>
            <a:off x="13223131" y="5459324"/>
            <a:ext cx="4074335" cy="643437"/>
          </a:xfrm>
          <a:prstGeom prst="roundRect">
            <a:avLst>
              <a:gd name="adj" fmla="val 17764"/>
            </a:avLst>
          </a:prstGeom>
          <a:solidFill>
            <a:srgbClr val="FBF8F2"/>
          </a:solidFill>
          <a:ln w="6394">
            <a:solidFill>
              <a:srgbClr val="E4DBC9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8" name="Text 16"/>
          <p:cNvSpPr/>
          <p:nvPr/>
        </p:nvSpPr>
        <p:spPr>
          <a:xfrm>
            <a:off x="13439076" y="5637168"/>
            <a:ext cx="3764677" cy="325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3F3A32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Trend</a:t>
            </a:r>
            <a:endParaRPr lang="en-US" sz="1875" dirty="0"/>
          </a:p>
        </p:txBody>
      </p:sp>
      <p:sp>
        <p:nvSpPr>
          <p:cNvPr id="19" name="Shape 17"/>
          <p:cNvSpPr/>
          <p:nvPr/>
        </p:nvSpPr>
        <p:spPr>
          <a:xfrm>
            <a:off x="9015612" y="6236044"/>
            <a:ext cx="4074235" cy="643437"/>
          </a:xfrm>
          <a:prstGeom prst="roundRect">
            <a:avLst>
              <a:gd name="adj" fmla="val 17764"/>
            </a:avLst>
          </a:prstGeom>
          <a:solidFill>
            <a:srgbClr val="FBF8F2"/>
          </a:solidFill>
          <a:ln w="6394">
            <a:solidFill>
              <a:srgbClr val="E4DBC9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0" name="Text 18"/>
          <p:cNvSpPr/>
          <p:nvPr/>
        </p:nvSpPr>
        <p:spPr>
          <a:xfrm>
            <a:off x="9231557" y="6413889"/>
            <a:ext cx="3764574" cy="325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3F3A32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Inertia</a:t>
            </a:r>
            <a:endParaRPr lang="en-US" sz="1875" dirty="0"/>
          </a:p>
        </p:txBody>
      </p:sp>
      <p:sp>
        <p:nvSpPr>
          <p:cNvPr id="21" name="Shape 19"/>
          <p:cNvSpPr/>
          <p:nvPr/>
        </p:nvSpPr>
        <p:spPr>
          <a:xfrm>
            <a:off x="13223131" y="6236044"/>
            <a:ext cx="4074335" cy="643437"/>
          </a:xfrm>
          <a:prstGeom prst="roundRect">
            <a:avLst>
              <a:gd name="adj" fmla="val 17764"/>
            </a:avLst>
          </a:prstGeom>
          <a:solidFill>
            <a:srgbClr val="FBF8F2"/>
          </a:solidFill>
          <a:ln w="6394">
            <a:solidFill>
              <a:srgbClr val="E4DBC9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2" name="Text 20"/>
          <p:cNvSpPr/>
          <p:nvPr/>
        </p:nvSpPr>
        <p:spPr>
          <a:xfrm>
            <a:off x="13439076" y="6413889"/>
            <a:ext cx="3764677" cy="325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3F3A32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Exploration</a:t>
            </a:r>
            <a:endParaRPr lang="en-US" sz="1875" dirty="0"/>
          </a:p>
        </p:txBody>
      </p:sp>
      <p:sp>
        <p:nvSpPr>
          <p:cNvPr id="23" name="Shape 21"/>
          <p:cNvSpPr/>
          <p:nvPr/>
        </p:nvSpPr>
        <p:spPr>
          <a:xfrm>
            <a:off x="9015612" y="7165231"/>
            <a:ext cx="25578" cy="400550"/>
          </a:xfrm>
          <a:prstGeom prst="rect">
            <a:avLst/>
          </a:prstGeom>
          <a:solidFill>
            <a:srgbClr val="2F6B7A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4" name="Text 22"/>
          <p:cNvSpPr/>
          <p:nvPr/>
        </p:nvSpPr>
        <p:spPr>
          <a:xfrm>
            <a:off x="9250740" y="7165231"/>
            <a:ext cx="8874912" cy="43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175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CATIE doesn’t emit a </a:t>
            </a:r>
            <a:r>
              <a:rPr lang="en-US" sz="2175" i="1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choice </a:t>
            </a:r>
            <a:r>
              <a:rPr lang="en-US" sz="2175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it emits a </a:t>
            </a:r>
            <a:r>
              <a:rPr lang="en-US" sz="2175" b="1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probability p</a:t>
            </a:r>
            <a:endParaRPr lang="en-US" sz="217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90532" y="914400"/>
            <a:ext cx="54864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75" b="1">
                <a:solidFill>
                  <a:srgbClr val="B3402F"/>
                </a:solidFill>
                <a:latin typeface="Fira Sans"/>
              </a:rPr>
              <a:t>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90532" y="1335432"/>
            <a:ext cx="12801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900" b="1">
                <a:solidFill>
                  <a:srgbClr val="2A2520"/>
                </a:solidFill>
                <a:latin typeface="Fira Sans"/>
              </a:rPr>
              <a:t>The published competition result</a:t>
            </a:r>
          </a:p>
        </p:txBody>
      </p:sp>
      <p:pic>
        <p:nvPicPr>
          <p:cNvPr id="4" name="Picture 3" descr="fig2_competition_results_bias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0" y="2926080"/>
            <a:ext cx="12252960" cy="57766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017520" y="8839929"/>
            <a:ext cx="122529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800" b="0" dirty="0">
                <a:solidFill>
                  <a:srgbClr val="7C7363"/>
                </a:solidFill>
                <a:latin typeface="Fira Sans"/>
              </a:rPr>
              <a:t>Source: Dan &amp; Loewenstein (2025), Nature Communications. Schedule 1 (CATIE) achieved 64.3% ± 0.5% bias — highest of all 11 competing schedules.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EC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533" y="914400"/>
            <a:ext cx="17937626" cy="325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kern="0" spc="300" dirty="0">
                <a:solidFill>
                  <a:srgbClr val="B3402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THE MODEL</a:t>
            </a:r>
            <a:endParaRPr lang="en-US" sz="1875" dirty="0"/>
          </a:p>
        </p:txBody>
      </p:sp>
      <p:sp>
        <p:nvSpPr>
          <p:cNvPr id="3" name="Text 1"/>
          <p:cNvSpPr/>
          <p:nvPr/>
        </p:nvSpPr>
        <p:spPr>
          <a:xfrm>
            <a:off x="990533" y="1335432"/>
            <a:ext cx="17937626" cy="5828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900" b="1" kern="0" spc="-58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The four mechanisms of CATIE</a:t>
            </a:r>
            <a:endParaRPr lang="en-US" sz="3900" dirty="0"/>
          </a:p>
        </p:txBody>
      </p:sp>
      <p:sp>
        <p:nvSpPr>
          <p:cNvPr id="4" name="Shape 2"/>
          <p:cNvSpPr/>
          <p:nvPr/>
        </p:nvSpPr>
        <p:spPr>
          <a:xfrm>
            <a:off x="990533" y="2261122"/>
            <a:ext cx="2590034" cy="529137"/>
          </a:xfrm>
          <a:prstGeom prst="roundRect">
            <a:avLst>
              <a:gd name="adj" fmla="val 50000"/>
            </a:avLst>
          </a:prstGeom>
          <a:solidFill>
            <a:srgbClr val="B3402F"/>
          </a:solidFill>
          <a:ln w="6394">
            <a:solidFill>
              <a:srgbClr val="B3402F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5" name="Text 3"/>
          <p:cNvSpPr/>
          <p:nvPr/>
        </p:nvSpPr>
        <p:spPr>
          <a:xfrm>
            <a:off x="1225528" y="2381816"/>
            <a:ext cx="2197746" cy="32584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Cumulative average</a:t>
            </a:r>
            <a:endParaRPr lang="en-US" sz="1875" dirty="0"/>
          </a:p>
        </p:txBody>
      </p:sp>
      <p:sp>
        <p:nvSpPr>
          <p:cNvPr id="6" name="Shape 4"/>
          <p:cNvSpPr/>
          <p:nvPr/>
        </p:nvSpPr>
        <p:spPr>
          <a:xfrm>
            <a:off x="3713851" y="2261122"/>
            <a:ext cx="1089047" cy="529137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6394">
            <a:solidFill>
              <a:srgbClr val="E4DBC9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7" name="Text 5"/>
          <p:cNvSpPr/>
          <p:nvPr/>
        </p:nvSpPr>
        <p:spPr>
          <a:xfrm>
            <a:off x="3948845" y="2381816"/>
            <a:ext cx="695258" cy="32584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897F6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Trend</a:t>
            </a:r>
            <a:endParaRPr lang="en-US" sz="1875" dirty="0"/>
          </a:p>
        </p:txBody>
      </p:sp>
      <p:sp>
        <p:nvSpPr>
          <p:cNvPr id="8" name="Shape 6"/>
          <p:cNvSpPr/>
          <p:nvPr/>
        </p:nvSpPr>
        <p:spPr>
          <a:xfrm>
            <a:off x="4936181" y="2261122"/>
            <a:ext cx="1191358" cy="529137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6394">
            <a:solidFill>
              <a:srgbClr val="E4DBC9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9" name="Text 7"/>
          <p:cNvSpPr/>
          <p:nvPr/>
        </p:nvSpPr>
        <p:spPr>
          <a:xfrm>
            <a:off x="5171176" y="2381816"/>
            <a:ext cx="797569" cy="32584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897F6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Inertia</a:t>
            </a:r>
            <a:endParaRPr lang="en-US" sz="1875" dirty="0"/>
          </a:p>
        </p:txBody>
      </p:sp>
      <p:sp>
        <p:nvSpPr>
          <p:cNvPr id="10" name="Shape 8"/>
          <p:cNvSpPr/>
          <p:nvPr/>
        </p:nvSpPr>
        <p:spPr>
          <a:xfrm>
            <a:off x="6260822" y="2261122"/>
            <a:ext cx="1716998" cy="529137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6394">
            <a:solidFill>
              <a:srgbClr val="E4DBC9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1" name="Text 9"/>
          <p:cNvSpPr/>
          <p:nvPr/>
        </p:nvSpPr>
        <p:spPr>
          <a:xfrm>
            <a:off x="6495817" y="2381816"/>
            <a:ext cx="1323209" cy="32584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897F6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Exploration</a:t>
            </a:r>
            <a:endParaRPr lang="en-US" sz="1875" dirty="0"/>
          </a:p>
        </p:txBody>
      </p:sp>
      <p:sp>
        <p:nvSpPr>
          <p:cNvPr id="12" name="Shape 10"/>
          <p:cNvSpPr/>
          <p:nvPr/>
        </p:nvSpPr>
        <p:spPr>
          <a:xfrm>
            <a:off x="990533" y="5062171"/>
            <a:ext cx="2857500" cy="2857500"/>
          </a:xfrm>
          <a:prstGeom prst="roundRect">
            <a:avLst>
              <a:gd name="adj" fmla="val 9333"/>
            </a:avLst>
          </a:prstGeom>
          <a:solidFill>
            <a:srgbClr val="E6EEF0"/>
          </a:solidFill>
          <a:ln w="6394">
            <a:solidFill>
              <a:srgbClr val="CFE0E3"/>
            </a:solidFill>
            <a:prstDash val="solid"/>
          </a:ln>
          <a:effectLst>
            <a:outerShdw blurRad="266700" dist="57150" dir="5400000" algn="bl" rotWithShape="0">
              <a:srgbClr val="463723">
                <a:alpha val="5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09692" y="5776546"/>
            <a:ext cx="1619183" cy="142875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4533833" y="5096841"/>
            <a:ext cx="14039996" cy="325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kern="0" spc="150" dirty="0">
                <a:solidFill>
                  <a:srgbClr val="BFA06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MECHANISM 01 / 04</a:t>
            </a:r>
            <a:endParaRPr lang="en-US" sz="1875" dirty="0"/>
          </a:p>
        </p:txBody>
      </p:sp>
      <p:sp>
        <p:nvSpPr>
          <p:cNvPr id="15" name="Text 12"/>
          <p:cNvSpPr/>
          <p:nvPr/>
        </p:nvSpPr>
        <p:spPr>
          <a:xfrm>
            <a:off x="4533833" y="5536956"/>
            <a:ext cx="14039996" cy="7670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4800" b="1" kern="0" spc="-96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Cumulative average</a:t>
            </a:r>
            <a:endParaRPr lang="en-US" sz="4800" dirty="0"/>
          </a:p>
        </p:txBody>
      </p:sp>
      <p:sp>
        <p:nvSpPr>
          <p:cNvPr id="16" name="Shape 13"/>
          <p:cNvSpPr/>
          <p:nvPr/>
        </p:nvSpPr>
        <p:spPr>
          <a:xfrm>
            <a:off x="4533833" y="6513501"/>
            <a:ext cx="25578" cy="1371600"/>
          </a:xfrm>
          <a:prstGeom prst="rect">
            <a:avLst/>
          </a:prstGeom>
          <a:solidFill>
            <a:srgbClr val="2F6B7A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7" name="Text 14"/>
          <p:cNvSpPr/>
          <p:nvPr/>
        </p:nvSpPr>
        <p:spPr>
          <a:xfrm>
            <a:off x="4788011" y="6513501"/>
            <a:ext cx="6024668" cy="1409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dirty="0">
                <a:solidFill>
                  <a:srgbClr val="5A5347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Tracks each option’s mean reward across every past trial - the long-run estimate of which side pays better.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EC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533" y="914400"/>
            <a:ext cx="17937626" cy="325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kern="0" spc="300" dirty="0">
                <a:solidFill>
                  <a:srgbClr val="B3402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THE MODEL</a:t>
            </a:r>
            <a:endParaRPr lang="en-US" sz="1875" dirty="0"/>
          </a:p>
        </p:txBody>
      </p:sp>
      <p:sp>
        <p:nvSpPr>
          <p:cNvPr id="3" name="Text 1"/>
          <p:cNvSpPr/>
          <p:nvPr/>
        </p:nvSpPr>
        <p:spPr>
          <a:xfrm>
            <a:off x="990533" y="1335432"/>
            <a:ext cx="17937626" cy="5828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900" b="1" kern="0" spc="-58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The four mechanisms of CATIE</a:t>
            </a:r>
            <a:endParaRPr lang="en-US" sz="3900" dirty="0"/>
          </a:p>
        </p:txBody>
      </p:sp>
      <p:sp>
        <p:nvSpPr>
          <p:cNvPr id="4" name="Shape 2"/>
          <p:cNvSpPr/>
          <p:nvPr/>
        </p:nvSpPr>
        <p:spPr>
          <a:xfrm>
            <a:off x="990533" y="2261122"/>
            <a:ext cx="2590034" cy="529137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6394">
            <a:solidFill>
              <a:srgbClr val="E4DBC9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5" name="Text 3"/>
          <p:cNvSpPr/>
          <p:nvPr/>
        </p:nvSpPr>
        <p:spPr>
          <a:xfrm>
            <a:off x="1225528" y="2381816"/>
            <a:ext cx="2197746" cy="32584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897F6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Cumulative average</a:t>
            </a:r>
            <a:endParaRPr lang="en-US" sz="1875" dirty="0"/>
          </a:p>
        </p:txBody>
      </p:sp>
      <p:sp>
        <p:nvSpPr>
          <p:cNvPr id="6" name="Shape 4"/>
          <p:cNvSpPr/>
          <p:nvPr/>
        </p:nvSpPr>
        <p:spPr>
          <a:xfrm>
            <a:off x="3713851" y="2261122"/>
            <a:ext cx="1089047" cy="529137"/>
          </a:xfrm>
          <a:prstGeom prst="roundRect">
            <a:avLst>
              <a:gd name="adj" fmla="val 50000"/>
            </a:avLst>
          </a:prstGeom>
          <a:solidFill>
            <a:srgbClr val="B3402F"/>
          </a:solidFill>
          <a:ln w="6394">
            <a:solidFill>
              <a:srgbClr val="B3402F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7" name="Text 5"/>
          <p:cNvSpPr/>
          <p:nvPr/>
        </p:nvSpPr>
        <p:spPr>
          <a:xfrm>
            <a:off x="3948845" y="2381816"/>
            <a:ext cx="695258" cy="32584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Trend</a:t>
            </a:r>
            <a:endParaRPr lang="en-US" sz="1875" dirty="0"/>
          </a:p>
        </p:txBody>
      </p:sp>
      <p:sp>
        <p:nvSpPr>
          <p:cNvPr id="8" name="Shape 6"/>
          <p:cNvSpPr/>
          <p:nvPr/>
        </p:nvSpPr>
        <p:spPr>
          <a:xfrm>
            <a:off x="4936181" y="2261122"/>
            <a:ext cx="1191358" cy="529137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6394">
            <a:solidFill>
              <a:srgbClr val="E4DBC9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9" name="Text 7"/>
          <p:cNvSpPr/>
          <p:nvPr/>
        </p:nvSpPr>
        <p:spPr>
          <a:xfrm>
            <a:off x="5171176" y="2381816"/>
            <a:ext cx="797569" cy="32584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897F6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Inertia</a:t>
            </a:r>
            <a:endParaRPr lang="en-US" sz="1875" dirty="0"/>
          </a:p>
        </p:txBody>
      </p:sp>
      <p:sp>
        <p:nvSpPr>
          <p:cNvPr id="10" name="Shape 8"/>
          <p:cNvSpPr/>
          <p:nvPr/>
        </p:nvSpPr>
        <p:spPr>
          <a:xfrm>
            <a:off x="6260822" y="2261122"/>
            <a:ext cx="1716998" cy="529137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6394">
            <a:solidFill>
              <a:srgbClr val="E4DBC9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1" name="Text 9"/>
          <p:cNvSpPr/>
          <p:nvPr/>
        </p:nvSpPr>
        <p:spPr>
          <a:xfrm>
            <a:off x="6495817" y="2381816"/>
            <a:ext cx="1323209" cy="32584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897F6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Exploration</a:t>
            </a:r>
            <a:endParaRPr lang="en-US" sz="1875" dirty="0"/>
          </a:p>
        </p:txBody>
      </p:sp>
      <p:sp>
        <p:nvSpPr>
          <p:cNvPr id="12" name="Shape 10"/>
          <p:cNvSpPr/>
          <p:nvPr/>
        </p:nvSpPr>
        <p:spPr>
          <a:xfrm>
            <a:off x="990533" y="5062171"/>
            <a:ext cx="2857500" cy="2857500"/>
          </a:xfrm>
          <a:prstGeom prst="roundRect">
            <a:avLst>
              <a:gd name="adj" fmla="val 9333"/>
            </a:avLst>
          </a:prstGeom>
          <a:solidFill>
            <a:srgbClr val="E6EEF0"/>
          </a:solidFill>
          <a:ln w="6394">
            <a:solidFill>
              <a:srgbClr val="CFE0E3"/>
            </a:solidFill>
            <a:prstDash val="solid"/>
          </a:ln>
          <a:effectLst>
            <a:outerShdw blurRad="266700" dist="57150" dir="5400000" algn="bl" rotWithShape="0">
              <a:srgbClr val="463723">
                <a:alpha val="5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09692" y="5776546"/>
            <a:ext cx="1619183" cy="142875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4533833" y="5096841"/>
            <a:ext cx="14039996" cy="325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kern="0" spc="150" dirty="0">
                <a:solidFill>
                  <a:srgbClr val="BFA06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MECHANISM 02 / 04</a:t>
            </a:r>
            <a:endParaRPr lang="en-US" sz="1875" dirty="0"/>
          </a:p>
        </p:txBody>
      </p:sp>
      <p:sp>
        <p:nvSpPr>
          <p:cNvPr id="15" name="Text 12"/>
          <p:cNvSpPr/>
          <p:nvPr/>
        </p:nvSpPr>
        <p:spPr>
          <a:xfrm>
            <a:off x="4533833" y="5536956"/>
            <a:ext cx="14039996" cy="7670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4800" b="1" kern="0" spc="-96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Trend</a:t>
            </a:r>
            <a:endParaRPr lang="en-US" sz="4800" dirty="0"/>
          </a:p>
        </p:txBody>
      </p:sp>
      <p:sp>
        <p:nvSpPr>
          <p:cNvPr id="16" name="Shape 13"/>
          <p:cNvSpPr/>
          <p:nvPr/>
        </p:nvSpPr>
        <p:spPr>
          <a:xfrm>
            <a:off x="4533833" y="6513501"/>
            <a:ext cx="25578" cy="1371600"/>
          </a:xfrm>
          <a:prstGeom prst="rect">
            <a:avLst/>
          </a:prstGeom>
          <a:solidFill>
            <a:srgbClr val="2F6B7A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7" name="Text 14"/>
          <p:cNvSpPr/>
          <p:nvPr/>
        </p:nvSpPr>
        <p:spPr>
          <a:xfrm>
            <a:off x="4788011" y="6513501"/>
            <a:ext cx="6024668" cy="1409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dirty="0">
                <a:solidFill>
                  <a:srgbClr val="5A5347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Weights recent outcomes more heavily, sensing whether an option is climbing or fading right now.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EC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533" y="914400"/>
            <a:ext cx="17937626" cy="325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kern="0" spc="300" dirty="0">
                <a:solidFill>
                  <a:srgbClr val="B3402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THE MODEL</a:t>
            </a:r>
            <a:endParaRPr lang="en-US" sz="1875" dirty="0"/>
          </a:p>
        </p:txBody>
      </p:sp>
      <p:sp>
        <p:nvSpPr>
          <p:cNvPr id="3" name="Text 1"/>
          <p:cNvSpPr/>
          <p:nvPr/>
        </p:nvSpPr>
        <p:spPr>
          <a:xfrm>
            <a:off x="990533" y="1335432"/>
            <a:ext cx="17937626" cy="5828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900" b="1" kern="0" spc="-58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The four mechanisms of CATIE</a:t>
            </a:r>
            <a:endParaRPr lang="en-US" sz="3900" dirty="0"/>
          </a:p>
        </p:txBody>
      </p:sp>
      <p:sp>
        <p:nvSpPr>
          <p:cNvPr id="4" name="Shape 2"/>
          <p:cNvSpPr/>
          <p:nvPr/>
        </p:nvSpPr>
        <p:spPr>
          <a:xfrm>
            <a:off x="990533" y="2261122"/>
            <a:ext cx="2590034" cy="529137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6394">
            <a:solidFill>
              <a:srgbClr val="E4DBC9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5" name="Text 3"/>
          <p:cNvSpPr/>
          <p:nvPr/>
        </p:nvSpPr>
        <p:spPr>
          <a:xfrm>
            <a:off x="1225528" y="2381816"/>
            <a:ext cx="2197746" cy="32584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897F6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Cumulative average</a:t>
            </a:r>
            <a:endParaRPr lang="en-US" sz="1875" dirty="0"/>
          </a:p>
        </p:txBody>
      </p:sp>
      <p:sp>
        <p:nvSpPr>
          <p:cNvPr id="6" name="Shape 4"/>
          <p:cNvSpPr/>
          <p:nvPr/>
        </p:nvSpPr>
        <p:spPr>
          <a:xfrm>
            <a:off x="3713851" y="2261122"/>
            <a:ext cx="1089047" cy="529137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6394">
            <a:solidFill>
              <a:srgbClr val="E4DBC9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7" name="Text 5"/>
          <p:cNvSpPr/>
          <p:nvPr/>
        </p:nvSpPr>
        <p:spPr>
          <a:xfrm>
            <a:off x="3948845" y="2381816"/>
            <a:ext cx="695258" cy="32584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897F6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Trend</a:t>
            </a:r>
            <a:endParaRPr lang="en-US" sz="1875" dirty="0"/>
          </a:p>
        </p:txBody>
      </p:sp>
      <p:sp>
        <p:nvSpPr>
          <p:cNvPr id="8" name="Shape 6"/>
          <p:cNvSpPr/>
          <p:nvPr/>
        </p:nvSpPr>
        <p:spPr>
          <a:xfrm>
            <a:off x="4936181" y="2261122"/>
            <a:ext cx="1191358" cy="529137"/>
          </a:xfrm>
          <a:prstGeom prst="roundRect">
            <a:avLst>
              <a:gd name="adj" fmla="val 50000"/>
            </a:avLst>
          </a:prstGeom>
          <a:solidFill>
            <a:srgbClr val="B3402F"/>
          </a:solidFill>
          <a:ln w="6394">
            <a:solidFill>
              <a:srgbClr val="B3402F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9" name="Text 7"/>
          <p:cNvSpPr/>
          <p:nvPr/>
        </p:nvSpPr>
        <p:spPr>
          <a:xfrm>
            <a:off x="5171176" y="2381816"/>
            <a:ext cx="797569" cy="32584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Inertia</a:t>
            </a:r>
            <a:endParaRPr lang="en-US" sz="1875" dirty="0"/>
          </a:p>
        </p:txBody>
      </p:sp>
      <p:sp>
        <p:nvSpPr>
          <p:cNvPr id="10" name="Shape 8"/>
          <p:cNvSpPr/>
          <p:nvPr/>
        </p:nvSpPr>
        <p:spPr>
          <a:xfrm>
            <a:off x="6260822" y="2261122"/>
            <a:ext cx="1716998" cy="529137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6394">
            <a:solidFill>
              <a:srgbClr val="E4DBC9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1" name="Text 9"/>
          <p:cNvSpPr/>
          <p:nvPr/>
        </p:nvSpPr>
        <p:spPr>
          <a:xfrm>
            <a:off x="6495817" y="2381816"/>
            <a:ext cx="1323209" cy="32584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897F6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Exploration</a:t>
            </a:r>
            <a:endParaRPr lang="en-US" sz="1875" dirty="0"/>
          </a:p>
        </p:txBody>
      </p:sp>
      <p:sp>
        <p:nvSpPr>
          <p:cNvPr id="12" name="Shape 10"/>
          <p:cNvSpPr/>
          <p:nvPr/>
        </p:nvSpPr>
        <p:spPr>
          <a:xfrm>
            <a:off x="990533" y="5062171"/>
            <a:ext cx="2857500" cy="2857500"/>
          </a:xfrm>
          <a:prstGeom prst="roundRect">
            <a:avLst>
              <a:gd name="adj" fmla="val 9333"/>
            </a:avLst>
          </a:prstGeom>
          <a:solidFill>
            <a:srgbClr val="E6EEF0"/>
          </a:solidFill>
          <a:ln w="6394">
            <a:solidFill>
              <a:srgbClr val="CFE0E3"/>
            </a:solidFill>
            <a:prstDash val="solid"/>
          </a:ln>
          <a:effectLst>
            <a:outerShdw blurRad="266700" dist="57150" dir="5400000" algn="bl" rotWithShape="0">
              <a:srgbClr val="463723">
                <a:alpha val="5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09692" y="5776546"/>
            <a:ext cx="1619183" cy="142875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4533833" y="5096841"/>
            <a:ext cx="14039996" cy="325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kern="0" spc="150" dirty="0">
                <a:solidFill>
                  <a:srgbClr val="BFA06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MECHANISM 03 / 04</a:t>
            </a:r>
            <a:endParaRPr lang="en-US" sz="1875" dirty="0"/>
          </a:p>
        </p:txBody>
      </p:sp>
      <p:sp>
        <p:nvSpPr>
          <p:cNvPr id="15" name="Text 12"/>
          <p:cNvSpPr/>
          <p:nvPr/>
        </p:nvSpPr>
        <p:spPr>
          <a:xfrm>
            <a:off x="4533833" y="5536956"/>
            <a:ext cx="14039996" cy="7670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4800" b="1" kern="0" spc="-96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Inertia</a:t>
            </a:r>
            <a:endParaRPr lang="en-US" sz="4800" dirty="0"/>
          </a:p>
        </p:txBody>
      </p:sp>
      <p:sp>
        <p:nvSpPr>
          <p:cNvPr id="16" name="Shape 13"/>
          <p:cNvSpPr/>
          <p:nvPr/>
        </p:nvSpPr>
        <p:spPr>
          <a:xfrm>
            <a:off x="4533833" y="6513501"/>
            <a:ext cx="25578" cy="1371600"/>
          </a:xfrm>
          <a:prstGeom prst="rect">
            <a:avLst/>
          </a:prstGeom>
          <a:solidFill>
            <a:srgbClr val="2F6B7A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7" name="Text 14"/>
          <p:cNvSpPr/>
          <p:nvPr/>
        </p:nvSpPr>
        <p:spPr>
          <a:xfrm>
            <a:off x="4788011" y="6513501"/>
            <a:ext cx="6024668" cy="1409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dirty="0">
                <a:solidFill>
                  <a:srgbClr val="5A5347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 pull toward repeating the previous choice - the tendency to stay put rather than switch sides.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EC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533" y="914400"/>
            <a:ext cx="17937626" cy="325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kern="0" spc="300" dirty="0">
                <a:solidFill>
                  <a:srgbClr val="B3402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THE MODEL</a:t>
            </a:r>
            <a:endParaRPr lang="en-US" sz="1875" dirty="0"/>
          </a:p>
        </p:txBody>
      </p:sp>
      <p:sp>
        <p:nvSpPr>
          <p:cNvPr id="3" name="Text 1"/>
          <p:cNvSpPr/>
          <p:nvPr/>
        </p:nvSpPr>
        <p:spPr>
          <a:xfrm>
            <a:off x="990533" y="1335432"/>
            <a:ext cx="17937626" cy="5828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900" b="1" kern="0" spc="-58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The four mechanisms of CATIE</a:t>
            </a:r>
            <a:endParaRPr lang="en-US" sz="3900" dirty="0"/>
          </a:p>
        </p:txBody>
      </p:sp>
      <p:sp>
        <p:nvSpPr>
          <p:cNvPr id="4" name="Shape 2"/>
          <p:cNvSpPr/>
          <p:nvPr/>
        </p:nvSpPr>
        <p:spPr>
          <a:xfrm>
            <a:off x="990533" y="2261122"/>
            <a:ext cx="2590034" cy="529137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6394">
            <a:solidFill>
              <a:srgbClr val="E4DBC9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5" name="Text 3"/>
          <p:cNvSpPr/>
          <p:nvPr/>
        </p:nvSpPr>
        <p:spPr>
          <a:xfrm>
            <a:off x="1225528" y="2381816"/>
            <a:ext cx="2197746" cy="32584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897F6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Cumulative average</a:t>
            </a:r>
            <a:endParaRPr lang="en-US" sz="1875" dirty="0"/>
          </a:p>
        </p:txBody>
      </p:sp>
      <p:sp>
        <p:nvSpPr>
          <p:cNvPr id="6" name="Shape 4"/>
          <p:cNvSpPr/>
          <p:nvPr/>
        </p:nvSpPr>
        <p:spPr>
          <a:xfrm>
            <a:off x="3713851" y="2261122"/>
            <a:ext cx="1089047" cy="529137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6394">
            <a:solidFill>
              <a:srgbClr val="E4DBC9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7" name="Text 5"/>
          <p:cNvSpPr/>
          <p:nvPr/>
        </p:nvSpPr>
        <p:spPr>
          <a:xfrm>
            <a:off x="3948845" y="2381816"/>
            <a:ext cx="695258" cy="32584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897F6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Trend</a:t>
            </a:r>
            <a:endParaRPr lang="en-US" sz="1875" dirty="0"/>
          </a:p>
        </p:txBody>
      </p:sp>
      <p:sp>
        <p:nvSpPr>
          <p:cNvPr id="8" name="Shape 6"/>
          <p:cNvSpPr/>
          <p:nvPr/>
        </p:nvSpPr>
        <p:spPr>
          <a:xfrm>
            <a:off x="4936181" y="2261122"/>
            <a:ext cx="1191358" cy="529137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6394">
            <a:solidFill>
              <a:srgbClr val="E4DBC9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9" name="Text 7"/>
          <p:cNvSpPr/>
          <p:nvPr/>
        </p:nvSpPr>
        <p:spPr>
          <a:xfrm>
            <a:off x="5171176" y="2381816"/>
            <a:ext cx="797569" cy="32584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897F6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Inertia</a:t>
            </a:r>
            <a:endParaRPr lang="en-US" sz="1875" dirty="0"/>
          </a:p>
        </p:txBody>
      </p:sp>
      <p:sp>
        <p:nvSpPr>
          <p:cNvPr id="10" name="Shape 8"/>
          <p:cNvSpPr/>
          <p:nvPr/>
        </p:nvSpPr>
        <p:spPr>
          <a:xfrm>
            <a:off x="6260822" y="2261122"/>
            <a:ext cx="1716998" cy="529137"/>
          </a:xfrm>
          <a:prstGeom prst="roundRect">
            <a:avLst>
              <a:gd name="adj" fmla="val 50000"/>
            </a:avLst>
          </a:prstGeom>
          <a:solidFill>
            <a:srgbClr val="B3402F"/>
          </a:solidFill>
          <a:ln w="6394">
            <a:solidFill>
              <a:srgbClr val="B3402F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1" name="Text 9"/>
          <p:cNvSpPr/>
          <p:nvPr/>
        </p:nvSpPr>
        <p:spPr>
          <a:xfrm>
            <a:off x="6495817" y="2381816"/>
            <a:ext cx="1323209" cy="32584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Exploration</a:t>
            </a:r>
            <a:endParaRPr lang="en-US" sz="1875" dirty="0"/>
          </a:p>
        </p:txBody>
      </p:sp>
      <p:sp>
        <p:nvSpPr>
          <p:cNvPr id="12" name="Shape 10"/>
          <p:cNvSpPr/>
          <p:nvPr/>
        </p:nvSpPr>
        <p:spPr>
          <a:xfrm>
            <a:off x="990533" y="5062171"/>
            <a:ext cx="2857500" cy="2857500"/>
          </a:xfrm>
          <a:prstGeom prst="roundRect">
            <a:avLst>
              <a:gd name="adj" fmla="val 9333"/>
            </a:avLst>
          </a:prstGeom>
          <a:solidFill>
            <a:srgbClr val="E6EEF0"/>
          </a:solidFill>
          <a:ln w="6394">
            <a:solidFill>
              <a:srgbClr val="CFE0E3"/>
            </a:solidFill>
            <a:prstDash val="solid"/>
          </a:ln>
          <a:effectLst>
            <a:outerShdw blurRad="266700" dist="57150" dir="5400000" algn="bl" rotWithShape="0">
              <a:srgbClr val="463723">
                <a:alpha val="5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09692" y="5776546"/>
            <a:ext cx="1619183" cy="142875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4533833" y="5096841"/>
            <a:ext cx="14039996" cy="325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kern="0" spc="150" dirty="0">
                <a:solidFill>
                  <a:srgbClr val="BFA06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MECHANISM 04 / 04</a:t>
            </a:r>
            <a:endParaRPr lang="en-US" sz="1875" dirty="0"/>
          </a:p>
        </p:txBody>
      </p:sp>
      <p:sp>
        <p:nvSpPr>
          <p:cNvPr id="15" name="Text 12"/>
          <p:cNvSpPr/>
          <p:nvPr/>
        </p:nvSpPr>
        <p:spPr>
          <a:xfrm>
            <a:off x="4533833" y="5536956"/>
            <a:ext cx="14039996" cy="7670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4800" b="1" kern="0" spc="-96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Exploration</a:t>
            </a:r>
            <a:endParaRPr lang="en-US" sz="4800" dirty="0"/>
          </a:p>
        </p:txBody>
      </p:sp>
      <p:sp>
        <p:nvSpPr>
          <p:cNvPr id="16" name="Shape 13"/>
          <p:cNvSpPr/>
          <p:nvPr/>
        </p:nvSpPr>
        <p:spPr>
          <a:xfrm>
            <a:off x="4533833" y="6513501"/>
            <a:ext cx="25578" cy="1371600"/>
          </a:xfrm>
          <a:prstGeom prst="rect">
            <a:avLst/>
          </a:prstGeom>
          <a:solidFill>
            <a:srgbClr val="2F6B7A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7" name="Text 14"/>
          <p:cNvSpPr/>
          <p:nvPr/>
        </p:nvSpPr>
        <p:spPr>
          <a:xfrm>
            <a:off x="4788011" y="6513501"/>
            <a:ext cx="6024668" cy="1409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dirty="0">
                <a:solidFill>
                  <a:srgbClr val="5A5347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Occasional, deliberate deviation from the favored option - sampling the alternative to keep learning.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EC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533" y="914400"/>
            <a:ext cx="3694088" cy="325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kern="0" spc="300" dirty="0">
                <a:solidFill>
                  <a:srgbClr val="B3402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DEFINING THE METRIC</a:t>
            </a:r>
            <a:endParaRPr lang="en-US" sz="1875" dirty="0"/>
          </a:p>
        </p:txBody>
      </p:sp>
      <p:sp>
        <p:nvSpPr>
          <p:cNvPr id="3" name="Text 1"/>
          <p:cNvSpPr/>
          <p:nvPr/>
        </p:nvSpPr>
        <p:spPr>
          <a:xfrm>
            <a:off x="990533" y="1335432"/>
            <a:ext cx="3694088" cy="5828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900" b="1" kern="0" spc="-58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Surprise points</a:t>
            </a:r>
            <a:endParaRPr lang="en-US" sz="3900" dirty="0"/>
          </a:p>
        </p:txBody>
      </p:sp>
      <p:sp>
        <p:nvSpPr>
          <p:cNvPr id="4" name="Text 2"/>
          <p:cNvSpPr/>
          <p:nvPr/>
        </p:nvSpPr>
        <p:spPr>
          <a:xfrm>
            <a:off x="990533" y="3357463"/>
            <a:ext cx="6109147" cy="1323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5A5347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 </a:t>
            </a:r>
            <a:r>
              <a:rPr lang="en-US" sz="2250" b="1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surprise point: </a:t>
            </a:r>
            <a:r>
              <a:rPr lang="en-US" sz="2250" dirty="0">
                <a:solidFill>
                  <a:srgbClr val="5A5347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 trial where CATIE assigned </a:t>
            </a:r>
            <a:r>
              <a:rPr lang="en-US" sz="2250" b="1" dirty="0">
                <a:solidFill>
                  <a:srgbClr val="B3402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 &lt; 0.15 </a:t>
            </a:r>
            <a:r>
              <a:rPr lang="en-US" sz="2250" dirty="0">
                <a:solidFill>
                  <a:srgbClr val="5A5347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to the choice the participant actually made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990533" y="4948071"/>
            <a:ext cx="2483607" cy="99096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82000"/>
              </a:lnSpc>
              <a:buNone/>
            </a:pPr>
            <a:r>
              <a:rPr lang="en-US" sz="9150" b="1" kern="0" spc="-183" dirty="0">
                <a:solidFill>
                  <a:srgbClr val="B3402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9.1%</a:t>
            </a:r>
            <a:endParaRPr lang="en-US" sz="9150" dirty="0"/>
          </a:p>
        </p:txBody>
      </p:sp>
      <p:sp>
        <p:nvSpPr>
          <p:cNvPr id="6" name="Text 4"/>
          <p:cNvSpPr/>
          <p:nvPr/>
        </p:nvSpPr>
        <p:spPr>
          <a:xfrm>
            <a:off x="3419808" y="5568328"/>
            <a:ext cx="1390174" cy="3514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897F6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of all trials</a:t>
            </a:r>
            <a:endParaRPr lang="en-US" sz="2025" dirty="0"/>
          </a:p>
        </p:txBody>
      </p:sp>
      <p:sp>
        <p:nvSpPr>
          <p:cNvPr id="7" name="Text 5"/>
          <p:cNvSpPr/>
          <p:nvPr/>
        </p:nvSpPr>
        <p:spPr>
          <a:xfrm>
            <a:off x="990533" y="6053304"/>
            <a:ext cx="6524332" cy="332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897F6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4,454 surprise points out of 49,200 (in the EDA set)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90533" y="6671263"/>
            <a:ext cx="25578" cy="1928813"/>
          </a:xfrm>
          <a:prstGeom prst="rect">
            <a:avLst/>
          </a:prstGeom>
          <a:solidFill>
            <a:srgbClr val="B3402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9" name="Text 7"/>
          <p:cNvSpPr/>
          <p:nvPr/>
        </p:nvSpPr>
        <p:spPr>
          <a:xfrm>
            <a:off x="1225661" y="6671263"/>
            <a:ext cx="5874019" cy="1966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025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CATIE won on </a:t>
            </a:r>
            <a:r>
              <a:rPr lang="en-US" sz="2025" b="1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E(P) </a:t>
            </a:r>
            <a:r>
              <a:rPr lang="en-US" sz="2025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but lost to Q-Learning on </a:t>
            </a:r>
            <a:r>
              <a:rPr lang="en-US" sz="2025" b="1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E(log P)</a:t>
            </a:r>
            <a:r>
              <a:rPr lang="en-US" sz="2025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, penalized by “ </a:t>
            </a:r>
            <a:r>
              <a:rPr lang="en-US" sz="2025" i="1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 relatively large fraction of actions to which the model assigned a relatively small probability </a:t>
            </a:r>
            <a:r>
              <a:rPr lang="en-US" sz="2025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.” Those are the surprise points we investigate.</a:t>
            </a:r>
            <a:endParaRPr lang="en-US" sz="2025" dirty="0"/>
          </a:p>
        </p:txBody>
      </p:sp>
      <p:sp>
        <p:nvSpPr>
          <p:cNvPr id="10" name="Shape 8"/>
          <p:cNvSpPr/>
          <p:nvPr/>
        </p:nvSpPr>
        <p:spPr>
          <a:xfrm>
            <a:off x="7436094" y="2359236"/>
            <a:ext cx="9861372" cy="7238967"/>
          </a:xfrm>
          <a:prstGeom prst="roundRect">
            <a:avLst>
              <a:gd name="adj" fmla="val 2368"/>
            </a:avLst>
          </a:prstGeom>
          <a:solidFill>
            <a:srgbClr val="FBF8F2"/>
          </a:solidFill>
          <a:ln w="6394">
            <a:solidFill>
              <a:srgbClr val="E4DBC9"/>
            </a:solidFill>
            <a:prstDash val="solid"/>
          </a:ln>
          <a:effectLst>
            <a:outerShdw blurRad="266700" dist="57150" dir="5400000" algn="bl" rotWithShape="0">
              <a:srgbClr val="463723">
                <a:alpha val="5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 t="-14515" b="-14515"/>
          <a:stretch/>
        </p:blipFill>
        <p:spPr>
          <a:xfrm>
            <a:off x="7728239" y="2651380"/>
            <a:ext cx="9277084" cy="665467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EC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533" y="914400"/>
            <a:ext cx="7648539" cy="325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kern="0" spc="300" dirty="0">
                <a:solidFill>
                  <a:srgbClr val="B3402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HYPOTHESIS 1 · REACTION TIME</a:t>
            </a:r>
            <a:endParaRPr lang="en-US" sz="1875" dirty="0"/>
          </a:p>
        </p:txBody>
      </p:sp>
      <p:sp>
        <p:nvSpPr>
          <p:cNvPr id="3" name="Text 1"/>
          <p:cNvSpPr/>
          <p:nvPr/>
        </p:nvSpPr>
        <p:spPr>
          <a:xfrm>
            <a:off x="990533" y="1335432"/>
            <a:ext cx="7161813" cy="11275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900" b="1" kern="0" spc="-58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Does surprise slow people down?</a:t>
            </a:r>
            <a:endParaRPr lang="en-US" sz="3900" dirty="0"/>
          </a:p>
        </p:txBody>
      </p:sp>
      <p:sp>
        <p:nvSpPr>
          <p:cNvPr id="4" name="Text 2"/>
          <p:cNvSpPr/>
          <p:nvPr/>
        </p:nvSpPr>
        <p:spPr>
          <a:xfrm>
            <a:off x="990533" y="4865343"/>
            <a:ext cx="5639260" cy="1323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5A5347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The intuition: when the model is surprised, the participant should </a:t>
            </a:r>
            <a:r>
              <a:rPr lang="en-US" sz="2250" b="1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hesitate </a:t>
            </a:r>
            <a:r>
              <a:rPr lang="en-US" sz="2250" dirty="0">
                <a:solidFill>
                  <a:srgbClr val="5A5347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so reaction time should rise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990533" y="6436968"/>
            <a:ext cx="25578" cy="1199850"/>
          </a:xfrm>
          <a:prstGeom prst="rect">
            <a:avLst/>
          </a:prstGeom>
          <a:solidFill>
            <a:srgbClr val="2F6B7A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6" name="Text 4"/>
          <p:cNvSpPr/>
          <p:nvPr/>
        </p:nvSpPr>
        <p:spPr>
          <a:xfrm>
            <a:off x="1225661" y="6436968"/>
            <a:ext cx="5404133" cy="1237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At threshold </a:t>
            </a:r>
            <a:r>
              <a:rPr lang="en-US" sz="2100" b="1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X = 10% </a:t>
            </a:r>
            <a:r>
              <a:rPr lang="en-US" sz="2100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, the difference is real but </a:t>
            </a:r>
            <a:r>
              <a:rPr lang="en-US" sz="2100" b="1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small and consistent </a:t>
            </a:r>
            <a:r>
              <a:rPr lang="en-US" sz="2100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: Surprise slowest, Autopilot fastest.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6979893" y="2786762"/>
            <a:ext cx="10317574" cy="6928738"/>
          </a:xfrm>
          <a:prstGeom prst="roundRect">
            <a:avLst>
              <a:gd name="adj" fmla="val 2474"/>
            </a:avLst>
          </a:prstGeom>
          <a:solidFill>
            <a:srgbClr val="FBF8F2"/>
          </a:solidFill>
          <a:ln w="6394">
            <a:solidFill>
              <a:srgbClr val="E4DBC9"/>
            </a:solidFill>
            <a:prstDash val="solid"/>
          </a:ln>
          <a:effectLst>
            <a:outerShdw blurRad="266700" dist="57150" dir="5400000" algn="bl" rotWithShape="0">
              <a:srgbClr val="463723">
                <a:alpha val="5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4067" r="-4067"/>
          <a:stretch/>
        </p:blipFill>
        <p:spPr>
          <a:xfrm>
            <a:off x="7272038" y="3078906"/>
            <a:ext cx="9733284" cy="634444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EC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533" y="914400"/>
            <a:ext cx="7648539" cy="325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kern="0" spc="300" dirty="0">
                <a:solidFill>
                  <a:srgbClr val="B3402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HYPOTHESIS 1 · REJECTED</a:t>
            </a:r>
            <a:endParaRPr lang="en-US" sz="1875" dirty="0"/>
          </a:p>
        </p:txBody>
      </p:sp>
      <p:sp>
        <p:nvSpPr>
          <p:cNvPr id="3" name="Text 1"/>
          <p:cNvSpPr/>
          <p:nvPr/>
        </p:nvSpPr>
        <p:spPr>
          <a:xfrm>
            <a:off x="990533" y="1335432"/>
            <a:ext cx="7161813" cy="11275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900" b="1" kern="0" spc="-58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 dramatic U-shape - that turned out to be an artifact</a:t>
            </a:r>
            <a:endParaRPr lang="en-US" sz="3900" dirty="0"/>
          </a:p>
        </p:txBody>
      </p:sp>
      <p:sp>
        <p:nvSpPr>
          <p:cNvPr id="4" name="Shape 2"/>
          <p:cNvSpPr/>
          <p:nvPr/>
        </p:nvSpPr>
        <p:spPr>
          <a:xfrm>
            <a:off x="990533" y="2786762"/>
            <a:ext cx="10317574" cy="6928738"/>
          </a:xfrm>
          <a:prstGeom prst="roundRect">
            <a:avLst>
              <a:gd name="adj" fmla="val 2474"/>
            </a:avLst>
          </a:prstGeom>
          <a:solidFill>
            <a:srgbClr val="FBF8F2"/>
          </a:solidFill>
          <a:ln w="6394">
            <a:solidFill>
              <a:srgbClr val="E4DBC9"/>
            </a:solidFill>
            <a:prstDash val="solid"/>
          </a:ln>
          <a:effectLst>
            <a:outerShdw blurRad="266700" dist="57150" dir="5400000" algn="bl" rotWithShape="0">
              <a:srgbClr val="463723">
                <a:alpha val="5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l="-4067" r="-4067"/>
          <a:stretch/>
        </p:blipFill>
        <p:spPr>
          <a:xfrm>
            <a:off x="1282678" y="3078906"/>
            <a:ext cx="9733284" cy="634444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22456" y="5079656"/>
            <a:ext cx="5639260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5A5347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At </a:t>
            </a:r>
            <a:r>
              <a:rPr lang="en-US" sz="2250" b="1" dirty="0">
                <a:solidFill>
                  <a:srgbClr val="5A5347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X = 5% </a:t>
            </a:r>
            <a:r>
              <a:rPr lang="en-US" sz="2250" dirty="0">
                <a:solidFill>
                  <a:srgbClr val="5A5347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the effect looked huge until we checked the counts: </a:t>
            </a:r>
            <a:r>
              <a:rPr lang="en-US" sz="2250" b="1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 = 195 </a:t>
            </a:r>
            <a:r>
              <a:rPr lang="en-US" sz="2250" dirty="0">
                <a:solidFill>
                  <a:srgbClr val="5A5347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and </a:t>
            </a:r>
            <a:r>
              <a:rPr lang="en-US" sz="2250" b="1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509</a:t>
            </a:r>
            <a:r>
              <a:rPr lang="en-US" sz="2250" dirty="0">
                <a:solidFill>
                  <a:srgbClr val="5A5347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.</a:t>
            </a:r>
            <a:endParaRPr lang="en-US" sz="2250" dirty="0"/>
          </a:p>
        </p:txBody>
      </p:sp>
      <p:sp>
        <p:nvSpPr>
          <p:cNvPr id="7" name="Shape 4"/>
          <p:cNvSpPr/>
          <p:nvPr/>
        </p:nvSpPr>
        <p:spPr>
          <a:xfrm>
            <a:off x="11822456" y="6222656"/>
            <a:ext cx="25578" cy="1199850"/>
          </a:xfrm>
          <a:prstGeom prst="rect">
            <a:avLst/>
          </a:prstGeom>
          <a:solidFill>
            <a:srgbClr val="B3402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8" name="Text 5"/>
          <p:cNvSpPr/>
          <p:nvPr/>
        </p:nvSpPr>
        <p:spPr>
          <a:xfrm>
            <a:off x="12057584" y="6222656"/>
            <a:ext cx="5404133" cy="1237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b="1" dirty="0">
                <a:solidFill>
                  <a:srgbClr val="B3402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Rejected. </a:t>
            </a:r>
            <a:r>
              <a:rPr lang="en-US" sz="2100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Tiny groups inflate z-scores, and a 1.5 s measurement floor distorts the rest. An artifact, ruled out on data, not a guess.</a:t>
            </a:r>
            <a:endParaRPr lang="en-US" sz="2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EC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533" y="914400"/>
            <a:ext cx="8285871" cy="325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kern="0" spc="300" dirty="0">
                <a:solidFill>
                  <a:srgbClr val="B3402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HYPOTHESIS 2 · BEHAVIORAL HISTORY</a:t>
            </a:r>
            <a:endParaRPr lang="en-US" sz="1875" dirty="0"/>
          </a:p>
        </p:txBody>
      </p:sp>
      <p:sp>
        <p:nvSpPr>
          <p:cNvPr id="3" name="Text 1"/>
          <p:cNvSpPr/>
          <p:nvPr/>
        </p:nvSpPr>
        <p:spPr>
          <a:xfrm>
            <a:off x="990533" y="1335432"/>
            <a:ext cx="7758588" cy="11275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900" b="1" kern="0" spc="-58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 perfect correlate - that we excluded on principle</a:t>
            </a:r>
            <a:endParaRPr lang="en-US" sz="3900" dirty="0"/>
          </a:p>
        </p:txBody>
      </p:sp>
      <p:sp>
        <p:nvSpPr>
          <p:cNvPr id="4" name="Shape 2"/>
          <p:cNvSpPr/>
          <p:nvPr/>
        </p:nvSpPr>
        <p:spPr>
          <a:xfrm>
            <a:off x="990533" y="2767778"/>
            <a:ext cx="9557138" cy="6947721"/>
          </a:xfrm>
          <a:prstGeom prst="roundRect">
            <a:avLst>
              <a:gd name="adj" fmla="val 2468"/>
            </a:avLst>
          </a:prstGeom>
          <a:solidFill>
            <a:srgbClr val="FBF8F2"/>
          </a:solidFill>
          <a:ln w="6394">
            <a:solidFill>
              <a:srgbClr val="E4DBC9"/>
            </a:solidFill>
            <a:prstDash val="solid"/>
          </a:ln>
          <a:effectLst>
            <a:outerShdw blurRad="266700" dist="57150" dir="5400000" algn="bl" rotWithShape="0">
              <a:srgbClr val="463723">
                <a:alpha val="5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t="-14379" b="-14379"/>
          <a:stretch/>
        </p:blipFill>
        <p:spPr>
          <a:xfrm>
            <a:off x="1282678" y="3059923"/>
            <a:ext cx="8972849" cy="636343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062021" y="4374573"/>
            <a:ext cx="6422508" cy="12811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5A5347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 prior physical side-switch is the strongest correlate — </a:t>
            </a:r>
            <a:r>
              <a:rPr lang="en-US" sz="2250" b="1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Cohen’s d = 2.15 </a:t>
            </a:r>
            <a:r>
              <a:rPr lang="en-US" sz="2250" dirty="0">
                <a:solidFill>
                  <a:srgbClr val="5A5347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. Too good to be true.</a:t>
            </a:r>
            <a:endParaRPr lang="en-US" sz="2250" dirty="0"/>
          </a:p>
        </p:txBody>
      </p:sp>
      <p:sp>
        <p:nvSpPr>
          <p:cNvPr id="7" name="Shape 4"/>
          <p:cNvSpPr/>
          <p:nvPr/>
        </p:nvSpPr>
        <p:spPr>
          <a:xfrm>
            <a:off x="11062021" y="5865169"/>
            <a:ext cx="1521469" cy="452804"/>
          </a:xfrm>
          <a:prstGeom prst="roundRect">
            <a:avLst>
              <a:gd name="adj" fmla="val 21036"/>
            </a:avLst>
          </a:prstGeom>
          <a:solidFill>
            <a:srgbClr val="E6EEF0"/>
          </a:solidFill>
          <a:ln w="6394">
            <a:solidFill>
              <a:srgbClr val="CFE0E3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8" name="Text 5"/>
          <p:cNvSpPr/>
          <p:nvPr/>
        </p:nvSpPr>
        <p:spPr>
          <a:xfrm>
            <a:off x="11220816" y="5947763"/>
            <a:ext cx="1280080" cy="3257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2F6B7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side switch</a:t>
            </a:r>
            <a:endParaRPr lang="en-US" sz="1875" dirty="0"/>
          </a:p>
        </p:txBody>
      </p:sp>
      <p:sp>
        <p:nvSpPr>
          <p:cNvPr id="9" name="Text 6"/>
          <p:cNvSpPr/>
          <p:nvPr/>
        </p:nvSpPr>
        <p:spPr>
          <a:xfrm>
            <a:off x="12697791" y="5947696"/>
            <a:ext cx="314292" cy="325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BFA06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→</a:t>
            </a:r>
            <a:endParaRPr lang="en-US" sz="1875" dirty="0"/>
          </a:p>
        </p:txBody>
      </p:sp>
      <p:sp>
        <p:nvSpPr>
          <p:cNvPr id="10" name="Shape 7"/>
          <p:cNvSpPr/>
          <p:nvPr/>
        </p:nvSpPr>
        <p:spPr>
          <a:xfrm>
            <a:off x="13050183" y="5865169"/>
            <a:ext cx="2329662" cy="452804"/>
          </a:xfrm>
          <a:prstGeom prst="roundRect">
            <a:avLst>
              <a:gd name="adj" fmla="val 21036"/>
            </a:avLst>
          </a:prstGeom>
          <a:solidFill>
            <a:srgbClr val="FBF8F2"/>
          </a:solidFill>
          <a:ln w="6394">
            <a:solidFill>
              <a:srgbClr val="E4DBC9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1" name="Text 8"/>
          <p:cNvSpPr/>
          <p:nvPr/>
        </p:nvSpPr>
        <p:spPr>
          <a:xfrm>
            <a:off x="13208977" y="5947763"/>
            <a:ext cx="2088273" cy="3257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5A5347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inertia mechanism</a:t>
            </a:r>
            <a:endParaRPr lang="en-US" sz="1875" dirty="0"/>
          </a:p>
        </p:txBody>
      </p:sp>
      <p:sp>
        <p:nvSpPr>
          <p:cNvPr id="12" name="Text 9"/>
          <p:cNvSpPr/>
          <p:nvPr/>
        </p:nvSpPr>
        <p:spPr>
          <a:xfrm>
            <a:off x="15494144" y="5947696"/>
            <a:ext cx="314292" cy="325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BFA06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→</a:t>
            </a:r>
            <a:endParaRPr lang="en-US" sz="1875" dirty="0"/>
          </a:p>
        </p:txBody>
      </p:sp>
      <p:sp>
        <p:nvSpPr>
          <p:cNvPr id="13" name="Shape 10"/>
          <p:cNvSpPr/>
          <p:nvPr/>
        </p:nvSpPr>
        <p:spPr>
          <a:xfrm>
            <a:off x="15846536" y="5865169"/>
            <a:ext cx="901811" cy="452804"/>
          </a:xfrm>
          <a:prstGeom prst="roundRect">
            <a:avLst>
              <a:gd name="adj" fmla="val 21036"/>
            </a:avLst>
          </a:prstGeom>
          <a:solidFill>
            <a:srgbClr val="F6E7E1"/>
          </a:solidFill>
          <a:ln w="6394">
            <a:solidFill>
              <a:srgbClr val="E9CABF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4" name="Text 11"/>
          <p:cNvSpPr/>
          <p:nvPr/>
        </p:nvSpPr>
        <p:spPr>
          <a:xfrm>
            <a:off x="16005331" y="5947763"/>
            <a:ext cx="660422" cy="3257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B3402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low p</a:t>
            </a:r>
            <a:endParaRPr lang="en-US" sz="1875" dirty="0"/>
          </a:p>
        </p:txBody>
      </p:sp>
      <p:sp>
        <p:nvSpPr>
          <p:cNvPr id="15" name="Shape 12"/>
          <p:cNvSpPr/>
          <p:nvPr/>
        </p:nvSpPr>
        <p:spPr>
          <a:xfrm>
            <a:off x="11062021" y="6565556"/>
            <a:ext cx="25578" cy="1543050"/>
          </a:xfrm>
          <a:prstGeom prst="rect">
            <a:avLst/>
          </a:prstGeom>
          <a:solidFill>
            <a:srgbClr val="B3402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6" name="Text 13"/>
          <p:cNvSpPr/>
          <p:nvPr/>
        </p:nvSpPr>
        <p:spPr>
          <a:xfrm>
            <a:off x="11297149" y="6565556"/>
            <a:ext cx="6187380" cy="1581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025" b="1" dirty="0">
                <a:solidFill>
                  <a:srgbClr val="B3402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Circular by construction: </a:t>
            </a:r>
            <a:r>
              <a:rPr lang="en-US" sz="2025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any feature built from the current choice is penalized by inertia. Inclusion criterion — analyze only features </a:t>
            </a:r>
            <a:r>
              <a:rPr lang="en-US" sz="2025" b="1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independent of the current choice.</a:t>
            </a:r>
            <a:endParaRPr lang="en-US" sz="202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EC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533" y="914400"/>
            <a:ext cx="7648539" cy="325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kern="0" spc="300" dirty="0">
                <a:solidFill>
                  <a:srgbClr val="B3402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CURRENT WORK</a:t>
            </a:r>
            <a:endParaRPr lang="en-US" sz="1875" dirty="0"/>
          </a:p>
        </p:txBody>
      </p:sp>
      <p:sp>
        <p:nvSpPr>
          <p:cNvPr id="3" name="Text 1"/>
          <p:cNvSpPr/>
          <p:nvPr/>
        </p:nvSpPr>
        <p:spPr>
          <a:xfrm>
            <a:off x="990533" y="1335432"/>
            <a:ext cx="7161813" cy="11275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900" b="1" kern="0" spc="-58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Calibration: is the confidence warranted?</a:t>
            </a:r>
            <a:endParaRPr lang="en-US" sz="3900" dirty="0"/>
          </a:p>
        </p:txBody>
      </p:sp>
      <p:sp>
        <p:nvSpPr>
          <p:cNvPr id="4" name="Text 2"/>
          <p:cNvSpPr/>
          <p:nvPr/>
        </p:nvSpPr>
        <p:spPr>
          <a:xfrm>
            <a:off x="990533" y="4641539"/>
            <a:ext cx="7382143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5A5347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New approach: stop hunting features — study </a:t>
            </a:r>
            <a:r>
              <a:rPr lang="en-US" sz="2250" b="1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 itself </a:t>
            </a:r>
            <a:r>
              <a:rPr lang="en-US" sz="2250" dirty="0">
                <a:solidFill>
                  <a:srgbClr val="5A5347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as a mathematical object. Bucket predictions and compare each bucket’s stated p to its empirical frequency.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990533" y="6641789"/>
            <a:ext cx="25578" cy="1199850"/>
          </a:xfrm>
          <a:prstGeom prst="rect">
            <a:avLst/>
          </a:prstGeom>
          <a:solidFill>
            <a:srgbClr val="2F6B7A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6" name="Text 4"/>
          <p:cNvSpPr/>
          <p:nvPr/>
        </p:nvSpPr>
        <p:spPr>
          <a:xfrm>
            <a:off x="1225661" y="6641789"/>
            <a:ext cx="7147016" cy="1237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The curve is </a:t>
            </a:r>
            <a:r>
              <a:rPr lang="en-US" sz="2100" b="1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non-monotonic</a:t>
            </a:r>
            <a:r>
              <a:rPr lang="en-US" sz="2100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: CATIE is </a:t>
            </a:r>
            <a:r>
              <a:rPr lang="en-US" sz="2100" i="1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under </a:t>
            </a:r>
            <a:r>
              <a:rPr lang="en-US" sz="2100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-confident at the low end, mildly </a:t>
            </a:r>
            <a:r>
              <a:rPr lang="en-US" sz="2100" i="1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over </a:t>
            </a:r>
            <a:r>
              <a:rPr lang="en-US" sz="2100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-confident at the top — specific zones of miscalibration, not a uniform bias.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8672013" y="2767778"/>
            <a:ext cx="8625454" cy="6947721"/>
          </a:xfrm>
          <a:prstGeom prst="roundRect">
            <a:avLst>
              <a:gd name="adj" fmla="val 2468"/>
            </a:avLst>
          </a:prstGeom>
          <a:solidFill>
            <a:srgbClr val="FBF8F2"/>
          </a:solidFill>
          <a:ln w="6394">
            <a:solidFill>
              <a:srgbClr val="E4DBC9"/>
            </a:solidFill>
            <a:prstDash val="solid"/>
          </a:ln>
          <a:effectLst>
            <a:outerShdw blurRad="266700" dist="57150" dir="5400000" algn="bl" rotWithShape="0">
              <a:srgbClr val="463723">
                <a:alpha val="5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13249" r="-13249"/>
          <a:stretch/>
        </p:blipFill>
        <p:spPr>
          <a:xfrm>
            <a:off x="8964157" y="3059923"/>
            <a:ext cx="8041165" cy="636343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EC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533" y="914400"/>
            <a:ext cx="7648539" cy="325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kern="0" spc="300" dirty="0">
                <a:solidFill>
                  <a:srgbClr val="B3402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CURRENT WORK</a:t>
            </a:r>
            <a:endParaRPr lang="en-US" sz="1875" dirty="0"/>
          </a:p>
        </p:txBody>
      </p:sp>
      <p:sp>
        <p:nvSpPr>
          <p:cNvPr id="3" name="Text 1"/>
          <p:cNvSpPr/>
          <p:nvPr/>
        </p:nvSpPr>
        <p:spPr>
          <a:xfrm>
            <a:off x="990533" y="1335432"/>
            <a:ext cx="7161813" cy="11275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900" b="1" kern="0" spc="-58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Calibration: does confidence drift over a session?</a:t>
            </a:r>
            <a:endParaRPr lang="en-US" sz="3900" dirty="0"/>
          </a:p>
        </p:txBody>
      </p:sp>
      <p:sp>
        <p:nvSpPr>
          <p:cNvPr id="4" name="Shape 2"/>
          <p:cNvSpPr/>
          <p:nvPr/>
        </p:nvSpPr>
        <p:spPr>
          <a:xfrm>
            <a:off x="990533" y="2812639"/>
            <a:ext cx="10469640" cy="6858000"/>
          </a:xfrm>
          <a:prstGeom prst="roundRect">
            <a:avLst>
              <a:gd name="adj" fmla="val 2500"/>
            </a:avLst>
          </a:prstGeom>
          <a:solidFill>
            <a:srgbClr val="FBF8F2"/>
          </a:solidFill>
          <a:ln w="6394">
            <a:solidFill>
              <a:srgbClr val="E4DBC9"/>
            </a:solidFill>
            <a:prstDash val="solid"/>
          </a:ln>
          <a:effectLst>
            <a:outerShdw blurRad="266700" dist="57150" dir="5400000" algn="bl" rotWithShape="0">
              <a:srgbClr val="463723">
                <a:alpha val="5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t="-14335" b="-14335"/>
          <a:stretch/>
        </p:blipFill>
        <p:spPr>
          <a:xfrm>
            <a:off x="1282678" y="3104784"/>
            <a:ext cx="9885351" cy="627371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974524" y="4855852"/>
            <a:ext cx="5482631" cy="1323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5A5347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Tracking mean confidence against trial number, </a:t>
            </a:r>
            <a:r>
              <a:rPr lang="en-US" sz="2250" b="1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separately per reward schedule </a:t>
            </a:r>
            <a:r>
              <a:rPr lang="en-US" sz="2250" dirty="0">
                <a:solidFill>
                  <a:srgbClr val="5A5347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(4, 5, 7 in this set).</a:t>
            </a:r>
            <a:endParaRPr lang="en-US" sz="2250" dirty="0"/>
          </a:p>
        </p:txBody>
      </p:sp>
      <p:sp>
        <p:nvSpPr>
          <p:cNvPr id="7" name="Shape 4"/>
          <p:cNvSpPr/>
          <p:nvPr/>
        </p:nvSpPr>
        <p:spPr>
          <a:xfrm>
            <a:off x="11974524" y="6427477"/>
            <a:ext cx="25578" cy="1199850"/>
          </a:xfrm>
          <a:prstGeom prst="rect">
            <a:avLst/>
          </a:prstGeom>
          <a:solidFill>
            <a:srgbClr val="2F6B7A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8" name="Text 5"/>
          <p:cNvSpPr/>
          <p:nvPr/>
        </p:nvSpPr>
        <p:spPr>
          <a:xfrm>
            <a:off x="12209651" y="6427477"/>
            <a:ext cx="5247504" cy="1237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Testing whether the model’s confidence </a:t>
            </a:r>
            <a:r>
              <a:rPr lang="en-US" sz="2100" b="1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systematically drifts </a:t>
            </a:r>
            <a:r>
              <a:rPr lang="en-US" sz="2100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as a session unfolds — or stays stable.</a:t>
            </a:r>
            <a:endParaRPr lang="en-US" sz="2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EC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533" y="914400"/>
            <a:ext cx="8756149" cy="325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kern="0" spc="300" dirty="0">
                <a:solidFill>
                  <a:srgbClr val="B3402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CURRENT WORK</a:t>
            </a:r>
            <a:endParaRPr lang="en-US" sz="1875" dirty="0"/>
          </a:p>
        </p:txBody>
      </p:sp>
      <p:sp>
        <p:nvSpPr>
          <p:cNvPr id="3" name="Text 1"/>
          <p:cNvSpPr/>
          <p:nvPr/>
        </p:nvSpPr>
        <p:spPr>
          <a:xfrm>
            <a:off x="990533" y="1335432"/>
            <a:ext cx="8756149" cy="5828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900" b="1" kern="0" spc="-58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High-confidence shrinkage </a:t>
            </a:r>
            <a:r>
              <a:rPr lang="en-US" sz="3900" b="1" kern="0" spc="-58" dirty="0">
                <a:solidFill>
                  <a:srgbClr val="B3402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(p &gt; 0.85)</a:t>
            </a:r>
            <a:endParaRPr lang="en-US" sz="3900" dirty="0"/>
          </a:p>
        </p:txBody>
      </p:sp>
      <p:sp>
        <p:nvSpPr>
          <p:cNvPr id="4" name="Shape 2"/>
          <p:cNvSpPr/>
          <p:nvPr/>
        </p:nvSpPr>
        <p:spPr>
          <a:xfrm>
            <a:off x="990533" y="2435469"/>
            <a:ext cx="9557138" cy="7048433"/>
          </a:xfrm>
          <a:prstGeom prst="roundRect">
            <a:avLst>
              <a:gd name="adj" fmla="val 2432"/>
            </a:avLst>
          </a:prstGeom>
          <a:solidFill>
            <a:srgbClr val="FBF8F2"/>
          </a:solidFill>
          <a:ln w="6394">
            <a:solidFill>
              <a:srgbClr val="E4DBC9"/>
            </a:solidFill>
            <a:prstDash val="solid"/>
          </a:ln>
          <a:effectLst>
            <a:outerShdw blurRad="266700" dist="57150" dir="5400000" algn="bl" rotWithShape="0">
              <a:srgbClr val="463723">
                <a:alpha val="5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t="-6385" b="-6385"/>
          <a:stretch/>
        </p:blipFill>
        <p:spPr>
          <a:xfrm>
            <a:off x="1282678" y="2727614"/>
            <a:ext cx="8972849" cy="64641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062021" y="4216011"/>
            <a:ext cx="6422508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5A5347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When CATIE is most confident, real accuracy </a:t>
            </a:r>
            <a:r>
              <a:rPr lang="en-US" sz="2250" b="1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lags </a:t>
            </a:r>
            <a:r>
              <a:rPr lang="en-US" sz="2250" dirty="0">
                <a:solidFill>
                  <a:srgbClr val="5A5347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what it claims.</a:t>
            </a:r>
            <a:endParaRPr lang="en-US" sz="2250" dirty="0"/>
          </a:p>
        </p:txBody>
      </p:sp>
      <p:sp>
        <p:nvSpPr>
          <p:cNvPr id="7" name="Text 4"/>
          <p:cNvSpPr/>
          <p:nvPr/>
        </p:nvSpPr>
        <p:spPr>
          <a:xfrm>
            <a:off x="11062021" y="5339928"/>
            <a:ext cx="2400300" cy="3066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44" dirty="0">
                <a:solidFill>
                  <a:srgbClr val="2F6B7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STATED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1062021" y="5665643"/>
            <a:ext cx="2400300" cy="6327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900" b="1" dirty="0">
                <a:solidFill>
                  <a:srgbClr val="2F6B7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0.88–0.95</a:t>
            </a:r>
            <a:endParaRPr lang="en-US" sz="3900" dirty="0"/>
          </a:p>
        </p:txBody>
      </p:sp>
      <p:sp>
        <p:nvSpPr>
          <p:cNvPr id="9" name="Text 6"/>
          <p:cNvSpPr/>
          <p:nvPr/>
        </p:nvSpPr>
        <p:spPr>
          <a:xfrm>
            <a:off x="13472713" y="5582716"/>
            <a:ext cx="438183" cy="47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850" dirty="0">
                <a:solidFill>
                  <a:srgbClr val="BFA06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→</a:t>
            </a:r>
            <a:endParaRPr lang="en-US" sz="2850" dirty="0"/>
          </a:p>
        </p:txBody>
      </p:sp>
      <p:sp>
        <p:nvSpPr>
          <p:cNvPr id="10" name="Text 7"/>
          <p:cNvSpPr/>
          <p:nvPr/>
        </p:nvSpPr>
        <p:spPr>
          <a:xfrm>
            <a:off x="14063296" y="5339928"/>
            <a:ext cx="2302815" cy="3066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44" dirty="0">
                <a:solidFill>
                  <a:srgbClr val="B3402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OBSERVED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4063296" y="5665643"/>
            <a:ext cx="2302815" cy="6327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900" b="1" dirty="0">
                <a:solidFill>
                  <a:srgbClr val="B3402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0.70–0.81</a:t>
            </a:r>
            <a:endParaRPr lang="en-US" sz="3900" dirty="0"/>
          </a:p>
        </p:txBody>
      </p:sp>
      <p:sp>
        <p:nvSpPr>
          <p:cNvPr id="12" name="Shape 9"/>
          <p:cNvSpPr/>
          <p:nvPr/>
        </p:nvSpPr>
        <p:spPr>
          <a:xfrm>
            <a:off x="11062021" y="6546073"/>
            <a:ext cx="25578" cy="1157288"/>
          </a:xfrm>
          <a:prstGeom prst="rect">
            <a:avLst/>
          </a:prstGeom>
          <a:solidFill>
            <a:srgbClr val="B3402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3" name="Text 10"/>
          <p:cNvSpPr/>
          <p:nvPr/>
        </p:nvSpPr>
        <p:spPr>
          <a:xfrm>
            <a:off x="11297149" y="6546073"/>
            <a:ext cx="6187380" cy="1195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025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Maybe no new model is needed — a </a:t>
            </a:r>
            <a:r>
              <a:rPr lang="en-US" sz="2025" b="1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monotonic transformation </a:t>
            </a:r>
            <a:r>
              <a:rPr lang="en-US" sz="2025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that compresses the extreme range of p could realign it with behavior.</a:t>
            </a:r>
            <a:endParaRPr lang="en-US" sz="2025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90532" y="914400"/>
            <a:ext cx="54864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75" b="1">
                <a:solidFill>
                  <a:srgbClr val="B3402F"/>
                </a:solidFill>
                <a:latin typeface="Fira Sans"/>
              </a:rPr>
              <a:t>TAKING STOCK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90532" y="1335432"/>
            <a:ext cx="12801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900" b="1">
                <a:solidFill>
                  <a:srgbClr val="2A2520"/>
                </a:solidFill>
                <a:latin typeface="Fira Sans"/>
              </a:rPr>
              <a:t>Three things we now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0532" y="2697480"/>
            <a:ext cx="36576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B3402F"/>
                </a:solidFill>
                <a:latin typeface="Fira Sans"/>
              </a:rPr>
              <a:t>FINDING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532" y="3063240"/>
            <a:ext cx="155448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2A2520"/>
                </a:solidFill>
                <a:latin typeface="Fira Sans"/>
              </a:rPr>
              <a:t>Reaction time: ruled 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532" y="3657600"/>
            <a:ext cx="155448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50" b="0">
                <a:solidFill>
                  <a:srgbClr val="2A2520"/>
                </a:solidFill>
                <a:latin typeface="Fira Sans"/>
              </a:rPr>
              <a:t>A dramatic effect looked real at first, but disappeared under scrutiny — small-sample inflation plus a 1.5s measurement floor. Ruled out on data, not guesswork.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532" y="4983480"/>
            <a:ext cx="36576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B3402F"/>
                </a:solidFill>
                <a:latin typeface="Fira Sans"/>
              </a:rPr>
              <a:t>FINDING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532" y="5349240"/>
            <a:ext cx="155448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2A2520"/>
                </a:solidFill>
                <a:latin typeface="Fira Sans"/>
              </a:rPr>
              <a:t>Side-switch: a circularity 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32" y="5943600"/>
            <a:ext cx="155448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50" b="0">
                <a:solidFill>
                  <a:srgbClr val="2A2520"/>
                </a:solidFill>
                <a:latin typeface="Fira Sans"/>
              </a:rPr>
              <a:t>The strongest behavioral correlate we found (d = 2.15) turned out to be built into CATIE’s own inertia mechanism — caught before it became a false discovery.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532" y="7269480"/>
            <a:ext cx="36576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B3402F"/>
                </a:solidFill>
                <a:latin typeface="Fira Sans"/>
              </a:rPr>
              <a:t>FINDING 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0532" y="7635240"/>
            <a:ext cx="155448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2A2520"/>
                </a:solidFill>
                <a:latin typeface="Fira Sans"/>
              </a:rPr>
              <a:t>Calibration: specific, fixable zones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32" y="8229600"/>
            <a:ext cx="155448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50" b="0">
                <a:solidFill>
                  <a:srgbClr val="2A2520"/>
                </a:solidFill>
                <a:latin typeface="Fira Sans"/>
              </a:rPr>
              <a:t>CATIE’s confidence isn’t uniformly off — it has structured over- and under-confident zones, and a simple shrinkage transform may be enough to fix the worst of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EC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533" y="914400"/>
            <a:ext cx="5930961" cy="325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kern="0" spc="300" dirty="0">
                <a:solidFill>
                  <a:srgbClr val="B3402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ROADMAP &amp; CONCLUSION</a:t>
            </a:r>
            <a:endParaRPr lang="en-US" sz="1875" dirty="0"/>
          </a:p>
        </p:txBody>
      </p:sp>
      <p:sp>
        <p:nvSpPr>
          <p:cNvPr id="3" name="Text 1"/>
          <p:cNvSpPr/>
          <p:nvPr/>
        </p:nvSpPr>
        <p:spPr>
          <a:xfrm>
            <a:off x="990533" y="1335432"/>
            <a:ext cx="5930961" cy="5828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900" b="1" kern="0" spc="-58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Three directions forward</a:t>
            </a:r>
            <a:endParaRPr lang="en-US" sz="3900" dirty="0"/>
          </a:p>
        </p:txBody>
      </p:sp>
      <p:sp>
        <p:nvSpPr>
          <p:cNvPr id="4" name="Shape 2"/>
          <p:cNvSpPr/>
          <p:nvPr/>
        </p:nvSpPr>
        <p:spPr>
          <a:xfrm>
            <a:off x="990533" y="3165131"/>
            <a:ext cx="5245111" cy="4762433"/>
          </a:xfrm>
          <a:prstGeom prst="roundRect">
            <a:avLst>
              <a:gd name="adj" fmla="val 3600"/>
            </a:avLst>
          </a:prstGeom>
          <a:solidFill>
            <a:srgbClr val="FBF8F2"/>
          </a:solidFill>
          <a:ln w="6394">
            <a:solidFill>
              <a:srgbClr val="E4DBC9"/>
            </a:solidFill>
            <a:prstDash val="solid"/>
          </a:ln>
          <a:effectLst>
            <a:outerShdw blurRad="266700" dist="57150" dir="5400000" algn="bl" rotWithShape="0">
              <a:srgbClr val="463723">
                <a:alpha val="5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5" name="Text 3"/>
          <p:cNvSpPr/>
          <p:nvPr/>
        </p:nvSpPr>
        <p:spPr>
          <a:xfrm>
            <a:off x="3447850" y="4285251"/>
            <a:ext cx="330478" cy="332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B3402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01</a:t>
            </a:r>
            <a:endParaRPr lang="en-US" sz="195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55839" y="4750843"/>
            <a:ext cx="914400" cy="6286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300123" y="5550944"/>
            <a:ext cx="2625933" cy="4089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Gradient Descent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212765" y="6093269"/>
            <a:ext cx="4800647" cy="752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875" dirty="0">
                <a:solidFill>
                  <a:srgbClr val="7A7264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Re-tune CATIE’s original parameters specifically on our data.</a:t>
            </a:r>
            <a:endParaRPr lang="en-US" sz="1875" dirty="0"/>
          </a:p>
        </p:txBody>
      </p:sp>
      <p:sp>
        <p:nvSpPr>
          <p:cNvPr id="9" name="Shape 6"/>
          <p:cNvSpPr/>
          <p:nvPr/>
        </p:nvSpPr>
        <p:spPr>
          <a:xfrm>
            <a:off x="6521394" y="3165131"/>
            <a:ext cx="5245211" cy="4762433"/>
          </a:xfrm>
          <a:prstGeom prst="roundRect">
            <a:avLst>
              <a:gd name="adj" fmla="val 3600"/>
            </a:avLst>
          </a:prstGeom>
          <a:solidFill>
            <a:srgbClr val="FBF8F2"/>
          </a:solidFill>
          <a:ln w="6394">
            <a:solidFill>
              <a:srgbClr val="E4DBC9"/>
            </a:solidFill>
            <a:prstDash val="solid"/>
          </a:ln>
          <a:effectLst>
            <a:outerShdw blurRad="266700" dist="57150" dir="5400000" algn="bl" rotWithShape="0">
              <a:srgbClr val="463723">
                <a:alpha val="5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0" name="Text 7"/>
          <p:cNvSpPr/>
          <p:nvPr/>
        </p:nvSpPr>
        <p:spPr>
          <a:xfrm>
            <a:off x="8970818" y="4106707"/>
            <a:ext cx="346364" cy="332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B3402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02</a:t>
            </a:r>
            <a:endParaRPr lang="en-US" sz="19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20158" y="4572300"/>
            <a:ext cx="1047683" cy="62865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954730" y="5372399"/>
            <a:ext cx="2378539" cy="4089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Neural Network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6743625" y="5914725"/>
            <a:ext cx="4800750" cy="11093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875" dirty="0">
                <a:solidFill>
                  <a:srgbClr val="7A7264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Train on re-engineered, non-circular history: reward history · streaks · trial position.</a:t>
            </a:r>
            <a:endParaRPr lang="en-US" sz="1875" dirty="0"/>
          </a:p>
        </p:txBody>
      </p:sp>
      <p:sp>
        <p:nvSpPr>
          <p:cNvPr id="14" name="Shape 10"/>
          <p:cNvSpPr/>
          <p:nvPr/>
        </p:nvSpPr>
        <p:spPr>
          <a:xfrm>
            <a:off x="12052355" y="3165131"/>
            <a:ext cx="5245111" cy="4762433"/>
          </a:xfrm>
          <a:prstGeom prst="roundRect">
            <a:avLst>
              <a:gd name="adj" fmla="val 3600"/>
            </a:avLst>
          </a:prstGeom>
          <a:solidFill>
            <a:srgbClr val="FBF8F2"/>
          </a:solidFill>
          <a:ln w="6394">
            <a:solidFill>
              <a:srgbClr val="E4DBC9"/>
            </a:solidFill>
            <a:prstDash val="solid"/>
          </a:ln>
          <a:effectLst>
            <a:outerShdw blurRad="266700" dist="57150" dir="5400000" algn="bl" rotWithShape="0">
              <a:srgbClr val="463723">
                <a:alpha val="5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5" name="Text 11"/>
          <p:cNvSpPr/>
          <p:nvPr/>
        </p:nvSpPr>
        <p:spPr>
          <a:xfrm>
            <a:off x="14501180" y="4463795"/>
            <a:ext cx="347363" cy="332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B3402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03</a:t>
            </a:r>
            <a:endParaRPr lang="en-US" sz="195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217661" y="4929387"/>
            <a:ext cx="914400" cy="62865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973214" y="5729487"/>
            <a:ext cx="3403392" cy="4089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Large Language Model</a:t>
            </a:r>
            <a:endParaRPr lang="en-US" sz="2400" dirty="0"/>
          </a:p>
        </p:txBody>
      </p:sp>
      <p:sp>
        <p:nvSpPr>
          <p:cNvPr id="18" name="Text 13"/>
          <p:cNvSpPr/>
          <p:nvPr/>
        </p:nvSpPr>
        <p:spPr>
          <a:xfrm>
            <a:off x="12707033" y="6271813"/>
            <a:ext cx="3935657" cy="395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875" dirty="0">
                <a:solidFill>
                  <a:srgbClr val="7A7264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Generate features autonomously.</a:t>
            </a:r>
            <a:endParaRPr lang="en-US" sz="1875" dirty="0"/>
          </a:p>
        </p:txBody>
      </p:sp>
      <p:sp>
        <p:nvSpPr>
          <p:cNvPr id="19" name="Text 14"/>
          <p:cNvSpPr/>
          <p:nvPr/>
        </p:nvSpPr>
        <p:spPr>
          <a:xfrm>
            <a:off x="175187" y="9174473"/>
            <a:ext cx="17937626" cy="5410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300" b="1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Accuracy alone isn’t enough — </a:t>
            </a:r>
            <a:r>
              <a:rPr lang="en-US" sz="3300" b="1" dirty="0">
                <a:solidFill>
                  <a:srgbClr val="B3402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calibration </a:t>
            </a:r>
            <a:r>
              <a:rPr lang="en-US" sz="3300" b="1" dirty="0">
                <a:solidFill>
                  <a:srgbClr val="2A252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must be measured too.</a:t>
            </a:r>
            <a:endParaRPr lang="en-US" sz="3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2215</Words>
  <Application>Microsoft Office PowerPoint</Application>
  <PresentationFormat>מותאם אישית</PresentationFormat>
  <Paragraphs>181</Paragraphs>
  <Slides>18</Slides>
  <Notes>18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2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18</vt:i4>
      </vt:variant>
    </vt:vector>
  </HeadingPairs>
  <TitlesOfParts>
    <vt:vector size="21" baseType="lpstr">
      <vt:lpstr>Arial</vt:lpstr>
      <vt:lpstr>Fira Sans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Shir Holzman</cp:lastModifiedBy>
  <cp:revision>2</cp:revision>
  <dcterms:created xsi:type="dcterms:W3CDTF">2026-06-18T11:45:13Z</dcterms:created>
  <dcterms:modified xsi:type="dcterms:W3CDTF">2026-06-18T13:52:06Z</dcterms:modified>
</cp:coreProperties>
</file>